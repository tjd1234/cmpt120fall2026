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1"/>
  </p:notesMasterIdLst>
  <p:sldIdLst>
    <p:sldId id="256" r:id="rId2"/>
    <p:sldId id="297" r:id="rId3"/>
    <p:sldId id="298" r:id="rId4"/>
    <p:sldId id="299" r:id="rId5"/>
    <p:sldId id="300" r:id="rId6"/>
    <p:sldId id="304" r:id="rId7"/>
    <p:sldId id="346" r:id="rId8"/>
    <p:sldId id="327" r:id="rId9"/>
    <p:sldId id="301" r:id="rId10"/>
    <p:sldId id="328" r:id="rId11"/>
    <p:sldId id="329" r:id="rId12"/>
    <p:sldId id="302" r:id="rId13"/>
    <p:sldId id="303" r:id="rId14"/>
    <p:sldId id="305" r:id="rId15"/>
    <p:sldId id="306" r:id="rId16"/>
    <p:sldId id="307" r:id="rId17"/>
    <p:sldId id="310" r:id="rId18"/>
    <p:sldId id="311" r:id="rId19"/>
    <p:sldId id="332" r:id="rId20"/>
    <p:sldId id="333" r:id="rId21"/>
    <p:sldId id="334" r:id="rId22"/>
    <p:sldId id="313" r:id="rId23"/>
    <p:sldId id="312" r:id="rId24"/>
    <p:sldId id="314" r:id="rId25"/>
    <p:sldId id="315" r:id="rId26"/>
    <p:sldId id="335" r:id="rId27"/>
    <p:sldId id="336" r:id="rId28"/>
    <p:sldId id="316" r:id="rId29"/>
    <p:sldId id="337" r:id="rId30"/>
    <p:sldId id="338" r:id="rId31"/>
    <p:sldId id="318" r:id="rId32"/>
    <p:sldId id="330" r:id="rId33"/>
    <p:sldId id="317" r:id="rId34"/>
    <p:sldId id="339" r:id="rId35"/>
    <p:sldId id="319" r:id="rId36"/>
    <p:sldId id="321" r:id="rId37"/>
    <p:sldId id="320" r:id="rId38"/>
    <p:sldId id="322" r:id="rId39"/>
    <p:sldId id="324" r:id="rId40"/>
    <p:sldId id="331" r:id="rId41"/>
    <p:sldId id="323" r:id="rId42"/>
    <p:sldId id="325" r:id="rId43"/>
    <p:sldId id="340" r:id="rId44"/>
    <p:sldId id="347" r:id="rId45"/>
    <p:sldId id="342" r:id="rId46"/>
    <p:sldId id="341" r:id="rId47"/>
    <p:sldId id="343" r:id="rId48"/>
    <p:sldId id="348" r:id="rId49"/>
    <p:sldId id="326" r:id="rId5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89C9D1B-A7C8-4D51-B0A1-EDDC876956C2}">
          <p14:sldIdLst>
            <p14:sldId id="256"/>
          </p14:sldIdLst>
        </p14:section>
        <p14:section name="Functions" id="{050F8DB5-6483-4250-A2EB-E302D5B8D553}">
          <p14:sldIdLst>
            <p14:sldId id="297"/>
            <p14:sldId id="298"/>
            <p14:sldId id="299"/>
          </p14:sldIdLst>
        </p14:section>
        <p14:section name="Defining New Functions" id="{FE552FAE-00C7-4EDC-BDD4-3F5C38FA3869}">
          <p14:sldIdLst>
            <p14:sldId id="300"/>
            <p14:sldId id="304"/>
            <p14:sldId id="346"/>
            <p14:sldId id="327"/>
            <p14:sldId id="301"/>
            <p14:sldId id="328"/>
            <p14:sldId id="329"/>
            <p14:sldId id="302"/>
            <p14:sldId id="303"/>
            <p14:sldId id="305"/>
            <p14:sldId id="306"/>
            <p14:sldId id="307"/>
            <p14:sldId id="310"/>
          </p14:sldIdLst>
        </p14:section>
        <p14:section name="Local variables" id="{4C9F2BC4-D337-4E2A-9437-851AF2CC82E0}">
          <p14:sldIdLst>
            <p14:sldId id="311"/>
            <p14:sldId id="332"/>
            <p14:sldId id="333"/>
            <p14:sldId id="334"/>
            <p14:sldId id="313"/>
            <p14:sldId id="312"/>
            <p14:sldId id="314"/>
            <p14:sldId id="315"/>
            <p14:sldId id="335"/>
            <p14:sldId id="336"/>
            <p14:sldId id="316"/>
            <p14:sldId id="337"/>
            <p14:sldId id="338"/>
          </p14:sldIdLst>
        </p14:section>
        <p14:section name="Simple Repetition" id="{20F2AF27-87AE-4456-8C75-69C44F915A68}">
          <p14:sldIdLst>
            <p14:sldId id="318"/>
            <p14:sldId id="330"/>
            <p14:sldId id="317"/>
            <p14:sldId id="339"/>
            <p14:sldId id="319"/>
            <p14:sldId id="321"/>
            <p14:sldId id="320"/>
            <p14:sldId id="322"/>
            <p14:sldId id="324"/>
            <p14:sldId id="331"/>
            <p14:sldId id="323"/>
            <p14:sldId id="325"/>
            <p14:sldId id="340"/>
            <p14:sldId id="347"/>
            <p14:sldId id="342"/>
            <p14:sldId id="341"/>
            <p14:sldId id="343"/>
            <p14:sldId id="348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AE65A1-11D4-8041-95F4-9EE00B79E438}" v="15" dt="2026-01-26T04:25:19.9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259" autoAdjust="0"/>
  </p:normalViewPr>
  <p:slideViewPr>
    <p:cSldViewPr snapToGrid="0">
      <p:cViewPr varScale="1">
        <p:scale>
          <a:sx n="123" d="100"/>
          <a:sy n="123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7F9681A8-EEE2-56F4-9B39-ECCBEE0471AC}"/>
    <pc:docChg chg="undo custSel addSld delSld modSld delSection modSection">
      <pc:chgData name="Toby Donaldson" userId="2e6e5431-bb17-4c41-9985-d39c50d83c73" providerId="ADAL" clId="{7F9681A8-EEE2-56F4-9B39-ECCBEE0471AC}" dt="2026-01-26T04:34:19.369" v="675" actId="17851"/>
      <pc:docMkLst>
        <pc:docMk/>
      </pc:docMkLst>
      <pc:sldChg chg="modSp mod">
        <pc:chgData name="Toby Donaldson" userId="2e6e5431-bb17-4c41-9985-d39c50d83c73" providerId="ADAL" clId="{7F9681A8-EEE2-56F4-9B39-ECCBEE0471AC}" dt="2026-01-26T04:21:52.309" v="651" actId="113"/>
        <pc:sldMkLst>
          <pc:docMk/>
          <pc:sldMk cId="3113156551" sldId="256"/>
        </pc:sldMkLst>
        <pc:spChg chg="mod">
          <ac:chgData name="Toby Donaldson" userId="2e6e5431-bb17-4c41-9985-d39c50d83c73" providerId="ADAL" clId="{7F9681A8-EEE2-56F4-9B39-ECCBEE0471AC}" dt="2026-01-26T04:21:52.309" v="651" actId="113"/>
          <ac:spMkLst>
            <pc:docMk/>
            <pc:sldMk cId="3113156551" sldId="256"/>
            <ac:spMk id="4" creationId="{1C211242-B5A3-D371-4A7A-C8E9982D7CD5}"/>
          </ac:spMkLst>
        </pc:spChg>
      </pc:sldChg>
      <pc:sldChg chg="modSp mod">
        <pc:chgData name="Toby Donaldson" userId="2e6e5431-bb17-4c41-9985-d39c50d83c73" providerId="ADAL" clId="{7F9681A8-EEE2-56F4-9B39-ECCBEE0471AC}" dt="2026-01-26T04:22:41.542" v="653" actId="113"/>
        <pc:sldMkLst>
          <pc:docMk/>
          <pc:sldMk cId="1760604349" sldId="300"/>
        </pc:sldMkLst>
        <pc:spChg chg="mod">
          <ac:chgData name="Toby Donaldson" userId="2e6e5431-bb17-4c41-9985-d39c50d83c73" providerId="ADAL" clId="{7F9681A8-EEE2-56F4-9B39-ECCBEE0471AC}" dt="2026-01-26T04:22:41.542" v="653" actId="113"/>
          <ac:spMkLst>
            <pc:docMk/>
            <pc:sldMk cId="1760604349" sldId="300"/>
            <ac:spMk id="5" creationId="{D63A62E8-3DF2-8251-CBDB-1A09A68559D7}"/>
          </ac:spMkLst>
        </pc:spChg>
      </pc:sldChg>
      <pc:sldChg chg="modSp mod">
        <pc:chgData name="Toby Donaldson" userId="2e6e5431-bb17-4c41-9985-d39c50d83c73" providerId="ADAL" clId="{7F9681A8-EEE2-56F4-9B39-ECCBEE0471AC}" dt="2026-01-26T04:23:41.905" v="654" actId="12788"/>
        <pc:sldMkLst>
          <pc:docMk/>
          <pc:sldMk cId="4097905578" sldId="303"/>
        </pc:sldMkLst>
        <pc:spChg chg="mod">
          <ac:chgData name="Toby Donaldson" userId="2e6e5431-bb17-4c41-9985-d39c50d83c73" providerId="ADAL" clId="{7F9681A8-EEE2-56F4-9B39-ECCBEE0471AC}" dt="2026-01-26T04:23:41.905" v="654" actId="12788"/>
          <ac:spMkLst>
            <pc:docMk/>
            <pc:sldMk cId="4097905578" sldId="303"/>
            <ac:spMk id="3" creationId="{AB6E14D8-FE63-BB5F-4767-A4685A7BC3A4}"/>
          </ac:spMkLst>
        </pc:spChg>
        <pc:spChg chg="mod">
          <ac:chgData name="Toby Donaldson" userId="2e6e5431-bb17-4c41-9985-d39c50d83c73" providerId="ADAL" clId="{7F9681A8-EEE2-56F4-9B39-ECCBEE0471AC}" dt="2026-01-26T04:23:41.905" v="654" actId="12788"/>
          <ac:spMkLst>
            <pc:docMk/>
            <pc:sldMk cId="4097905578" sldId="303"/>
            <ac:spMk id="8" creationId="{D9EBE0BB-1C8B-ABD3-E5B7-24F724AA2025}"/>
          </ac:spMkLst>
        </pc:spChg>
        <pc:spChg chg="mod">
          <ac:chgData name="Toby Donaldson" userId="2e6e5431-bb17-4c41-9985-d39c50d83c73" providerId="ADAL" clId="{7F9681A8-EEE2-56F4-9B39-ECCBEE0471AC}" dt="2026-01-26T04:23:41.905" v="654" actId="12788"/>
          <ac:spMkLst>
            <pc:docMk/>
            <pc:sldMk cId="4097905578" sldId="303"/>
            <ac:spMk id="12" creationId="{E76D433E-1A37-850C-A3A5-9AD623A473C6}"/>
          </ac:spMkLst>
        </pc:spChg>
      </pc:sldChg>
      <pc:sldChg chg="delSp modSp mod">
        <pc:chgData name="Toby Donaldson" userId="2e6e5431-bb17-4c41-9985-d39c50d83c73" providerId="ADAL" clId="{7F9681A8-EEE2-56F4-9B39-ECCBEE0471AC}" dt="2026-01-23T20:38:12.136" v="3" actId="21"/>
        <pc:sldMkLst>
          <pc:docMk/>
          <pc:sldMk cId="2732166047" sldId="304"/>
        </pc:sldMkLst>
      </pc:sldChg>
      <pc:sldChg chg="modSp mod">
        <pc:chgData name="Toby Donaldson" userId="2e6e5431-bb17-4c41-9985-d39c50d83c73" providerId="ADAL" clId="{7F9681A8-EEE2-56F4-9B39-ECCBEE0471AC}" dt="2026-01-26T04:23:51.844" v="655" actId="12788"/>
        <pc:sldMkLst>
          <pc:docMk/>
          <pc:sldMk cId="683567091" sldId="305"/>
        </pc:sldMkLst>
        <pc:spChg chg="mod">
          <ac:chgData name="Toby Donaldson" userId="2e6e5431-bb17-4c41-9985-d39c50d83c73" providerId="ADAL" clId="{7F9681A8-EEE2-56F4-9B39-ECCBEE0471AC}" dt="2026-01-26T04:23:51.844" v="655" actId="12788"/>
          <ac:spMkLst>
            <pc:docMk/>
            <pc:sldMk cId="683567091" sldId="305"/>
            <ac:spMk id="3" creationId="{AB6E14D8-FE63-BB5F-4767-A4685A7BC3A4}"/>
          </ac:spMkLst>
        </pc:spChg>
        <pc:spChg chg="mod">
          <ac:chgData name="Toby Donaldson" userId="2e6e5431-bb17-4c41-9985-d39c50d83c73" providerId="ADAL" clId="{7F9681A8-EEE2-56F4-9B39-ECCBEE0471AC}" dt="2026-01-26T04:23:51.844" v="655" actId="12788"/>
          <ac:spMkLst>
            <pc:docMk/>
            <pc:sldMk cId="683567091" sldId="305"/>
            <ac:spMk id="8" creationId="{D9EBE0BB-1C8B-ABD3-E5B7-24F724AA2025}"/>
          </ac:spMkLst>
        </pc:spChg>
        <pc:spChg chg="mod">
          <ac:chgData name="Toby Donaldson" userId="2e6e5431-bb17-4c41-9985-d39c50d83c73" providerId="ADAL" clId="{7F9681A8-EEE2-56F4-9B39-ECCBEE0471AC}" dt="2026-01-26T04:23:51.844" v="655" actId="12788"/>
          <ac:spMkLst>
            <pc:docMk/>
            <pc:sldMk cId="683567091" sldId="305"/>
            <ac:spMk id="12" creationId="{E76D433E-1A37-850C-A3A5-9AD623A473C6}"/>
          </ac:spMkLst>
        </pc:spChg>
      </pc:sldChg>
      <pc:sldChg chg="addSp modSp mod">
        <pc:chgData name="Toby Donaldson" userId="2e6e5431-bb17-4c41-9985-d39c50d83c73" providerId="ADAL" clId="{7F9681A8-EEE2-56F4-9B39-ECCBEE0471AC}" dt="2026-01-26T04:25:33.531" v="658" actId="207"/>
        <pc:sldMkLst>
          <pc:docMk/>
          <pc:sldMk cId="1882997732" sldId="310"/>
        </pc:sldMkLst>
        <pc:spChg chg="add mod">
          <ac:chgData name="Toby Donaldson" userId="2e6e5431-bb17-4c41-9985-d39c50d83c73" providerId="ADAL" clId="{7F9681A8-EEE2-56F4-9B39-ECCBEE0471AC}" dt="2026-01-26T04:25:33.531" v="658" actId="207"/>
          <ac:spMkLst>
            <pc:docMk/>
            <pc:sldMk cId="1882997732" sldId="310"/>
            <ac:spMk id="2" creationId="{B108772A-05BC-7827-1F63-3C5C848A10F1}"/>
          </ac:spMkLst>
        </pc:spChg>
        <pc:spChg chg="add mod">
          <ac:chgData name="Toby Donaldson" userId="2e6e5431-bb17-4c41-9985-d39c50d83c73" providerId="ADAL" clId="{7F9681A8-EEE2-56F4-9B39-ECCBEE0471AC}" dt="2026-01-26T04:25:27.158" v="657" actId="1076"/>
          <ac:spMkLst>
            <pc:docMk/>
            <pc:sldMk cId="1882997732" sldId="310"/>
            <ac:spMk id="3" creationId="{32007A5D-1D2A-CE39-9D11-81E866B0FE10}"/>
          </ac:spMkLst>
        </pc:spChg>
        <pc:spChg chg="add mod">
          <ac:chgData name="Toby Donaldson" userId="2e6e5431-bb17-4c41-9985-d39c50d83c73" providerId="ADAL" clId="{7F9681A8-EEE2-56F4-9B39-ECCBEE0471AC}" dt="2026-01-26T04:25:27.158" v="657" actId="1076"/>
          <ac:spMkLst>
            <pc:docMk/>
            <pc:sldMk cId="1882997732" sldId="310"/>
            <ac:spMk id="5" creationId="{B10CCD46-ED86-5B67-9DDB-42E841192B83}"/>
          </ac:spMkLst>
        </pc:spChg>
      </pc:sldChg>
      <pc:sldChg chg="modSp mod">
        <pc:chgData name="Toby Donaldson" userId="2e6e5431-bb17-4c41-9985-d39c50d83c73" providerId="ADAL" clId="{7F9681A8-EEE2-56F4-9B39-ECCBEE0471AC}" dt="2026-01-26T04:26:16.227" v="664" actId="14100"/>
        <pc:sldMkLst>
          <pc:docMk/>
          <pc:sldMk cId="3944662364" sldId="311"/>
        </pc:sldMkLst>
        <pc:spChg chg="mod">
          <ac:chgData name="Toby Donaldson" userId="2e6e5431-bb17-4c41-9985-d39c50d83c73" providerId="ADAL" clId="{7F9681A8-EEE2-56F4-9B39-ECCBEE0471AC}" dt="2026-01-26T04:26:16.227" v="664" actId="14100"/>
          <ac:spMkLst>
            <pc:docMk/>
            <pc:sldMk cId="3944662364" sldId="311"/>
            <ac:spMk id="3" creationId="{045F883D-937C-5D1C-7E3B-1C7F97EBBEE3}"/>
          </ac:spMkLst>
        </pc:spChg>
        <pc:cxnChg chg="mod">
          <ac:chgData name="Toby Donaldson" userId="2e6e5431-bb17-4c41-9985-d39c50d83c73" providerId="ADAL" clId="{7F9681A8-EEE2-56F4-9B39-ECCBEE0471AC}" dt="2026-01-26T04:26:16.227" v="664" actId="14100"/>
          <ac:cxnSpMkLst>
            <pc:docMk/>
            <pc:sldMk cId="3944662364" sldId="311"/>
            <ac:cxnSpMk id="7" creationId="{4C610B4D-D8A4-A573-E862-D14B22A6F869}"/>
          </ac:cxnSpMkLst>
        </pc:cxnChg>
      </pc:sldChg>
      <pc:sldChg chg="modSp mod">
        <pc:chgData name="Toby Donaldson" userId="2e6e5431-bb17-4c41-9985-d39c50d83c73" providerId="ADAL" clId="{7F9681A8-EEE2-56F4-9B39-ECCBEE0471AC}" dt="2026-01-23T20:41:53.536" v="8" actId="207"/>
        <pc:sldMkLst>
          <pc:docMk/>
          <pc:sldMk cId="2209025065" sldId="312"/>
        </pc:sldMkLst>
        <pc:spChg chg="mod">
          <ac:chgData name="Toby Donaldson" userId="2e6e5431-bb17-4c41-9985-d39c50d83c73" providerId="ADAL" clId="{7F9681A8-EEE2-56F4-9B39-ECCBEE0471AC}" dt="2026-01-23T20:41:39.652" v="6" actId="207"/>
          <ac:spMkLst>
            <pc:docMk/>
            <pc:sldMk cId="2209025065" sldId="312"/>
            <ac:spMk id="8" creationId="{40D284A6-37BC-F0E3-3E70-0F2FCEA02C14}"/>
          </ac:spMkLst>
        </pc:spChg>
        <pc:spChg chg="mod">
          <ac:chgData name="Toby Donaldson" userId="2e6e5431-bb17-4c41-9985-d39c50d83c73" providerId="ADAL" clId="{7F9681A8-EEE2-56F4-9B39-ECCBEE0471AC}" dt="2026-01-23T20:41:53.536" v="8" actId="207"/>
          <ac:spMkLst>
            <pc:docMk/>
            <pc:sldMk cId="2209025065" sldId="312"/>
            <ac:spMk id="21" creationId="{930A444C-D57E-E683-A9F0-A23B36C944F1}"/>
          </ac:spMkLst>
        </pc:spChg>
      </pc:sldChg>
      <pc:sldChg chg="modSp mod">
        <pc:chgData name="Toby Donaldson" userId="2e6e5431-bb17-4c41-9985-d39c50d83c73" providerId="ADAL" clId="{7F9681A8-EEE2-56F4-9B39-ECCBEE0471AC}" dt="2026-01-23T20:43:38.722" v="9" actId="1076"/>
        <pc:sldMkLst>
          <pc:docMk/>
          <pc:sldMk cId="3248521206" sldId="317"/>
        </pc:sldMkLst>
        <pc:spChg chg="mod">
          <ac:chgData name="Toby Donaldson" userId="2e6e5431-bb17-4c41-9985-d39c50d83c73" providerId="ADAL" clId="{7F9681A8-EEE2-56F4-9B39-ECCBEE0471AC}" dt="2026-01-23T20:43:38.722" v="9" actId="1076"/>
          <ac:spMkLst>
            <pc:docMk/>
            <pc:sldMk cId="3248521206" sldId="317"/>
            <ac:spMk id="9" creationId="{2946CC19-ECB5-0C67-CA6C-45A07D08376C}"/>
          </ac:spMkLst>
        </pc:spChg>
      </pc:sldChg>
      <pc:sldChg chg="modSp mod">
        <pc:chgData name="Toby Donaldson" userId="2e6e5431-bb17-4c41-9985-d39c50d83c73" providerId="ADAL" clId="{7F9681A8-EEE2-56F4-9B39-ECCBEE0471AC}" dt="2026-01-23T20:44:25.626" v="13" actId="20577"/>
        <pc:sldMkLst>
          <pc:docMk/>
          <pc:sldMk cId="288943026" sldId="320"/>
        </pc:sldMkLst>
        <pc:spChg chg="mod">
          <ac:chgData name="Toby Donaldson" userId="2e6e5431-bb17-4c41-9985-d39c50d83c73" providerId="ADAL" clId="{7F9681A8-EEE2-56F4-9B39-ECCBEE0471AC}" dt="2026-01-23T20:44:25.626" v="13" actId="20577"/>
          <ac:spMkLst>
            <pc:docMk/>
            <pc:sldMk cId="288943026" sldId="320"/>
            <ac:spMk id="18" creationId="{2D97BED1-97DD-C3D4-FB79-25BF6B1D70DB}"/>
          </ac:spMkLst>
        </pc:spChg>
      </pc:sldChg>
      <pc:sldChg chg="modSp mod">
        <pc:chgData name="Toby Donaldson" userId="2e6e5431-bb17-4c41-9985-d39c50d83c73" providerId="ADAL" clId="{7F9681A8-EEE2-56F4-9B39-ECCBEE0471AC}" dt="2026-01-26T04:32:36.204" v="668" actId="20577"/>
        <pc:sldMkLst>
          <pc:docMk/>
          <pc:sldMk cId="1092517109" sldId="324"/>
        </pc:sldMkLst>
        <pc:spChg chg="mod">
          <ac:chgData name="Toby Donaldson" userId="2e6e5431-bb17-4c41-9985-d39c50d83c73" providerId="ADAL" clId="{7F9681A8-EEE2-56F4-9B39-ECCBEE0471AC}" dt="2026-01-26T04:32:36.204" v="668" actId="20577"/>
          <ac:spMkLst>
            <pc:docMk/>
            <pc:sldMk cId="1092517109" sldId="324"/>
            <ac:spMk id="27" creationId="{9B04EE82-C785-BDA0-CB9E-42135606DB3D}"/>
          </ac:spMkLst>
        </pc:spChg>
      </pc:sldChg>
      <pc:sldChg chg="modSp mod">
        <pc:chgData name="Toby Donaldson" userId="2e6e5431-bb17-4c41-9985-d39c50d83c73" providerId="ADAL" clId="{7F9681A8-EEE2-56F4-9B39-ECCBEE0471AC}" dt="2026-01-26T04:32:43.774" v="673" actId="20577"/>
        <pc:sldMkLst>
          <pc:docMk/>
          <pc:sldMk cId="519914869" sldId="331"/>
        </pc:sldMkLst>
        <pc:spChg chg="mod">
          <ac:chgData name="Toby Donaldson" userId="2e6e5431-bb17-4c41-9985-d39c50d83c73" providerId="ADAL" clId="{7F9681A8-EEE2-56F4-9B39-ECCBEE0471AC}" dt="2026-01-26T04:32:43.774" v="673" actId="20577"/>
          <ac:spMkLst>
            <pc:docMk/>
            <pc:sldMk cId="519914869" sldId="331"/>
            <ac:spMk id="27" creationId="{9B04EE82-C785-BDA0-CB9E-42135606DB3D}"/>
          </ac:spMkLst>
        </pc:spChg>
      </pc:sldChg>
      <pc:sldChg chg="modSp mod">
        <pc:chgData name="Toby Donaldson" userId="2e6e5431-bb17-4c41-9985-d39c50d83c73" providerId="ADAL" clId="{7F9681A8-EEE2-56F4-9B39-ECCBEE0471AC}" dt="2026-01-23T20:43:55.810" v="10" actId="1076"/>
        <pc:sldMkLst>
          <pc:docMk/>
          <pc:sldMk cId="1310673805" sldId="339"/>
        </pc:sldMkLst>
        <pc:spChg chg="mod">
          <ac:chgData name="Toby Donaldson" userId="2e6e5431-bb17-4c41-9985-d39c50d83c73" providerId="ADAL" clId="{7F9681A8-EEE2-56F4-9B39-ECCBEE0471AC}" dt="2026-01-23T20:43:55.810" v="10" actId="1076"/>
          <ac:spMkLst>
            <pc:docMk/>
            <pc:sldMk cId="1310673805" sldId="339"/>
            <ac:spMk id="3" creationId="{49194A70-E003-CF27-E354-4BF61D0280E6}"/>
          </ac:spMkLst>
        </pc:spChg>
        <pc:spChg chg="mod">
          <ac:chgData name="Toby Donaldson" userId="2e6e5431-bb17-4c41-9985-d39c50d83c73" providerId="ADAL" clId="{7F9681A8-EEE2-56F4-9B39-ECCBEE0471AC}" dt="2026-01-23T20:43:55.810" v="10" actId="1076"/>
          <ac:spMkLst>
            <pc:docMk/>
            <pc:sldMk cId="1310673805" sldId="339"/>
            <ac:spMk id="9" creationId="{2946CC19-ECB5-0C67-CA6C-45A07D08376C}"/>
          </ac:spMkLst>
        </pc:spChg>
      </pc:sldChg>
      <pc:sldChg chg="addSp delSp modSp mod">
        <pc:chgData name="Toby Donaldson" userId="2e6e5431-bb17-4c41-9985-d39c50d83c73" providerId="ADAL" clId="{7F9681A8-EEE2-56F4-9B39-ECCBEE0471AC}" dt="2026-01-23T20:48:39.278" v="180" actId="21"/>
        <pc:sldMkLst>
          <pc:docMk/>
          <pc:sldMk cId="2203291535" sldId="340"/>
        </pc:sldMkLst>
        <pc:spChg chg="add mod">
          <ac:chgData name="Toby Donaldson" userId="2e6e5431-bb17-4c41-9985-d39c50d83c73" providerId="ADAL" clId="{7F9681A8-EEE2-56F4-9B39-ECCBEE0471AC}" dt="2026-01-23T20:45:44.657" v="36" actId="20577"/>
          <ac:spMkLst>
            <pc:docMk/>
            <pc:sldMk cId="2203291535" sldId="340"/>
            <ac:spMk id="2" creationId="{07E26D55-8088-4975-72FE-75C57724F5E2}"/>
          </ac:spMkLst>
        </pc:spChg>
      </pc:sldChg>
      <pc:sldChg chg="addSp modSp mod">
        <pc:chgData name="Toby Donaldson" userId="2e6e5431-bb17-4c41-9985-d39c50d83c73" providerId="ADAL" clId="{7F9681A8-EEE2-56F4-9B39-ECCBEE0471AC}" dt="2026-01-23T20:49:53.024" v="243" actId="1076"/>
        <pc:sldMkLst>
          <pc:docMk/>
          <pc:sldMk cId="3386612823" sldId="341"/>
        </pc:sldMkLst>
        <pc:spChg chg="add mod">
          <ac:chgData name="Toby Donaldson" userId="2e6e5431-bb17-4c41-9985-d39c50d83c73" providerId="ADAL" clId="{7F9681A8-EEE2-56F4-9B39-ECCBEE0471AC}" dt="2026-01-23T20:49:53.024" v="243" actId="1076"/>
          <ac:spMkLst>
            <pc:docMk/>
            <pc:sldMk cId="3386612823" sldId="341"/>
            <ac:spMk id="2" creationId="{1CA7CE99-766E-7773-4E98-0778E089E66B}"/>
          </ac:spMkLst>
        </pc:spChg>
      </pc:sldChg>
      <pc:sldChg chg="addSp delSp modSp mod">
        <pc:chgData name="Toby Donaldson" userId="2e6e5431-bb17-4c41-9985-d39c50d83c73" providerId="ADAL" clId="{7F9681A8-EEE2-56F4-9B39-ECCBEE0471AC}" dt="2026-01-23T20:47:12.555" v="133" actId="21"/>
        <pc:sldMkLst>
          <pc:docMk/>
          <pc:sldMk cId="1534370893" sldId="342"/>
        </pc:sldMkLst>
      </pc:sldChg>
      <pc:sldChg chg="addSp delSp modSp mod">
        <pc:chgData name="Toby Donaldson" userId="2e6e5431-bb17-4c41-9985-d39c50d83c73" providerId="ADAL" clId="{7F9681A8-EEE2-56F4-9B39-ECCBEE0471AC}" dt="2026-01-23T20:53:45.360" v="400" actId="21"/>
        <pc:sldMkLst>
          <pc:docMk/>
          <pc:sldMk cId="1866605820" sldId="343"/>
        </pc:sldMkLst>
        <pc:spChg chg="add mod">
          <ac:chgData name="Toby Donaldson" userId="2e6e5431-bb17-4c41-9985-d39c50d83c73" providerId="ADAL" clId="{7F9681A8-EEE2-56F4-9B39-ECCBEE0471AC}" dt="2026-01-23T20:51:37.682" v="341" actId="2711"/>
          <ac:spMkLst>
            <pc:docMk/>
            <pc:sldMk cId="1866605820" sldId="343"/>
            <ac:spMk id="2" creationId="{A9750C07-B0EC-2D40-5323-A70FEFEFB89F}"/>
          </ac:spMkLst>
        </pc:spChg>
        <pc:spChg chg="add mod">
          <ac:chgData name="Toby Donaldson" userId="2e6e5431-bb17-4c41-9985-d39c50d83c73" providerId="ADAL" clId="{7F9681A8-EEE2-56F4-9B39-ECCBEE0471AC}" dt="2026-01-23T20:52:17.831" v="348" actId="207"/>
          <ac:spMkLst>
            <pc:docMk/>
            <pc:sldMk cId="1866605820" sldId="343"/>
            <ac:spMk id="7" creationId="{3C0CAD86-E292-1BB2-6491-6A54D614B83F}"/>
          </ac:spMkLst>
        </pc:spChg>
        <pc:spChg chg="mod">
          <ac:chgData name="Toby Donaldson" userId="2e6e5431-bb17-4c41-9985-d39c50d83c73" providerId="ADAL" clId="{7F9681A8-EEE2-56F4-9B39-ECCBEE0471AC}" dt="2026-01-23T20:50:34.736" v="245" actId="207"/>
          <ac:spMkLst>
            <pc:docMk/>
            <pc:sldMk cId="1866605820" sldId="343"/>
            <ac:spMk id="8" creationId="{6EF561DF-C3CF-D4F0-936F-2C5CD1424934}"/>
          </ac:spMkLst>
        </pc:spChg>
        <pc:spChg chg="add mod">
          <ac:chgData name="Toby Donaldson" userId="2e6e5431-bb17-4c41-9985-d39c50d83c73" providerId="ADAL" clId="{7F9681A8-EEE2-56F4-9B39-ECCBEE0471AC}" dt="2026-01-23T20:52:21.673" v="349" actId="207"/>
          <ac:spMkLst>
            <pc:docMk/>
            <pc:sldMk cId="1866605820" sldId="343"/>
            <ac:spMk id="9" creationId="{96EF6762-EEFE-BC55-98CA-EE4CF441DD11}"/>
          </ac:spMkLst>
        </pc:spChg>
        <pc:spChg chg="add mod">
          <ac:chgData name="Toby Donaldson" userId="2e6e5431-bb17-4c41-9985-d39c50d83c73" providerId="ADAL" clId="{7F9681A8-EEE2-56F4-9B39-ECCBEE0471AC}" dt="2026-01-23T20:52:24.573" v="350" actId="207"/>
          <ac:spMkLst>
            <pc:docMk/>
            <pc:sldMk cId="1866605820" sldId="343"/>
            <ac:spMk id="10" creationId="{18C386E0-E69B-81F0-7A58-4706E19139EB}"/>
          </ac:spMkLst>
        </pc:spChg>
        <pc:spChg chg="add mod">
          <ac:chgData name="Toby Donaldson" userId="2e6e5431-bb17-4c41-9985-d39c50d83c73" providerId="ADAL" clId="{7F9681A8-EEE2-56F4-9B39-ECCBEE0471AC}" dt="2026-01-23T20:52:07.568" v="343"/>
          <ac:spMkLst>
            <pc:docMk/>
            <pc:sldMk cId="1866605820" sldId="343"/>
            <ac:spMk id="11" creationId="{91A2D9BE-DC6B-C717-21F9-4CB3025BAD1B}"/>
          </ac:spMkLst>
        </pc:spChg>
        <pc:spChg chg="add mod">
          <ac:chgData name="Toby Donaldson" userId="2e6e5431-bb17-4c41-9985-d39c50d83c73" providerId="ADAL" clId="{7F9681A8-EEE2-56F4-9B39-ECCBEE0471AC}" dt="2026-01-23T20:53:00.466" v="397" actId="1076"/>
          <ac:spMkLst>
            <pc:docMk/>
            <pc:sldMk cId="1866605820" sldId="343"/>
            <ac:spMk id="12" creationId="{B1D936B3-CB1A-3A13-9D86-F19170D34414}"/>
          </ac:spMkLst>
        </pc:spChg>
        <pc:cxnChg chg="add">
          <ac:chgData name="Toby Donaldson" userId="2e6e5431-bb17-4c41-9985-d39c50d83c73" providerId="ADAL" clId="{7F9681A8-EEE2-56F4-9B39-ECCBEE0471AC}" dt="2026-01-23T20:51:45.227" v="342" actId="11529"/>
          <ac:cxnSpMkLst>
            <pc:docMk/>
            <pc:sldMk cId="1866605820" sldId="343"/>
            <ac:cxnSpMk id="6" creationId="{DA29B846-BB5C-7566-7683-35A0CA0417BA}"/>
          </ac:cxnSpMkLst>
        </pc:cxnChg>
      </pc:sldChg>
      <pc:sldChg chg="add">
        <pc:chgData name="Toby Donaldson" userId="2e6e5431-bb17-4c41-9985-d39c50d83c73" providerId="ADAL" clId="{7F9681A8-EEE2-56F4-9B39-ECCBEE0471AC}" dt="2026-01-23T20:38:00.103" v="0" actId="2890"/>
        <pc:sldMkLst>
          <pc:docMk/>
          <pc:sldMk cId="3219435169" sldId="346"/>
        </pc:sldMkLst>
      </pc:sldChg>
      <pc:sldChg chg="add">
        <pc:chgData name="Toby Donaldson" userId="2e6e5431-bb17-4c41-9985-d39c50d83c73" providerId="ADAL" clId="{7F9681A8-EEE2-56F4-9B39-ECCBEE0471AC}" dt="2026-01-23T20:48:19.852" v="179" actId="2890"/>
        <pc:sldMkLst>
          <pc:docMk/>
          <pc:sldMk cId="2420213860" sldId="347"/>
        </pc:sldMkLst>
      </pc:sldChg>
      <pc:sldChg chg="add">
        <pc:chgData name="Toby Donaldson" userId="2e6e5431-bb17-4c41-9985-d39c50d83c73" providerId="ADAL" clId="{7F9681A8-EEE2-56F4-9B39-ECCBEE0471AC}" dt="2026-01-23T20:53:42.090" v="399" actId="2890"/>
        <pc:sldMkLst>
          <pc:docMk/>
          <pc:sldMk cId="288871818" sldId="3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8162804-B246-4973-81E8-228E8D571902}" type="datetimeFigureOut">
              <a:rPr lang="en-AU" smtClean="0"/>
              <a:t>25/1/2026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F9F5347-3E6A-4C40-928A-729612897D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20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CD8A-2400-2C00-6F2C-9190B21E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F36F3-3952-0133-0278-20C6F53FE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2343-E86A-8C0B-3B90-836BF68C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F993-8C17-4AA1-A568-B2EE0046F6BB}" type="datetime1">
              <a:rPr lang="en-AU" smtClean="0"/>
              <a:t>25/1/2026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854B-C511-D8BC-0994-D9860114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54A2-AE0B-1668-59E8-E383EDFC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94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81CB-AB4A-925E-7597-0EABFE98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9CD2-5433-7357-4B3B-14319777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5232-1743-FEF0-6814-58C4BB84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3F544-1CF7-4940-8A71-C151BB078596}" type="datetime1">
              <a:rPr lang="en-AU" smtClean="0"/>
              <a:t>25/1/2026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5800-5861-AFF9-E5AF-DE6806CA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3E062-97C8-5008-312A-C67B6C7C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5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6FF2-3DA3-89BE-1658-5AE3BA06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0EF4-6A5F-800A-87E3-F2832E2A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3256-7716-AE2D-06F1-F4AD4D13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A0B8-47BE-4EBE-895C-4C62B36C50AF}" type="datetime1">
              <a:rPr lang="en-AU" smtClean="0"/>
              <a:t>25/1/2026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324F-A5F7-4E25-5FC6-AB38053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6BDA5-F861-569B-F4BC-9F9206E7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4ED9-516B-04BC-DD47-08E42CB0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AB43-7127-38D8-EBC3-A5FDA6868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0094-E82C-80BC-B5E5-B5F42334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93F4A-D2C6-6C74-52CA-7E2860E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89D-5032-4671-91C5-541D88033229}" type="datetime1">
              <a:rPr lang="en-AU" smtClean="0"/>
              <a:t>25/1/2026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25A6-C4CE-3CFD-B4DF-B60FC6A8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695D8-7E92-05EC-E0AA-B17C8963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04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F26-DB6A-E18B-72E4-58A300DF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0866-3E32-3CE1-7436-F834AA16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B4D0E-C11C-C427-604D-4278845B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F3FDC-6D83-F9F9-CB63-1FE6ADD15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E5395-6A27-69D5-410F-96074F072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B417F-E1AB-973C-D654-E47D70A8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3C3-44F2-41B6-ADB8-009D9A974BEC}" type="datetime1">
              <a:rPr lang="en-AU" smtClean="0"/>
              <a:t>25/1/2026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0E4D8-8355-AAC5-6E67-C4DA0E4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AED98-6E2A-2155-0BD1-0D8287C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34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7E38-69D8-C4EE-DE3C-5696CFC9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E5530-6714-3CAA-A237-6FA35E6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176C-6D36-44C4-8474-01BB2AF97904}" type="datetime1">
              <a:rPr lang="en-AU" smtClean="0"/>
              <a:t>25/1/2026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7EE88-A0F0-7D7B-4320-5B4CCBF3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7C3F-6305-9FC7-AA11-F6BFE8E3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4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D3BAB-E3C9-4760-326D-4F49396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4B4C-1DF1-4DDF-8F39-0671CF1075AF}" type="datetime1">
              <a:rPr lang="en-AU" smtClean="0"/>
              <a:t>25/1/2026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3234-1395-F931-ED26-551D35D3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1403-1008-EF7A-234F-E31AA9D5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54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9620-5DFA-6923-FF3B-9E16804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061-0349-6DA2-FC5E-2E9ADCE7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0021-E475-AC83-B5E1-EFD885A8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A428-22B5-DF09-F753-14736147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63CD-B029-4C34-BC29-C1A363BBC9B9}" type="datetime1">
              <a:rPr lang="en-AU" smtClean="0"/>
              <a:t>25/1/2026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D4997-A974-A215-E061-68CF3420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F231-3C4D-0EB8-B350-CAC3072E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24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E0A9-027D-D539-DB2D-883C0A2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47153-C891-A893-A30B-A82039C91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AA4B1-546F-6BE1-B72D-3DED5567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CB47-C75C-5ECA-9313-341F488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F883F-65A2-4D24-B482-47EA72C1614F}" type="datetime1">
              <a:rPr lang="en-AU" smtClean="0"/>
              <a:t>25/1/2026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FCDEA-1AEB-2B86-8766-4759BFC0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920C5-5DD4-FCC5-B147-3E132132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48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111D-F52E-C6AB-6AB5-75792C5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63AC-66B2-C3D9-5F9B-0FE74B937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133F-4A43-D603-1902-8699F1E9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88EE-5698-4527-9DB2-ACD518686AB3}" type="datetime1">
              <a:rPr lang="en-AU" smtClean="0"/>
              <a:t>25/1/2026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BFF-7114-0E6E-F699-476DEDB4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3E27-1DD4-4A74-4AE5-CEC262C6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62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9EDDC-35F9-651B-C758-222A4C63E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0BCE-B8B5-E416-22A0-76CFC8EB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14BC-A925-2C44-153F-7F644614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EAFD-673C-49C9-9E87-345916F4966D}" type="datetime1">
              <a:rPr lang="en-AU" smtClean="0"/>
              <a:t>25/1/2026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2B30-89B8-7495-FB74-F99674BB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DB80-C397-B407-8682-2264DDA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09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46106-232E-9C9F-A17C-1A1F64D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ECC97-54D5-9DBE-2C28-6D223DA2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8168-8EB8-BBC6-8D20-3F5436ED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482F6-BAC0-4446-873D-C3498BDB5CA0}" type="datetime1">
              <a:rPr lang="en-AU" smtClean="0"/>
              <a:t>25/1/2026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1A4E-FDE6-0348-810F-99E3E87CF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9D13-3CF7-1E3C-5E2F-D830C4147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5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35B3B-97F8-53B4-0820-5D8414186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457199"/>
            <a:ext cx="4494652" cy="3465177"/>
          </a:xfrm>
        </p:spPr>
        <p:txBody>
          <a:bodyPr anchor="b">
            <a:normAutofit/>
          </a:bodyPr>
          <a:lstStyle/>
          <a:p>
            <a:pPr algn="l"/>
            <a:r>
              <a:rPr lang="en-CA" sz="4400" dirty="0">
                <a:solidFill>
                  <a:srgbClr val="FFFFFF"/>
                </a:solidFill>
              </a:rPr>
              <a:t>Chapter 3</a:t>
            </a:r>
            <a:br>
              <a:rPr lang="en-CA" sz="4400" dirty="0">
                <a:solidFill>
                  <a:srgbClr val="FFFFFF"/>
                </a:solidFill>
              </a:rPr>
            </a:br>
            <a:r>
              <a:rPr lang="en-CA" sz="4400" dirty="0">
                <a:solidFill>
                  <a:srgbClr val="FFFFFF"/>
                </a:solidFill>
              </a:rPr>
              <a:t>Functions (and simple loops)</a:t>
            </a:r>
            <a:endParaRPr lang="en-AU" sz="4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724C6-6D98-F980-728B-C2BA02D79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499" y="4745318"/>
            <a:ext cx="4506605" cy="1266530"/>
          </a:xfrm>
        </p:spPr>
        <p:txBody>
          <a:bodyPr>
            <a:normAutofit/>
          </a:bodyPr>
          <a:lstStyle/>
          <a:p>
            <a:pPr algn="l"/>
            <a:r>
              <a:rPr lang="en-CA" sz="2000" dirty="0">
                <a:solidFill>
                  <a:srgbClr val="FFFFFF"/>
                </a:solidFill>
              </a:rPr>
              <a:t>CMPT 120-D2 Spring 2026</a:t>
            </a:r>
            <a:endParaRPr lang="en-AU" sz="20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11242-B5A3-D371-4A7A-C8E9982D7CD5}"/>
              </a:ext>
            </a:extLst>
          </p:cNvPr>
          <p:cNvSpPr txBox="1"/>
          <p:nvPr/>
        </p:nvSpPr>
        <p:spPr>
          <a:xfrm>
            <a:off x="6860453" y="866125"/>
            <a:ext cx="516183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Notes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400" b="1" dirty="0"/>
              <a:t>Assignment 2 </a:t>
            </a:r>
            <a:r>
              <a:rPr lang="en-CA" sz="2400" dirty="0"/>
              <a:t>due next week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400" dirty="0"/>
              <a:t>Don’t start too late!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400" dirty="0"/>
              <a:t>Take advantage of TA office hours this week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400" dirty="0"/>
              <a:t>Start to look at </a:t>
            </a:r>
            <a:r>
              <a:rPr lang="en-CA" sz="2400" b="1" dirty="0"/>
              <a:t>turtle graphics </a:t>
            </a:r>
            <a:r>
              <a:rPr lang="en-CA" sz="2400" dirty="0"/>
              <a:t>--- it’s fun and the assignment is about it</a:t>
            </a:r>
          </a:p>
        </p:txBody>
      </p:sp>
    </p:spTree>
    <p:extLst>
      <p:ext uri="{BB962C8B-B14F-4D97-AF65-F5344CB8AC3E}">
        <p14:creationId xmlns:p14="http://schemas.microsoft.com/office/powerpoint/2010/main" val="311315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Functions</a:t>
            </a:r>
            <a:br>
              <a:rPr lang="en-CA" dirty="0"/>
            </a:b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595407" y="283521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function is a “black box” that takes some input and returns some output.</a:t>
            </a:r>
            <a:endParaRPr lang="en-AU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16F0E4-20B1-98C5-E278-646C060BCF28}"/>
              </a:ext>
            </a:extLst>
          </p:cNvPr>
          <p:cNvGrpSpPr/>
          <p:nvPr/>
        </p:nvGrpSpPr>
        <p:grpSpPr>
          <a:xfrm>
            <a:off x="512837" y="1853182"/>
            <a:ext cx="2341154" cy="3553354"/>
            <a:chOff x="512837" y="1813077"/>
            <a:chExt cx="2341154" cy="355335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3CB041-437A-DDC4-FD22-B5E3515334BD}"/>
                </a:ext>
              </a:extLst>
            </p:cNvPr>
            <p:cNvSpPr txBox="1"/>
            <p:nvPr/>
          </p:nvSpPr>
          <p:spPr>
            <a:xfrm>
              <a:off x="512837" y="3083159"/>
              <a:ext cx="234115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 dirty="0"/>
                <a:t>Function</a:t>
              </a:r>
              <a:endParaRPr lang="en-AU" sz="44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1798CF0-1C3E-1382-CB58-57AF961422F3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 flipH="1">
              <a:off x="1683414" y="2274742"/>
              <a:ext cx="1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689EAB-6BB3-0BF6-C2FD-8CDCA9E69CF6}"/>
                </a:ext>
              </a:extLst>
            </p:cNvPr>
            <p:cNvCxnSpPr>
              <a:cxnSpLocks/>
              <a:stCxn id="13" idx="2"/>
              <a:endCxn id="10" idx="0"/>
            </p:cNvCxnSpPr>
            <p:nvPr/>
          </p:nvCxnSpPr>
          <p:spPr>
            <a:xfrm>
              <a:off x="1683414" y="3852600"/>
              <a:ext cx="1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260181-C68A-8B14-17BB-4F979BCA3981}"/>
                </a:ext>
              </a:extLst>
            </p:cNvPr>
            <p:cNvSpPr txBox="1"/>
            <p:nvPr/>
          </p:nvSpPr>
          <p:spPr>
            <a:xfrm>
              <a:off x="1244031" y="1813077"/>
              <a:ext cx="878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Input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968467-A8EC-8296-8852-32D585D8625F}"/>
                </a:ext>
              </a:extLst>
            </p:cNvPr>
            <p:cNvSpPr txBox="1"/>
            <p:nvPr/>
          </p:nvSpPr>
          <p:spPr>
            <a:xfrm>
              <a:off x="1120600" y="4904766"/>
              <a:ext cx="11256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892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Functions</a:t>
            </a:r>
            <a:br>
              <a:rPr lang="en-CA" dirty="0"/>
            </a:b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595407" y="283521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function is a “black box” that takes some input and returns some output.</a:t>
            </a:r>
            <a:endParaRPr lang="en-AU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16F0E4-20B1-98C5-E278-646C060BCF28}"/>
              </a:ext>
            </a:extLst>
          </p:cNvPr>
          <p:cNvGrpSpPr/>
          <p:nvPr/>
        </p:nvGrpSpPr>
        <p:grpSpPr>
          <a:xfrm>
            <a:off x="512837" y="1853182"/>
            <a:ext cx="2341154" cy="3553354"/>
            <a:chOff x="512837" y="1813077"/>
            <a:chExt cx="2341154" cy="355335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3CB041-437A-DDC4-FD22-B5E3515334BD}"/>
                </a:ext>
              </a:extLst>
            </p:cNvPr>
            <p:cNvSpPr txBox="1"/>
            <p:nvPr/>
          </p:nvSpPr>
          <p:spPr>
            <a:xfrm>
              <a:off x="512837" y="3083159"/>
              <a:ext cx="234115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 dirty="0"/>
                <a:t>Function</a:t>
              </a:r>
              <a:endParaRPr lang="en-AU" sz="44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1798CF0-1C3E-1382-CB58-57AF961422F3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 flipH="1">
              <a:off x="1683414" y="2274742"/>
              <a:ext cx="1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689EAB-6BB3-0BF6-C2FD-8CDCA9E69CF6}"/>
                </a:ext>
              </a:extLst>
            </p:cNvPr>
            <p:cNvCxnSpPr>
              <a:cxnSpLocks/>
              <a:stCxn id="13" idx="2"/>
              <a:endCxn id="10" idx="0"/>
            </p:cNvCxnSpPr>
            <p:nvPr/>
          </p:nvCxnSpPr>
          <p:spPr>
            <a:xfrm>
              <a:off x="1683414" y="3852600"/>
              <a:ext cx="1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260181-C68A-8B14-17BB-4F979BCA3981}"/>
                </a:ext>
              </a:extLst>
            </p:cNvPr>
            <p:cNvSpPr txBox="1"/>
            <p:nvPr/>
          </p:nvSpPr>
          <p:spPr>
            <a:xfrm>
              <a:off x="1244031" y="1813077"/>
              <a:ext cx="878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Input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968467-A8EC-8296-8852-32D585D8625F}"/>
                </a:ext>
              </a:extLst>
            </p:cNvPr>
            <p:cNvSpPr txBox="1"/>
            <p:nvPr/>
          </p:nvSpPr>
          <p:spPr>
            <a:xfrm>
              <a:off x="1120600" y="4904766"/>
              <a:ext cx="11256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Output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93A7F6-F98A-6AA1-D97B-80C284FBF584}"/>
              </a:ext>
            </a:extLst>
          </p:cNvPr>
          <p:cNvGrpSpPr/>
          <p:nvPr/>
        </p:nvGrpSpPr>
        <p:grpSpPr>
          <a:xfrm>
            <a:off x="3987127" y="1853182"/>
            <a:ext cx="2570127" cy="3553354"/>
            <a:chOff x="3835200" y="1893288"/>
            <a:chExt cx="2570127" cy="355335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D9A6DA8-8D5B-A029-741D-B0509D62955A}"/>
                </a:ext>
              </a:extLst>
            </p:cNvPr>
            <p:cNvSpPr txBox="1"/>
            <p:nvPr/>
          </p:nvSpPr>
          <p:spPr>
            <a:xfrm>
              <a:off x="3835200" y="3163370"/>
              <a:ext cx="2570127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4400" dirty="0" err="1"/>
                <a:t>math.sqrt</a:t>
              </a:r>
              <a:endParaRPr lang="en-AU" sz="440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19293E5-3F00-1B65-0F67-77F6AD9964D5}"/>
                </a:ext>
              </a:extLst>
            </p:cNvPr>
            <p:cNvCxnSpPr>
              <a:cxnSpLocks/>
              <a:stCxn id="30" idx="2"/>
              <a:endCxn id="27" idx="0"/>
            </p:cNvCxnSpPr>
            <p:nvPr/>
          </p:nvCxnSpPr>
          <p:spPr>
            <a:xfrm>
              <a:off x="5120262" y="2354953"/>
              <a:ext cx="2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191187C-9177-409C-7E9F-543B4BB44486}"/>
                </a:ext>
              </a:extLst>
            </p:cNvPr>
            <p:cNvCxnSpPr>
              <a:cxnSpLocks/>
              <a:stCxn id="27" idx="2"/>
              <a:endCxn id="31" idx="0"/>
            </p:cNvCxnSpPr>
            <p:nvPr/>
          </p:nvCxnSpPr>
          <p:spPr>
            <a:xfrm flipH="1">
              <a:off x="5120262" y="3932811"/>
              <a:ext cx="2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A47144-7308-0F52-D792-A2DB2E15C34D}"/>
                </a:ext>
              </a:extLst>
            </p:cNvPr>
            <p:cNvSpPr txBox="1"/>
            <p:nvPr/>
          </p:nvSpPr>
          <p:spPr>
            <a:xfrm>
              <a:off x="4945374" y="1893288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2400" dirty="0"/>
                <a:t>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E7DFEC-28D0-40F7-6E60-C1137785F05A}"/>
                </a:ext>
              </a:extLst>
            </p:cNvPr>
            <p:cNvSpPr txBox="1"/>
            <p:nvPr/>
          </p:nvSpPr>
          <p:spPr>
            <a:xfrm>
              <a:off x="4945374" y="4984977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2400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1805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Functions</a:t>
            </a:r>
            <a:br>
              <a:rPr lang="en-CA" dirty="0"/>
            </a:b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595407" y="283521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function is a “black box” that takes some input and returns some output.</a:t>
            </a:r>
            <a:endParaRPr lang="en-AU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16F0E4-20B1-98C5-E278-646C060BCF28}"/>
              </a:ext>
            </a:extLst>
          </p:cNvPr>
          <p:cNvGrpSpPr/>
          <p:nvPr/>
        </p:nvGrpSpPr>
        <p:grpSpPr>
          <a:xfrm>
            <a:off x="512837" y="1853182"/>
            <a:ext cx="2341154" cy="3553354"/>
            <a:chOff x="512837" y="1813077"/>
            <a:chExt cx="2341154" cy="355335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3CB041-437A-DDC4-FD22-B5E3515334BD}"/>
                </a:ext>
              </a:extLst>
            </p:cNvPr>
            <p:cNvSpPr txBox="1"/>
            <p:nvPr/>
          </p:nvSpPr>
          <p:spPr>
            <a:xfrm>
              <a:off x="512837" y="3083159"/>
              <a:ext cx="234115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 dirty="0"/>
                <a:t>Function</a:t>
              </a:r>
              <a:endParaRPr lang="en-AU" sz="44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1798CF0-1C3E-1382-CB58-57AF961422F3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 flipH="1">
              <a:off x="1683414" y="2274742"/>
              <a:ext cx="1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689EAB-6BB3-0BF6-C2FD-8CDCA9E69CF6}"/>
                </a:ext>
              </a:extLst>
            </p:cNvPr>
            <p:cNvCxnSpPr>
              <a:cxnSpLocks/>
              <a:stCxn id="13" idx="2"/>
              <a:endCxn id="10" idx="0"/>
            </p:cNvCxnSpPr>
            <p:nvPr/>
          </p:nvCxnSpPr>
          <p:spPr>
            <a:xfrm>
              <a:off x="1683414" y="3852600"/>
              <a:ext cx="1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260181-C68A-8B14-17BB-4F979BCA3981}"/>
                </a:ext>
              </a:extLst>
            </p:cNvPr>
            <p:cNvSpPr txBox="1"/>
            <p:nvPr/>
          </p:nvSpPr>
          <p:spPr>
            <a:xfrm>
              <a:off x="1244031" y="1813077"/>
              <a:ext cx="878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Input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968467-A8EC-8296-8852-32D585D8625F}"/>
                </a:ext>
              </a:extLst>
            </p:cNvPr>
            <p:cNvSpPr txBox="1"/>
            <p:nvPr/>
          </p:nvSpPr>
          <p:spPr>
            <a:xfrm>
              <a:off x="1120600" y="4904766"/>
              <a:ext cx="11256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Output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A4327C5-EFFA-DC23-EC97-E2CA64DCED48}"/>
              </a:ext>
            </a:extLst>
          </p:cNvPr>
          <p:cNvSpPr txBox="1"/>
          <p:nvPr/>
        </p:nvSpPr>
        <p:spPr>
          <a:xfrm>
            <a:off x="7690389" y="3245139"/>
            <a:ext cx="3983976" cy="7694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sz="4400" dirty="0"/>
              <a:t>x = </a:t>
            </a:r>
            <a:r>
              <a:rPr lang="en-CA" sz="4400" dirty="0" err="1"/>
              <a:t>math.sqrt</a:t>
            </a:r>
            <a:r>
              <a:rPr lang="en-CA" sz="4400" dirty="0"/>
              <a:t>(</a:t>
            </a:r>
            <a:r>
              <a:rPr lang="en-CA" sz="4400"/>
              <a:t>4</a:t>
            </a:r>
            <a:r>
              <a:rPr lang="en-CA" sz="4400" dirty="0"/>
              <a:t>)</a:t>
            </a:r>
            <a:endParaRPr lang="en-AU" sz="4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93A7F6-F98A-6AA1-D97B-80C284FBF584}"/>
              </a:ext>
            </a:extLst>
          </p:cNvPr>
          <p:cNvGrpSpPr/>
          <p:nvPr/>
        </p:nvGrpSpPr>
        <p:grpSpPr>
          <a:xfrm>
            <a:off x="3987127" y="1853182"/>
            <a:ext cx="2570127" cy="3553354"/>
            <a:chOff x="3835200" y="1893288"/>
            <a:chExt cx="2570127" cy="355335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D9A6DA8-8D5B-A029-741D-B0509D62955A}"/>
                </a:ext>
              </a:extLst>
            </p:cNvPr>
            <p:cNvSpPr txBox="1"/>
            <p:nvPr/>
          </p:nvSpPr>
          <p:spPr>
            <a:xfrm>
              <a:off x="3835200" y="3163370"/>
              <a:ext cx="2570127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4400" dirty="0" err="1"/>
                <a:t>math.sqrt</a:t>
              </a:r>
              <a:endParaRPr lang="en-AU" sz="440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19293E5-3F00-1B65-0F67-77F6AD9964D5}"/>
                </a:ext>
              </a:extLst>
            </p:cNvPr>
            <p:cNvCxnSpPr>
              <a:cxnSpLocks/>
              <a:stCxn id="30" idx="2"/>
              <a:endCxn id="27" idx="0"/>
            </p:cNvCxnSpPr>
            <p:nvPr/>
          </p:nvCxnSpPr>
          <p:spPr>
            <a:xfrm>
              <a:off x="5120262" y="2354953"/>
              <a:ext cx="2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191187C-9177-409C-7E9F-543B4BB44486}"/>
                </a:ext>
              </a:extLst>
            </p:cNvPr>
            <p:cNvCxnSpPr>
              <a:cxnSpLocks/>
              <a:stCxn id="27" idx="2"/>
              <a:endCxn id="31" idx="0"/>
            </p:cNvCxnSpPr>
            <p:nvPr/>
          </p:nvCxnSpPr>
          <p:spPr>
            <a:xfrm flipH="1">
              <a:off x="5120262" y="3932811"/>
              <a:ext cx="2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A47144-7308-0F52-D792-A2DB2E15C34D}"/>
                </a:ext>
              </a:extLst>
            </p:cNvPr>
            <p:cNvSpPr txBox="1"/>
            <p:nvPr/>
          </p:nvSpPr>
          <p:spPr>
            <a:xfrm>
              <a:off x="4945374" y="1893288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2400" dirty="0"/>
                <a:t>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E7DFEC-28D0-40F7-6E60-C1137785F05A}"/>
                </a:ext>
              </a:extLst>
            </p:cNvPr>
            <p:cNvSpPr txBox="1"/>
            <p:nvPr/>
          </p:nvSpPr>
          <p:spPr>
            <a:xfrm>
              <a:off x="4945374" y="4984977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2400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906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Defining</a:t>
            </a:r>
            <a:br>
              <a:rPr lang="en-CA" dirty="0"/>
            </a:br>
            <a:r>
              <a:rPr lang="en-CA" dirty="0"/>
              <a:t>New Functions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defines a new function named </a:t>
            </a:r>
            <a:r>
              <a:rPr lang="en-CA" b="1" dirty="0" err="1"/>
              <a:t>print_a_joke</a:t>
            </a:r>
            <a:r>
              <a:rPr lang="en-CA" b="1" dirty="0"/>
              <a:t>()</a:t>
            </a:r>
            <a:r>
              <a:rPr lang="en-CA" dirty="0"/>
              <a:t> that takes no input.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print_a_joke</a:t>
            </a:r>
            <a:r>
              <a:rPr lang="en-US" sz="2800" dirty="0">
                <a:latin typeface="Consolas" panose="020B0609020204030204" pitchFamily="49" charset="0"/>
              </a:rPr>
              <a:t> () 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print("Never mind, it's pointless.")</a:t>
            </a:r>
            <a:endParaRPr lang="en-AU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604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/>
              <a:t>Defining</a:t>
            </a:r>
            <a:br>
              <a:rPr lang="en-CA"/>
            </a:br>
            <a:r>
              <a:rPr lang="en-CA"/>
              <a:t>New Functions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a new function named </a:t>
            </a:r>
            <a:r>
              <a:rPr lang="en-CA" b="1" err="1"/>
              <a:t>print_a_joke</a:t>
            </a:r>
            <a:r>
              <a:rPr lang="en-CA" b="1"/>
              <a:t>()</a:t>
            </a:r>
            <a:r>
              <a:rPr lang="en-CA"/>
              <a:t> that takes no input.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print_a_joke</a:t>
            </a:r>
            <a:r>
              <a:rPr lang="en-US" sz="2800" dirty="0">
                <a:latin typeface="Consolas" panose="020B0609020204030204" pitchFamily="49" charset="0"/>
              </a:rPr>
              <a:t> () 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print("Never mind, it's pointless.")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E2FA9-0F50-8D51-0AA9-3546DE25D3BA}"/>
              </a:ext>
            </a:extLst>
          </p:cNvPr>
          <p:cNvSpPr/>
          <p:nvPr/>
        </p:nvSpPr>
        <p:spPr>
          <a:xfrm>
            <a:off x="1519478" y="2602708"/>
            <a:ext cx="4195522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BA4FB-38F3-C735-CAA1-B31E8547C214}"/>
              </a:ext>
            </a:extLst>
          </p:cNvPr>
          <p:cNvSpPr txBox="1"/>
          <p:nvPr/>
        </p:nvSpPr>
        <p:spPr>
          <a:xfrm>
            <a:off x="4109229" y="746419"/>
            <a:ext cx="193663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function header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BF6E2F-78CA-E1BC-BE2A-9A5A95604BD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4812632" y="1392750"/>
            <a:ext cx="264917" cy="1075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16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234E3-1D05-A520-BA84-9F124AA4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9E183-ED20-F37B-986C-EEEA7D8A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/>
              <a:t>Defining</a:t>
            </a:r>
            <a:br>
              <a:rPr lang="en-CA"/>
            </a:br>
            <a:r>
              <a:rPr lang="en-CA"/>
              <a:t>New Functions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0B2FF-9B24-92CC-F0E4-0F9B3910B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786F7-FF53-F35F-69DE-177B4EFEEE92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a new function named </a:t>
            </a:r>
            <a:r>
              <a:rPr lang="en-CA" b="1" err="1"/>
              <a:t>print_a_joke</a:t>
            </a:r>
            <a:r>
              <a:rPr lang="en-CA" b="1"/>
              <a:t>()</a:t>
            </a:r>
            <a:r>
              <a:rPr lang="en-CA"/>
              <a:t> that takes no input.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EF102-C1FE-5DB5-4B96-91BC660C8F91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def </a:t>
            </a:r>
            <a:r>
              <a:rPr lang="en-US" sz="2800" err="1">
                <a:latin typeface="Consolas" panose="020B0609020204030204" pitchFamily="49" charset="0"/>
              </a:rPr>
              <a:t>print_a_joke</a:t>
            </a:r>
            <a:r>
              <a:rPr lang="en-US" sz="2800">
                <a:latin typeface="Consolas" panose="020B0609020204030204" pitchFamily="49" charset="0"/>
              </a:rPr>
              <a:t> () 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print("Never mind, it's pointless.")</a:t>
            </a:r>
            <a:endParaRPr lang="en-AU" sz="2800"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CB822E-30AB-C9D5-D6C8-A2F1C92ADE34}"/>
              </a:ext>
            </a:extLst>
          </p:cNvPr>
          <p:cNvSpPr/>
          <p:nvPr/>
        </p:nvSpPr>
        <p:spPr>
          <a:xfrm>
            <a:off x="1519478" y="2602708"/>
            <a:ext cx="4195522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921ACF-331D-90FC-7BB3-3FF465608DAE}"/>
              </a:ext>
            </a:extLst>
          </p:cNvPr>
          <p:cNvSpPr txBox="1"/>
          <p:nvPr/>
        </p:nvSpPr>
        <p:spPr>
          <a:xfrm>
            <a:off x="4109229" y="746419"/>
            <a:ext cx="193663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function header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F3D6D3-8F7F-2534-0177-E552562C85C7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4812632" y="1392750"/>
            <a:ext cx="264917" cy="1075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F95F35F-88AF-9657-7C85-797CBBD224BA}"/>
              </a:ext>
            </a:extLst>
          </p:cNvPr>
          <p:cNvSpPr/>
          <p:nvPr/>
        </p:nvSpPr>
        <p:spPr>
          <a:xfrm>
            <a:off x="1519477" y="3060720"/>
            <a:ext cx="8071439" cy="225187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262A56-B719-602D-0016-AE41A1E11EC9}"/>
              </a:ext>
            </a:extLst>
          </p:cNvPr>
          <p:cNvSpPr txBox="1"/>
          <p:nvPr/>
        </p:nvSpPr>
        <p:spPr>
          <a:xfrm>
            <a:off x="7016860" y="1271417"/>
            <a:ext cx="193663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function body</a:t>
            </a:r>
            <a:r>
              <a:rPr lang="en-CA"/>
              <a:t>.</a:t>
            </a:r>
            <a:endParaRPr lang="en-AU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76BCD3F-7F7B-5EC9-A024-6F830269C949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7720263" y="1917748"/>
            <a:ext cx="264917" cy="1075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435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Defining</a:t>
            </a:r>
            <a:br>
              <a:rPr lang="en-CA" dirty="0"/>
            </a:br>
            <a:r>
              <a:rPr lang="en-CA" dirty="0"/>
              <a:t>New Functions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defines a new function named </a:t>
            </a:r>
            <a:r>
              <a:rPr lang="en-CA" b="1" dirty="0" err="1"/>
              <a:t>print_a_joke</a:t>
            </a:r>
            <a:r>
              <a:rPr lang="en-CA" b="1" dirty="0"/>
              <a:t>()</a:t>
            </a:r>
            <a:r>
              <a:rPr lang="en-CA" dirty="0"/>
              <a:t> that takes no input.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print_a_joke</a:t>
            </a:r>
            <a:r>
              <a:rPr lang="en-US" sz="2800" dirty="0">
                <a:latin typeface="Consolas" panose="020B0609020204030204" pitchFamily="49" charset="0"/>
              </a:rPr>
              <a:t> () 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print("Never mind, it's pointless.")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ACD8A-FC3E-E1AF-A037-B99CA5588DA3}"/>
              </a:ext>
            </a:extLst>
          </p:cNvPr>
          <p:cNvSpPr/>
          <p:nvPr/>
        </p:nvSpPr>
        <p:spPr>
          <a:xfrm>
            <a:off x="1519478" y="2588168"/>
            <a:ext cx="778554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DCE0B-4AD4-D481-DB38-46BF723CA9C9}"/>
              </a:ext>
            </a:extLst>
          </p:cNvPr>
          <p:cNvSpPr txBox="1"/>
          <p:nvPr/>
        </p:nvSpPr>
        <p:spPr>
          <a:xfrm>
            <a:off x="341339" y="5276477"/>
            <a:ext cx="21612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function definition starts with the keyword </a:t>
            </a:r>
            <a:r>
              <a:rPr lang="en-CA" b="1" dirty="0"/>
              <a:t>def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47BE82-F07A-5F76-5A84-6C96AB7450AE}"/>
              </a:ext>
            </a:extLst>
          </p:cNvPr>
          <p:cNvCxnSpPr>
            <a:stCxn id="7" idx="0"/>
          </p:cNvCxnSpPr>
          <p:nvPr/>
        </p:nvCxnSpPr>
        <p:spPr>
          <a:xfrm flipV="1">
            <a:off x="1421954" y="2989847"/>
            <a:ext cx="486801" cy="228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951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Defining</a:t>
            </a:r>
            <a:br>
              <a:rPr lang="en-CA" dirty="0"/>
            </a:br>
            <a:r>
              <a:rPr lang="en-CA" dirty="0"/>
              <a:t>New Functions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defines a new function named </a:t>
            </a:r>
            <a:r>
              <a:rPr lang="en-CA" b="1" dirty="0" err="1"/>
              <a:t>print_a_joke</a:t>
            </a:r>
            <a:r>
              <a:rPr lang="en-CA" b="1" dirty="0"/>
              <a:t>()</a:t>
            </a:r>
            <a:r>
              <a:rPr lang="en-CA" dirty="0"/>
              <a:t> that takes no input.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print_a_joke</a:t>
            </a:r>
            <a:r>
              <a:rPr lang="en-US" sz="2800" dirty="0">
                <a:latin typeface="Consolas" panose="020B0609020204030204" pitchFamily="49" charset="0"/>
              </a:rPr>
              <a:t> () 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print("Never mind, it's pointless.")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ACD8A-FC3E-E1AF-A037-B99CA5588DA3}"/>
              </a:ext>
            </a:extLst>
          </p:cNvPr>
          <p:cNvSpPr/>
          <p:nvPr/>
        </p:nvSpPr>
        <p:spPr>
          <a:xfrm>
            <a:off x="1519478" y="2588168"/>
            <a:ext cx="778554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DCE0B-4AD4-D481-DB38-46BF723CA9C9}"/>
              </a:ext>
            </a:extLst>
          </p:cNvPr>
          <p:cNvSpPr txBox="1"/>
          <p:nvPr/>
        </p:nvSpPr>
        <p:spPr>
          <a:xfrm>
            <a:off x="341339" y="5276477"/>
            <a:ext cx="21612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function definition starts with the keyword </a:t>
            </a:r>
            <a:r>
              <a:rPr lang="en-CA" b="1" dirty="0"/>
              <a:t>def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47BE82-F07A-5F76-5A84-6C96AB7450AE}"/>
              </a:ext>
            </a:extLst>
          </p:cNvPr>
          <p:cNvCxnSpPr>
            <a:stCxn id="7" idx="0"/>
          </p:cNvCxnSpPr>
          <p:nvPr/>
        </p:nvCxnSpPr>
        <p:spPr>
          <a:xfrm flipV="1">
            <a:off x="1421954" y="2989847"/>
            <a:ext cx="486801" cy="228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E2FA9-0F50-8D51-0AA9-3546DE25D3BA}"/>
              </a:ext>
            </a:extLst>
          </p:cNvPr>
          <p:cNvSpPr/>
          <p:nvPr/>
        </p:nvSpPr>
        <p:spPr>
          <a:xfrm>
            <a:off x="2395555" y="2588168"/>
            <a:ext cx="239301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BA4FB-38F3-C735-CAA1-B31E8547C214}"/>
              </a:ext>
            </a:extLst>
          </p:cNvPr>
          <p:cNvSpPr txBox="1"/>
          <p:nvPr/>
        </p:nvSpPr>
        <p:spPr>
          <a:xfrm>
            <a:off x="4109229" y="746419"/>
            <a:ext cx="21612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After </a:t>
            </a:r>
            <a:r>
              <a:rPr lang="en-CA" b="1" dirty="0"/>
              <a:t>def</a:t>
            </a:r>
            <a:r>
              <a:rPr lang="en-CA" dirty="0"/>
              <a:t> comes the function name.</a:t>
            </a:r>
            <a:endParaRPr lang="en-AU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BF6E2F-78CA-E1BC-BE2A-9A5A95604BD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689585" y="1392750"/>
            <a:ext cx="1500259" cy="1142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80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Defining</a:t>
            </a:r>
            <a:br>
              <a:rPr lang="en-CA" dirty="0"/>
            </a:br>
            <a:r>
              <a:rPr lang="en-CA" dirty="0"/>
              <a:t>New Functions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defines a new function named </a:t>
            </a:r>
            <a:r>
              <a:rPr lang="en-CA" b="1" dirty="0" err="1"/>
              <a:t>print_a_joke</a:t>
            </a:r>
            <a:r>
              <a:rPr lang="en-CA" b="1" dirty="0"/>
              <a:t>()</a:t>
            </a:r>
            <a:r>
              <a:rPr lang="en-CA" dirty="0"/>
              <a:t> that takes no input.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print_a_joke</a:t>
            </a:r>
            <a:r>
              <a:rPr lang="en-US" sz="2800" dirty="0">
                <a:latin typeface="Consolas" panose="020B0609020204030204" pitchFamily="49" charset="0"/>
              </a:rPr>
              <a:t> () 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print("Never mind, it's pointless.")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ACD8A-FC3E-E1AF-A037-B99CA5588DA3}"/>
              </a:ext>
            </a:extLst>
          </p:cNvPr>
          <p:cNvSpPr/>
          <p:nvPr/>
        </p:nvSpPr>
        <p:spPr>
          <a:xfrm>
            <a:off x="1519478" y="2588168"/>
            <a:ext cx="778554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DCE0B-4AD4-D481-DB38-46BF723CA9C9}"/>
              </a:ext>
            </a:extLst>
          </p:cNvPr>
          <p:cNvSpPr txBox="1"/>
          <p:nvPr/>
        </p:nvSpPr>
        <p:spPr>
          <a:xfrm>
            <a:off x="341339" y="5276477"/>
            <a:ext cx="21612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function definition starts with the keyword </a:t>
            </a:r>
            <a:r>
              <a:rPr lang="en-CA" b="1" dirty="0"/>
              <a:t>def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47BE82-F07A-5F76-5A84-6C96AB7450AE}"/>
              </a:ext>
            </a:extLst>
          </p:cNvPr>
          <p:cNvCxnSpPr>
            <a:stCxn id="7" idx="0"/>
          </p:cNvCxnSpPr>
          <p:nvPr/>
        </p:nvCxnSpPr>
        <p:spPr>
          <a:xfrm flipV="1">
            <a:off x="1421954" y="2989847"/>
            <a:ext cx="486801" cy="228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E2FA9-0F50-8D51-0AA9-3546DE25D3BA}"/>
              </a:ext>
            </a:extLst>
          </p:cNvPr>
          <p:cNvSpPr/>
          <p:nvPr/>
        </p:nvSpPr>
        <p:spPr>
          <a:xfrm>
            <a:off x="2395555" y="2588168"/>
            <a:ext cx="239301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A0BFFD-25E5-32A6-03EF-365C22F0EFB4}"/>
              </a:ext>
            </a:extLst>
          </p:cNvPr>
          <p:cNvSpPr/>
          <p:nvPr/>
        </p:nvSpPr>
        <p:spPr>
          <a:xfrm>
            <a:off x="4886091" y="2588168"/>
            <a:ext cx="47999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BA4FB-38F3-C735-CAA1-B31E8547C214}"/>
              </a:ext>
            </a:extLst>
          </p:cNvPr>
          <p:cNvSpPr txBox="1"/>
          <p:nvPr/>
        </p:nvSpPr>
        <p:spPr>
          <a:xfrm>
            <a:off x="4109229" y="746419"/>
            <a:ext cx="21612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After </a:t>
            </a:r>
            <a:r>
              <a:rPr lang="en-CA" b="1" dirty="0"/>
              <a:t>def</a:t>
            </a:r>
            <a:r>
              <a:rPr lang="en-CA" dirty="0"/>
              <a:t> comes the function name.</a:t>
            </a:r>
            <a:endParaRPr lang="en-AU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BF6E2F-78CA-E1BC-BE2A-9A5A95604BD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689585" y="1392750"/>
            <a:ext cx="1500259" cy="1142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EBB560C-50DC-8E76-7C51-F8250EE741C9}"/>
              </a:ext>
            </a:extLst>
          </p:cNvPr>
          <p:cNvSpPr txBox="1"/>
          <p:nvPr/>
        </p:nvSpPr>
        <p:spPr>
          <a:xfrm>
            <a:off x="6787627" y="746419"/>
            <a:ext cx="182297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After the name comes the </a:t>
            </a:r>
            <a:r>
              <a:rPr lang="en-CA" b="1" dirty="0"/>
              <a:t>parameter list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032F4B-8B17-43F6-40FF-44ECCA26DE88}"/>
              </a:ext>
            </a:extLst>
          </p:cNvPr>
          <p:cNvCxnSpPr>
            <a:cxnSpLocks/>
          </p:cNvCxnSpPr>
          <p:nvPr/>
        </p:nvCxnSpPr>
        <p:spPr>
          <a:xfrm flipH="1">
            <a:off x="5189844" y="1644622"/>
            <a:ext cx="1597783" cy="891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9274E0-0594-8504-821D-DD9095AA9171}"/>
              </a:ext>
            </a:extLst>
          </p:cNvPr>
          <p:cNvSpPr txBox="1"/>
          <p:nvPr/>
        </p:nvSpPr>
        <p:spPr>
          <a:xfrm>
            <a:off x="9097775" y="746419"/>
            <a:ext cx="27432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(</a:t>
            </a:r>
            <a:r>
              <a:rPr lang="en-CA" dirty="0"/>
              <a:t> is an </a:t>
            </a:r>
            <a:r>
              <a:rPr lang="en-CA" b="1" dirty="0"/>
              <a:t>open</a:t>
            </a:r>
            <a:r>
              <a:rPr lang="en-CA" dirty="0"/>
              <a:t> parenthesis</a:t>
            </a:r>
            <a:br>
              <a:rPr lang="en-CA" dirty="0"/>
            </a:br>
            <a:r>
              <a:rPr lang="en-CA" b="1" dirty="0"/>
              <a:t>)</a:t>
            </a:r>
            <a:r>
              <a:rPr lang="en-CA" dirty="0"/>
              <a:t> is a </a:t>
            </a:r>
            <a:r>
              <a:rPr lang="en-CA" b="1" dirty="0"/>
              <a:t>closed</a:t>
            </a:r>
            <a:r>
              <a:rPr lang="en-CA" dirty="0"/>
              <a:t> parenthesis</a:t>
            </a:r>
            <a:endParaRPr lang="en-AU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ACA8AA-D02D-2B40-649E-582528B8DD9E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8610600" y="1069585"/>
            <a:ext cx="487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367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Defining</a:t>
            </a:r>
            <a:br>
              <a:rPr lang="en-CA" dirty="0"/>
            </a:br>
            <a:r>
              <a:rPr lang="en-CA" dirty="0"/>
              <a:t>New Functions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defines a new function named </a:t>
            </a:r>
            <a:r>
              <a:rPr lang="en-CA" b="1" dirty="0" err="1"/>
              <a:t>print_a_joke</a:t>
            </a:r>
            <a:r>
              <a:rPr lang="en-CA" b="1" dirty="0"/>
              <a:t>()</a:t>
            </a:r>
            <a:r>
              <a:rPr lang="en-CA" dirty="0"/>
              <a:t> that takes no input.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print_a_joke</a:t>
            </a:r>
            <a:r>
              <a:rPr lang="en-US" sz="2800" dirty="0">
                <a:latin typeface="Consolas" panose="020B0609020204030204" pitchFamily="49" charset="0"/>
              </a:rPr>
              <a:t> () 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print("Never mind, it's pointless.")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ACD8A-FC3E-E1AF-A037-B99CA5588DA3}"/>
              </a:ext>
            </a:extLst>
          </p:cNvPr>
          <p:cNvSpPr/>
          <p:nvPr/>
        </p:nvSpPr>
        <p:spPr>
          <a:xfrm>
            <a:off x="1519478" y="2588168"/>
            <a:ext cx="778554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DCE0B-4AD4-D481-DB38-46BF723CA9C9}"/>
              </a:ext>
            </a:extLst>
          </p:cNvPr>
          <p:cNvSpPr txBox="1"/>
          <p:nvPr/>
        </p:nvSpPr>
        <p:spPr>
          <a:xfrm>
            <a:off x="341339" y="5276477"/>
            <a:ext cx="21612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function definition starts with the keyword </a:t>
            </a:r>
            <a:r>
              <a:rPr lang="en-CA" b="1" dirty="0"/>
              <a:t>def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47BE82-F07A-5F76-5A84-6C96AB7450AE}"/>
              </a:ext>
            </a:extLst>
          </p:cNvPr>
          <p:cNvCxnSpPr>
            <a:stCxn id="7" idx="0"/>
          </p:cNvCxnSpPr>
          <p:nvPr/>
        </p:nvCxnSpPr>
        <p:spPr>
          <a:xfrm flipV="1">
            <a:off x="1421954" y="2989847"/>
            <a:ext cx="486801" cy="228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E2FA9-0F50-8D51-0AA9-3546DE25D3BA}"/>
              </a:ext>
            </a:extLst>
          </p:cNvPr>
          <p:cNvSpPr/>
          <p:nvPr/>
        </p:nvSpPr>
        <p:spPr>
          <a:xfrm>
            <a:off x="2395555" y="2588168"/>
            <a:ext cx="239301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A0BFFD-25E5-32A6-03EF-365C22F0EFB4}"/>
              </a:ext>
            </a:extLst>
          </p:cNvPr>
          <p:cNvSpPr/>
          <p:nvPr/>
        </p:nvSpPr>
        <p:spPr>
          <a:xfrm>
            <a:off x="4886091" y="2588168"/>
            <a:ext cx="47999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81EB39-1126-2B52-1A98-53E7C9DD425C}"/>
              </a:ext>
            </a:extLst>
          </p:cNvPr>
          <p:cNvSpPr/>
          <p:nvPr/>
        </p:nvSpPr>
        <p:spPr>
          <a:xfrm>
            <a:off x="5463608" y="2588168"/>
            <a:ext cx="275456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BA4FB-38F3-C735-CAA1-B31E8547C214}"/>
              </a:ext>
            </a:extLst>
          </p:cNvPr>
          <p:cNvSpPr txBox="1"/>
          <p:nvPr/>
        </p:nvSpPr>
        <p:spPr>
          <a:xfrm>
            <a:off x="4109229" y="746419"/>
            <a:ext cx="21612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After </a:t>
            </a:r>
            <a:r>
              <a:rPr lang="en-CA" b="1" dirty="0"/>
              <a:t>def</a:t>
            </a:r>
            <a:r>
              <a:rPr lang="en-CA" dirty="0"/>
              <a:t> comes the function name.</a:t>
            </a:r>
            <a:endParaRPr lang="en-AU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BF6E2F-78CA-E1BC-BE2A-9A5A95604BD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689585" y="1392750"/>
            <a:ext cx="1500259" cy="1142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EBB560C-50DC-8E76-7C51-F8250EE741C9}"/>
              </a:ext>
            </a:extLst>
          </p:cNvPr>
          <p:cNvSpPr txBox="1"/>
          <p:nvPr/>
        </p:nvSpPr>
        <p:spPr>
          <a:xfrm>
            <a:off x="6787627" y="746419"/>
            <a:ext cx="182297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After the name comes the </a:t>
            </a:r>
            <a:r>
              <a:rPr lang="en-CA" b="1" dirty="0"/>
              <a:t>parameter list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032F4B-8B17-43F6-40FF-44ECCA26DE88}"/>
              </a:ext>
            </a:extLst>
          </p:cNvPr>
          <p:cNvCxnSpPr>
            <a:cxnSpLocks/>
          </p:cNvCxnSpPr>
          <p:nvPr/>
        </p:nvCxnSpPr>
        <p:spPr>
          <a:xfrm flipH="1">
            <a:off x="5189844" y="1644622"/>
            <a:ext cx="1597783" cy="891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C6F550C-F0F2-5091-8193-ADDABF62B722}"/>
              </a:ext>
            </a:extLst>
          </p:cNvPr>
          <p:cNvSpPr txBox="1"/>
          <p:nvPr/>
        </p:nvSpPr>
        <p:spPr>
          <a:xfrm>
            <a:off x="7209006" y="2126503"/>
            <a:ext cx="199943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After the </a:t>
            </a:r>
            <a:r>
              <a:rPr lang="en-CA" b="1" dirty="0"/>
              <a:t>parameter list </a:t>
            </a:r>
            <a:r>
              <a:rPr lang="en-CA" dirty="0"/>
              <a:t>comes a </a:t>
            </a:r>
            <a:r>
              <a:rPr lang="en-CA" b="1" dirty="0"/>
              <a:t>:</a:t>
            </a:r>
            <a:r>
              <a:rPr lang="en-CA" dirty="0"/>
              <a:t> (colon).</a:t>
            </a:r>
            <a:endParaRPr lang="en-AU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8617EBC-ECAE-C3B5-C838-333188A524A7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5836588" y="2588168"/>
            <a:ext cx="1372418" cy="195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9274E0-0594-8504-821D-DD9095AA9171}"/>
              </a:ext>
            </a:extLst>
          </p:cNvPr>
          <p:cNvSpPr txBox="1"/>
          <p:nvPr/>
        </p:nvSpPr>
        <p:spPr>
          <a:xfrm>
            <a:off x="9097775" y="746419"/>
            <a:ext cx="27432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(</a:t>
            </a:r>
            <a:r>
              <a:rPr lang="en-CA" dirty="0"/>
              <a:t> is an </a:t>
            </a:r>
            <a:r>
              <a:rPr lang="en-CA" b="1" dirty="0"/>
              <a:t>open</a:t>
            </a:r>
            <a:r>
              <a:rPr lang="en-CA" dirty="0"/>
              <a:t> parenthesis</a:t>
            </a:r>
            <a:br>
              <a:rPr lang="en-CA" dirty="0"/>
            </a:br>
            <a:r>
              <a:rPr lang="en-CA" b="1" dirty="0"/>
              <a:t>)</a:t>
            </a:r>
            <a:r>
              <a:rPr lang="en-CA" dirty="0"/>
              <a:t> is a </a:t>
            </a:r>
            <a:r>
              <a:rPr lang="en-CA" b="1" dirty="0"/>
              <a:t>closed</a:t>
            </a:r>
            <a:r>
              <a:rPr lang="en-CA" dirty="0"/>
              <a:t> parenthesis</a:t>
            </a:r>
            <a:endParaRPr lang="en-AU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ACA8AA-D02D-2B40-649E-582528B8DD9E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8610600" y="1069585"/>
            <a:ext cx="487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077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Defining</a:t>
            </a:r>
            <a:br>
              <a:rPr lang="en-CA" dirty="0"/>
            </a:br>
            <a:r>
              <a:rPr lang="en-CA" dirty="0"/>
              <a:t>New Functions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defines a new function named </a:t>
            </a:r>
            <a:r>
              <a:rPr lang="en-CA" b="1" dirty="0" err="1"/>
              <a:t>print_a_joke</a:t>
            </a:r>
            <a:r>
              <a:rPr lang="en-CA" b="1" dirty="0"/>
              <a:t>()</a:t>
            </a:r>
            <a:r>
              <a:rPr lang="en-CA" dirty="0"/>
              <a:t> that takes no input.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print_a_joke</a:t>
            </a:r>
            <a:r>
              <a:rPr lang="en-US" sz="2800" dirty="0">
                <a:latin typeface="Consolas" panose="020B0609020204030204" pitchFamily="49" charset="0"/>
              </a:rPr>
              <a:t> () 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print("Never mind, it's pointless.")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AE80C0-436D-52C6-38FA-8DF421454B21}"/>
              </a:ext>
            </a:extLst>
          </p:cNvPr>
          <p:cNvSpPr/>
          <p:nvPr/>
        </p:nvSpPr>
        <p:spPr>
          <a:xfrm>
            <a:off x="1519477" y="3060720"/>
            <a:ext cx="8071439" cy="225187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A27BCE-E027-26A2-610F-E33D7A61E431}"/>
              </a:ext>
            </a:extLst>
          </p:cNvPr>
          <p:cNvSpPr txBox="1"/>
          <p:nvPr/>
        </p:nvSpPr>
        <p:spPr>
          <a:xfrm>
            <a:off x="6096001" y="1229241"/>
            <a:ext cx="24704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body of a function definition consists of 1 or more statements.</a:t>
            </a:r>
            <a:endParaRPr lang="en-AU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901D27B-AA60-DBFE-FEDC-0BEACA095F92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6894095" y="2152571"/>
            <a:ext cx="437148" cy="855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699A7A-430C-A6AD-69FD-466D12327618}"/>
              </a:ext>
            </a:extLst>
          </p:cNvPr>
          <p:cNvSpPr txBox="1"/>
          <p:nvPr/>
        </p:nvSpPr>
        <p:spPr>
          <a:xfrm>
            <a:off x="9135980" y="1367740"/>
            <a:ext cx="213315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particular function body has 5 </a:t>
            </a:r>
            <a:r>
              <a:rPr lang="en-CA"/>
              <a:t>print </a:t>
            </a:r>
            <a:r>
              <a:rPr lang="en-CA" dirty="0"/>
              <a:t>statements.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ECC055-C110-183B-27A6-25DC057B836F}"/>
              </a:ext>
            </a:extLst>
          </p:cNvPr>
          <p:cNvCxnSpPr>
            <a:cxnSpLocks/>
          </p:cNvCxnSpPr>
          <p:nvPr/>
        </p:nvCxnSpPr>
        <p:spPr>
          <a:xfrm flipH="1">
            <a:off x="8746958" y="2291070"/>
            <a:ext cx="389022" cy="716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5634A30-244A-564F-DCD3-C53594054409}"/>
              </a:ext>
            </a:extLst>
          </p:cNvPr>
          <p:cNvSpPr txBox="1"/>
          <p:nvPr/>
        </p:nvSpPr>
        <p:spPr>
          <a:xfrm>
            <a:off x="641686" y="5596529"/>
            <a:ext cx="274320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Important!</a:t>
            </a:r>
            <a:br>
              <a:rPr lang="en-CA" dirty="0"/>
            </a:br>
            <a:r>
              <a:rPr lang="en-CA" dirty="0"/>
              <a:t>The statements in the body of a function must be consistently </a:t>
            </a:r>
            <a:r>
              <a:rPr lang="en-CA"/>
              <a:t>indented.</a:t>
            </a:r>
            <a:endParaRPr lang="en-AU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31410E-36D7-6CAF-063A-4B084FD7DCD5}"/>
              </a:ext>
            </a:extLst>
          </p:cNvPr>
          <p:cNvSpPr/>
          <p:nvPr/>
        </p:nvSpPr>
        <p:spPr>
          <a:xfrm>
            <a:off x="1661106" y="3140242"/>
            <a:ext cx="704360" cy="197317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588662D-71AE-6BC3-90A1-1122058A7402}"/>
              </a:ext>
            </a:extLst>
          </p:cNvPr>
          <p:cNvCxnSpPr>
            <a:cxnSpLocks/>
            <a:stCxn id="20" idx="0"/>
            <a:endCxn id="21" idx="2"/>
          </p:cNvCxnSpPr>
          <p:nvPr/>
        </p:nvCxnSpPr>
        <p:spPr>
          <a:xfrm flipV="1">
            <a:off x="2013286" y="5113421"/>
            <a:ext cx="0" cy="483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205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13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265837" y="189182"/>
            <a:ext cx="525015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print_a_joke</a:t>
            </a:r>
            <a:r>
              <a:rPr lang="en-US" dirty="0">
                <a:latin typeface="Consolas" panose="020B0609020204030204" pitchFamily="49" charset="0"/>
              </a:rPr>
              <a:t>():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print("Never mind, it's pointless.")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E7F2C4-3DF9-2880-3655-00E1FC9411E0}"/>
              </a:ext>
            </a:extLst>
          </p:cNvPr>
          <p:cNvSpPr txBox="1"/>
          <p:nvPr/>
        </p:nvSpPr>
        <p:spPr>
          <a:xfrm>
            <a:off x="6651901" y="264481"/>
            <a:ext cx="525015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print_a_joke</a:t>
            </a:r>
            <a:r>
              <a:rPr lang="en-US" dirty="0">
                <a:latin typeface="Consolas" panose="020B0609020204030204" pitchFamily="49" charset="0"/>
              </a:rPr>
              <a:t>():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dirty="0">
                <a:latin typeface="Consolas" panose="020B0609020204030204" pitchFamily="49" charset="0"/>
              </a:rPr>
              <a:t>   print("A broken pencil.")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print("Never mind, it's pointless.")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34857-1D30-A39C-48ED-29D6B6D09216}"/>
              </a:ext>
            </a:extLst>
          </p:cNvPr>
          <p:cNvSpPr txBox="1"/>
          <p:nvPr/>
        </p:nvSpPr>
        <p:spPr>
          <a:xfrm>
            <a:off x="6651900" y="2244945"/>
            <a:ext cx="525015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print_a_joke</a:t>
            </a:r>
            <a:r>
              <a:rPr lang="en-US" dirty="0">
                <a:latin typeface="Consolas" panose="020B0609020204030204" pitchFamily="49" charset="0"/>
              </a:rPr>
              <a:t>():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dirty="0">
                <a:latin typeface="Consolas" panose="020B0609020204030204" pitchFamily="49" charset="0"/>
              </a:rPr>
              <a:t>     print("A broken pencil.")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dirty="0">
                <a:latin typeface="Consolas" panose="020B0609020204030204" pitchFamily="49" charset="0"/>
              </a:rPr>
              <a:t>    print("Never mind, it's pointless.")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BE0BB-1C8B-ABD3-E5B7-24F724AA2025}"/>
              </a:ext>
            </a:extLst>
          </p:cNvPr>
          <p:cNvSpPr txBox="1"/>
          <p:nvPr/>
        </p:nvSpPr>
        <p:spPr>
          <a:xfrm>
            <a:off x="519111" y="2484930"/>
            <a:ext cx="4743606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print_a_joke</a:t>
            </a:r>
            <a:r>
              <a:rPr lang="en-US" dirty="0">
                <a:latin typeface="Consolas" panose="020B0609020204030204" pitchFamily="49" charset="0"/>
              </a:rPr>
              <a:t>():</a:t>
            </a:r>
          </a:p>
          <a:p>
            <a:r>
              <a:rPr lang="en-US" dirty="0">
                <a:latin typeface="Consolas" panose="020B0609020204030204" pitchFamily="49" charset="0"/>
              </a:rPr>
              <a:t>print("Knock knock!")</a:t>
            </a:r>
          </a:p>
          <a:p>
            <a:r>
              <a:rPr lang="en-US" dirty="0">
                <a:latin typeface="Consolas" panose="020B0609020204030204" pitchFamily="49" charset="0"/>
              </a:rPr>
              <a:t>print("Who's there?")</a:t>
            </a:r>
          </a:p>
          <a:p>
            <a:r>
              <a:rPr lang="en-US" dirty="0">
                <a:latin typeface="Consolas" panose="020B0609020204030204" pitchFamily="49" charset="0"/>
              </a:rPr>
              <a:t>print("A broken pencil.")</a:t>
            </a:r>
          </a:p>
          <a:p>
            <a:r>
              <a:rPr lang="en-US" dirty="0">
                <a:latin typeface="Consolas" panose="020B0609020204030204" pitchFamily="49" charset="0"/>
              </a:rPr>
              <a:t>print("A broken pencil who?")</a:t>
            </a:r>
          </a:p>
          <a:p>
            <a:r>
              <a:rPr lang="en-US" dirty="0">
                <a:latin typeface="Consolas" panose="020B0609020204030204" pitchFamily="49" charset="0"/>
              </a:rPr>
              <a:t>print("Never mind, it's pointless.")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D433E-1A37-850C-A3A5-9AD623A473C6}"/>
              </a:ext>
            </a:extLst>
          </p:cNvPr>
          <p:cNvSpPr txBox="1"/>
          <p:nvPr/>
        </p:nvSpPr>
        <p:spPr>
          <a:xfrm>
            <a:off x="392474" y="4537697"/>
            <a:ext cx="4996881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print_a_joke</a:t>
            </a:r>
            <a:r>
              <a:rPr lang="en-US" dirty="0">
                <a:latin typeface="Consolas" panose="020B0609020204030204" pitchFamily="49" charset="0"/>
              </a:rPr>
              <a:t>():</a:t>
            </a:r>
          </a:p>
          <a:p>
            <a:r>
              <a:rPr lang="en-US" dirty="0">
                <a:latin typeface="Consolas" panose="020B0609020204030204" pitchFamily="49" charset="0"/>
              </a:rPr>
              <a:t> print("Knock knock!")</a:t>
            </a:r>
          </a:p>
          <a:p>
            <a:r>
              <a:rPr lang="en-US" dirty="0">
                <a:latin typeface="Consolas" panose="020B0609020204030204" pitchFamily="49" charset="0"/>
              </a:rPr>
              <a:t> print("Who's there?")</a:t>
            </a:r>
          </a:p>
          <a:p>
            <a:r>
              <a:rPr lang="en-US" dirty="0">
                <a:latin typeface="Consolas" panose="020B0609020204030204" pitchFamily="49" charset="0"/>
              </a:rPr>
              <a:t> print("A broken pencil.")</a:t>
            </a:r>
          </a:p>
          <a:p>
            <a:r>
              <a:rPr lang="en-US" dirty="0">
                <a:latin typeface="Consolas" panose="020B0609020204030204" pitchFamily="49" charset="0"/>
              </a:rPr>
              <a:t> print("A broken pencil who?")</a:t>
            </a:r>
          </a:p>
          <a:p>
            <a:r>
              <a:rPr lang="en-US" dirty="0">
                <a:latin typeface="Consolas" panose="020B0609020204030204" pitchFamily="49" charset="0"/>
              </a:rPr>
              <a:t> print("Never mind, it's pointless.")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3057A2-2766-1958-27FF-165EA233799A}"/>
              </a:ext>
            </a:extLst>
          </p:cNvPr>
          <p:cNvSpPr txBox="1"/>
          <p:nvPr/>
        </p:nvSpPr>
        <p:spPr>
          <a:xfrm>
            <a:off x="6383867" y="4537697"/>
            <a:ext cx="56280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Which functions are </a:t>
            </a:r>
          </a:p>
          <a:p>
            <a:r>
              <a:rPr lang="en-CA" sz="4800"/>
              <a:t>correctly indented?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4097905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14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265837" y="189182"/>
            <a:ext cx="5250155" cy="17543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  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E7F2C4-3DF9-2880-3655-00E1FC9411E0}"/>
              </a:ext>
            </a:extLst>
          </p:cNvPr>
          <p:cNvSpPr txBox="1"/>
          <p:nvPr/>
        </p:nvSpPr>
        <p:spPr>
          <a:xfrm>
            <a:off x="6651901" y="264481"/>
            <a:ext cx="5250155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 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  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34857-1D30-A39C-48ED-29D6B6D09216}"/>
              </a:ext>
            </a:extLst>
          </p:cNvPr>
          <p:cNvSpPr txBox="1"/>
          <p:nvPr/>
        </p:nvSpPr>
        <p:spPr>
          <a:xfrm>
            <a:off x="6651900" y="2244945"/>
            <a:ext cx="5250155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   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  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BE0BB-1C8B-ABD3-E5B7-24F724AA2025}"/>
              </a:ext>
            </a:extLst>
          </p:cNvPr>
          <p:cNvSpPr txBox="1"/>
          <p:nvPr/>
        </p:nvSpPr>
        <p:spPr>
          <a:xfrm>
            <a:off x="519111" y="2484930"/>
            <a:ext cx="4743606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print_a_joke</a:t>
            </a:r>
            <a:r>
              <a:rPr lang="en-US" dirty="0">
                <a:latin typeface="Consolas" panose="020B0609020204030204" pitchFamily="49" charset="0"/>
              </a:rPr>
              <a:t>():</a:t>
            </a:r>
          </a:p>
          <a:p>
            <a:r>
              <a:rPr lang="en-US" dirty="0">
                <a:latin typeface="Consolas" panose="020B0609020204030204" pitchFamily="49" charset="0"/>
              </a:rPr>
              <a:t>print("Knock knock!")</a:t>
            </a:r>
          </a:p>
          <a:p>
            <a:r>
              <a:rPr lang="en-US" dirty="0">
                <a:latin typeface="Consolas" panose="020B0609020204030204" pitchFamily="49" charset="0"/>
              </a:rPr>
              <a:t>print("Who's there?")</a:t>
            </a:r>
          </a:p>
          <a:p>
            <a:r>
              <a:rPr lang="en-US" dirty="0">
                <a:latin typeface="Consolas" panose="020B0609020204030204" pitchFamily="49" charset="0"/>
              </a:rPr>
              <a:t>print("A broken pencil.")</a:t>
            </a:r>
          </a:p>
          <a:p>
            <a:r>
              <a:rPr lang="en-US" dirty="0">
                <a:latin typeface="Consolas" panose="020B0609020204030204" pitchFamily="49" charset="0"/>
              </a:rPr>
              <a:t>print("A broken pencil who?")</a:t>
            </a:r>
          </a:p>
          <a:p>
            <a:r>
              <a:rPr lang="en-US" dirty="0">
                <a:latin typeface="Consolas" panose="020B0609020204030204" pitchFamily="49" charset="0"/>
              </a:rPr>
              <a:t>print("Never mind, it's pointless.")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D433E-1A37-850C-A3A5-9AD623A473C6}"/>
              </a:ext>
            </a:extLst>
          </p:cNvPr>
          <p:cNvSpPr txBox="1"/>
          <p:nvPr/>
        </p:nvSpPr>
        <p:spPr>
          <a:xfrm>
            <a:off x="392474" y="4537697"/>
            <a:ext cx="4996881" cy="17543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304B2A-6E9B-6CB5-BF62-4B69BBED98EE}"/>
              </a:ext>
            </a:extLst>
          </p:cNvPr>
          <p:cNvSpPr txBox="1"/>
          <p:nvPr/>
        </p:nvSpPr>
        <p:spPr>
          <a:xfrm>
            <a:off x="4503168" y="4780678"/>
            <a:ext cx="917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>
                <a:solidFill>
                  <a:srgbClr val="00B050"/>
                </a:solidFill>
              </a:rPr>
              <a:t>Works!</a:t>
            </a:r>
            <a:endParaRPr lang="en-AU" b="1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7F840-2634-EBC0-6D99-5C3A06EAF27B}"/>
              </a:ext>
            </a:extLst>
          </p:cNvPr>
          <p:cNvSpPr txBox="1"/>
          <p:nvPr/>
        </p:nvSpPr>
        <p:spPr>
          <a:xfrm>
            <a:off x="4503168" y="189182"/>
            <a:ext cx="917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>
                <a:solidFill>
                  <a:srgbClr val="00B050"/>
                </a:solidFill>
              </a:rPr>
              <a:t>Works!</a:t>
            </a:r>
            <a:endParaRPr lang="en-AU" b="1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9CB11C-790B-7DEA-5A61-2065C3F98989}"/>
              </a:ext>
            </a:extLst>
          </p:cNvPr>
          <p:cNvSpPr txBox="1"/>
          <p:nvPr/>
        </p:nvSpPr>
        <p:spPr>
          <a:xfrm>
            <a:off x="4503168" y="2553944"/>
            <a:ext cx="89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>
                <a:solidFill>
                  <a:srgbClr val="FF0000"/>
                </a:solidFill>
              </a:rPr>
              <a:t>Syntax</a:t>
            </a:r>
            <a:br>
              <a:rPr lang="en-CA" b="1">
                <a:solidFill>
                  <a:srgbClr val="FF0000"/>
                </a:solidFill>
              </a:rPr>
            </a:br>
            <a:r>
              <a:rPr lang="en-CA" b="1">
                <a:solidFill>
                  <a:srgbClr val="FF0000"/>
                </a:solidFill>
              </a:rPr>
              <a:t>error!</a:t>
            </a:r>
            <a:endParaRPr lang="en-AU" b="1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EAAFE9-B088-C0B2-4DA9-CDDEC4559C74}"/>
              </a:ext>
            </a:extLst>
          </p:cNvPr>
          <p:cNvSpPr txBox="1"/>
          <p:nvPr/>
        </p:nvSpPr>
        <p:spPr>
          <a:xfrm>
            <a:off x="11011234" y="2333811"/>
            <a:ext cx="89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>
                <a:solidFill>
                  <a:srgbClr val="FF0000"/>
                </a:solidFill>
              </a:rPr>
              <a:t>Syntax</a:t>
            </a:r>
            <a:br>
              <a:rPr lang="en-CA" b="1">
                <a:solidFill>
                  <a:srgbClr val="FF0000"/>
                </a:solidFill>
              </a:rPr>
            </a:br>
            <a:r>
              <a:rPr lang="en-CA" b="1">
                <a:solidFill>
                  <a:srgbClr val="FF0000"/>
                </a:solidFill>
              </a:rPr>
              <a:t>error!</a:t>
            </a:r>
            <a:endParaRPr lang="en-AU" b="1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EF1888-4E78-2BE5-6235-42037027A2A9}"/>
              </a:ext>
            </a:extLst>
          </p:cNvPr>
          <p:cNvSpPr txBox="1"/>
          <p:nvPr/>
        </p:nvSpPr>
        <p:spPr>
          <a:xfrm>
            <a:off x="10908389" y="373848"/>
            <a:ext cx="89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>
                <a:solidFill>
                  <a:srgbClr val="FF0000"/>
                </a:solidFill>
              </a:rPr>
              <a:t>Syntax</a:t>
            </a:r>
            <a:br>
              <a:rPr lang="en-CA" b="1">
                <a:solidFill>
                  <a:srgbClr val="FF0000"/>
                </a:solidFill>
              </a:rPr>
            </a:br>
            <a:r>
              <a:rPr lang="en-CA" b="1">
                <a:solidFill>
                  <a:srgbClr val="FF0000"/>
                </a:solidFill>
              </a:rPr>
              <a:t>error!</a:t>
            </a:r>
            <a:endParaRPr lang="en-AU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350B88-78E8-00B5-1070-D7CA485DDE5D}"/>
              </a:ext>
            </a:extLst>
          </p:cNvPr>
          <p:cNvSpPr txBox="1"/>
          <p:nvPr/>
        </p:nvSpPr>
        <p:spPr>
          <a:xfrm>
            <a:off x="6383867" y="4537697"/>
            <a:ext cx="56280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Which functions are </a:t>
            </a:r>
          </a:p>
          <a:p>
            <a:r>
              <a:rPr lang="en-CA" sz="4800"/>
              <a:t>correctly indented?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683567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15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435810" y="2089204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print_in_box</a:t>
            </a:r>
            <a:r>
              <a:rPr lang="en-US" sz="3200">
                <a:latin typeface="Consolas" panose="020B0609020204030204" pitchFamily="49" charset="0"/>
              </a:rPr>
              <a:t>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print('+' + '-' * n + '+’)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print('| ' + word + ' |')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print('+' + '-' * n + '+')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A9753E-B219-A624-674E-05ABA396D0F3}"/>
              </a:ext>
            </a:extLst>
          </p:cNvPr>
          <p:cNvSpPr txBox="1"/>
          <p:nvPr/>
        </p:nvSpPr>
        <p:spPr>
          <a:xfrm>
            <a:off x="816810" y="634537"/>
            <a:ext cx="22227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Read this function.</a:t>
            </a:r>
            <a:br>
              <a:rPr lang="en-CA"/>
            </a:br>
            <a:r>
              <a:rPr lang="en-CA"/>
              <a:t>What are its parts?</a:t>
            </a:r>
            <a:br>
              <a:rPr lang="en-CA"/>
            </a:br>
            <a:r>
              <a:rPr lang="en-CA"/>
              <a:t>What does it do?</a:t>
            </a:r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418111-740E-B339-2ED1-2BC013B15505}"/>
              </a:ext>
            </a:extLst>
          </p:cNvPr>
          <p:cNvSpPr txBox="1"/>
          <p:nvPr/>
        </p:nvSpPr>
        <p:spPr>
          <a:xfrm>
            <a:off x="9567334" y="2375748"/>
            <a:ext cx="1405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>
                <a:latin typeface="Consolas" panose="020B0609020204030204" pitchFamily="49" charset="0"/>
              </a:rPr>
              <a:t>+-------+</a:t>
            </a:r>
          </a:p>
          <a:p>
            <a:r>
              <a:rPr lang="en-AU">
                <a:latin typeface="Consolas" panose="020B0609020204030204" pitchFamily="49" charset="0"/>
              </a:rPr>
              <a:t>| Hello |</a:t>
            </a:r>
          </a:p>
          <a:p>
            <a:r>
              <a:rPr lang="en-AU">
                <a:latin typeface="Consolas" panose="020B0609020204030204" pitchFamily="49" charset="0"/>
              </a:rPr>
              <a:t>+-------+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D3351F3-A898-609E-5961-F04D85E787E1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E78048-1347-32E0-0A67-3C85D226F6B8}"/>
              </a:ext>
            </a:extLst>
          </p:cNvPr>
          <p:cNvSpPr txBox="1"/>
          <p:nvPr/>
        </p:nvSpPr>
        <p:spPr>
          <a:xfrm>
            <a:off x="8612717" y="981054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err="1">
                <a:latin typeface="Consolas" panose="020B0609020204030204" pitchFamily="49" charset="0"/>
              </a:rPr>
              <a:t>print_in_box</a:t>
            </a:r>
            <a:r>
              <a:rPr lang="en-US" sz="2000">
                <a:latin typeface="Consolas" panose="020B0609020204030204" pitchFamily="49" charset="0"/>
              </a:rPr>
              <a:t>('Hello')</a:t>
            </a:r>
            <a:endParaRPr lang="en-AU" sz="2000"/>
          </a:p>
        </p:txBody>
      </p:sp>
    </p:spTree>
    <p:extLst>
      <p:ext uri="{BB962C8B-B14F-4D97-AF65-F5344CB8AC3E}">
        <p14:creationId xmlns:p14="http://schemas.microsoft.com/office/powerpoint/2010/main" val="3573607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16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435810" y="2089204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</a:t>
            </a:r>
            <a:r>
              <a:rPr lang="en-US" sz="3200" dirty="0" err="1">
                <a:latin typeface="Consolas" panose="020B0609020204030204" pitchFamily="49" charset="0"/>
              </a:rPr>
              <a:t>print_in_box</a:t>
            </a:r>
            <a:r>
              <a:rPr lang="en-US" sz="32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n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print('+' + '-' * n + '+')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print('| ' + word + ' |')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print('+' + '-' * n + '+')</a:t>
            </a:r>
            <a:endParaRPr lang="en-AU" sz="32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418111-740E-B339-2ED1-2BC013B15505}"/>
              </a:ext>
            </a:extLst>
          </p:cNvPr>
          <p:cNvSpPr txBox="1"/>
          <p:nvPr/>
        </p:nvSpPr>
        <p:spPr>
          <a:xfrm>
            <a:off x="9567334" y="2375748"/>
            <a:ext cx="1405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onsolas" panose="020B0609020204030204" pitchFamily="49" charset="0"/>
              </a:rPr>
              <a:t>+-------+</a:t>
            </a:r>
          </a:p>
          <a:p>
            <a:r>
              <a:rPr lang="en-AU" dirty="0">
                <a:latin typeface="Consolas" panose="020B0609020204030204" pitchFamily="49" charset="0"/>
              </a:rPr>
              <a:t>| Hello |</a:t>
            </a:r>
          </a:p>
          <a:p>
            <a:r>
              <a:rPr lang="en-AU" dirty="0">
                <a:solidFill>
                  <a:srgbClr val="FF0000"/>
                </a:solidFill>
                <a:latin typeface="Consolas" panose="020B0609020204030204" pitchFamily="49" charset="0"/>
              </a:rPr>
              <a:t>+-------+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D3351F3-A898-609E-5961-F04D85E787E1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9F8B7-C569-C8FA-6F0E-FBB1DFBBAAB9}"/>
              </a:ext>
            </a:extLst>
          </p:cNvPr>
          <p:cNvSpPr txBox="1"/>
          <p:nvPr/>
        </p:nvSpPr>
        <p:spPr>
          <a:xfrm>
            <a:off x="8610666" y="3770442"/>
            <a:ext cx="274313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These two lines are identical. Identical code is often a sign you </a:t>
            </a:r>
            <a:r>
              <a:rPr lang="en-CA" dirty="0"/>
              <a:t>should </a:t>
            </a:r>
            <a:r>
              <a:rPr lang="en-CA"/>
              <a:t>make a function …</a:t>
            </a:r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5E9E7B-857C-ECA8-69E1-F30804DA6DDD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7315199" y="3366476"/>
            <a:ext cx="1295467" cy="1004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29130FA-0092-1258-4BA0-C5734E5DDAC4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7315199" y="4359028"/>
            <a:ext cx="1295467" cy="11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85AFBBE-6413-A604-0AAF-F1F4FF69039E}"/>
              </a:ext>
            </a:extLst>
          </p:cNvPr>
          <p:cNvSpPr txBox="1"/>
          <p:nvPr/>
        </p:nvSpPr>
        <p:spPr>
          <a:xfrm>
            <a:off x="8612717" y="981054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err="1">
                <a:latin typeface="Consolas" panose="020B0609020204030204" pitchFamily="49" charset="0"/>
              </a:rPr>
              <a:t>print_in_box</a:t>
            </a:r>
            <a:r>
              <a:rPr lang="en-US" sz="2000">
                <a:latin typeface="Consolas" panose="020B0609020204030204" pitchFamily="49" charset="0"/>
              </a:rPr>
              <a:t>('Hello')</a:t>
            </a:r>
            <a:endParaRPr lang="en-AU" sz="2000"/>
          </a:p>
        </p:txBody>
      </p:sp>
    </p:spTree>
    <p:extLst>
      <p:ext uri="{BB962C8B-B14F-4D97-AF65-F5344CB8AC3E}">
        <p14:creationId xmlns:p14="http://schemas.microsoft.com/office/powerpoint/2010/main" val="2872453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17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216746" y="2459504"/>
            <a:ext cx="545888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print_in_box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n = </a:t>
            </a:r>
            <a:r>
              <a:rPr lang="en-US" sz="2400" dirty="0" err="1">
                <a:latin typeface="Consolas" panose="020B0609020204030204" pitchFamily="49" charset="0"/>
              </a:rPr>
              <a:t>len</a:t>
            </a:r>
            <a:r>
              <a:rPr lang="en-US" sz="2400" dirty="0">
                <a:latin typeface="Consolas" panose="020B0609020204030204" pitchFamily="49" charset="0"/>
              </a:rPr>
              <a:t>(word) + 2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print('+' + '-' * n + '+')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print('| ' + word + ' |')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print('+' + '-' * n + '+')</a:t>
            </a:r>
            <a:endParaRPr lang="en-AU" sz="24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4DA818E3-A7C0-EB58-F40E-3E653ECAFC95}"/>
              </a:ext>
            </a:extLst>
          </p:cNvPr>
          <p:cNvSpPr/>
          <p:nvPr/>
        </p:nvSpPr>
        <p:spPr>
          <a:xfrm>
            <a:off x="5695948" y="3009054"/>
            <a:ext cx="717974" cy="8398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6902A8-CB2D-F943-BCE6-2CB3BA5F8926}"/>
              </a:ext>
            </a:extLst>
          </p:cNvPr>
          <p:cNvSpPr txBox="1"/>
          <p:nvPr/>
        </p:nvSpPr>
        <p:spPr>
          <a:xfrm>
            <a:off x="6904081" y="1720840"/>
            <a:ext cx="5086377" cy="3416320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print_dashed_line</a:t>
            </a:r>
            <a:r>
              <a:rPr lang="en-US" sz="2400" dirty="0">
                <a:latin typeface="Consolas" panose="020B0609020204030204" pitchFamily="49" charset="0"/>
              </a:rPr>
              <a:t>(n):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print('+' + '-' * n + '+’)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print_in_box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n = </a:t>
            </a:r>
            <a:r>
              <a:rPr lang="en-US" sz="2400" dirty="0" err="1">
                <a:latin typeface="Consolas" panose="020B0609020204030204" pitchFamily="49" charset="0"/>
              </a:rPr>
              <a:t>len</a:t>
            </a:r>
            <a:r>
              <a:rPr lang="en-US" sz="2400" dirty="0">
                <a:latin typeface="Consolas" panose="020B0609020204030204" pitchFamily="49" charset="0"/>
              </a:rPr>
              <a:t>(word) + 2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print_dashed_line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(n)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print('| ' + word + ' |')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print_dashed_line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(n)</a:t>
            </a:r>
            <a:endParaRPr lang="en-AU" sz="24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53F6B5-C825-C873-5448-06E2309E38E4}"/>
              </a:ext>
            </a:extLst>
          </p:cNvPr>
          <p:cNvSpPr txBox="1"/>
          <p:nvPr/>
        </p:nvSpPr>
        <p:spPr>
          <a:xfrm>
            <a:off x="8119534" y="5629129"/>
            <a:ext cx="224366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code is a little easier to read.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08772A-05BC-7827-1F63-3C5C848A10F1}"/>
              </a:ext>
            </a:extLst>
          </p:cNvPr>
          <p:cNvSpPr txBox="1"/>
          <p:nvPr/>
        </p:nvSpPr>
        <p:spPr>
          <a:xfrm>
            <a:off x="4536018" y="5934670"/>
            <a:ext cx="1405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Consolas" panose="020B0609020204030204" pitchFamily="49" charset="0"/>
              </a:rPr>
              <a:t>+-------+</a:t>
            </a:r>
          </a:p>
          <a:p>
            <a:r>
              <a:rPr lang="en-AU" dirty="0">
                <a:latin typeface="Consolas" panose="020B0609020204030204" pitchFamily="49" charset="0"/>
              </a:rPr>
              <a:t>| Hello |</a:t>
            </a:r>
          </a:p>
          <a:p>
            <a:r>
              <a:rPr lang="en-AU" dirty="0">
                <a:latin typeface="Consolas" panose="020B0609020204030204" pitchFamily="49" charset="0"/>
              </a:rPr>
              <a:t>+-------+</a:t>
            </a:r>
          </a:p>
        </p:txBody>
      </p:sp>
      <p:sp>
        <p:nvSpPr>
          <p:cNvPr id="3" name="Arrow: Down 12">
            <a:extLst>
              <a:ext uri="{FF2B5EF4-FFF2-40B4-BE49-F238E27FC236}">
                <a16:creationId xmlns:a16="http://schemas.microsoft.com/office/drawing/2014/main" id="{32007A5D-1D2A-CE39-9D11-81E866B0FE10}"/>
              </a:ext>
            </a:extLst>
          </p:cNvPr>
          <p:cNvSpPr/>
          <p:nvPr/>
        </p:nvSpPr>
        <p:spPr>
          <a:xfrm>
            <a:off x="5035551" y="5116789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CCD46-ED86-5B67-9DDB-42E841192B83}"/>
              </a:ext>
            </a:extLst>
          </p:cNvPr>
          <p:cNvSpPr txBox="1"/>
          <p:nvPr/>
        </p:nvSpPr>
        <p:spPr>
          <a:xfrm>
            <a:off x="3581401" y="4539976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err="1">
                <a:latin typeface="Consolas" panose="020B0609020204030204" pitchFamily="49" charset="0"/>
              </a:rPr>
              <a:t>print_in_box</a:t>
            </a:r>
            <a:r>
              <a:rPr lang="en-US" sz="2000">
                <a:latin typeface="Consolas" panose="020B0609020204030204" pitchFamily="49" charset="0"/>
              </a:rPr>
              <a:t>('Hello')</a:t>
            </a:r>
            <a:endParaRPr lang="en-AU" sz="2000"/>
          </a:p>
        </p:txBody>
      </p:sp>
    </p:spTree>
    <p:extLst>
      <p:ext uri="{BB962C8B-B14F-4D97-AF65-F5344CB8AC3E}">
        <p14:creationId xmlns:p14="http://schemas.microsoft.com/office/powerpoint/2010/main" val="1882997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18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256116" y="2021805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print_in_box</a:t>
            </a:r>
            <a:r>
              <a:rPr lang="en-US" sz="3200">
                <a:latin typeface="Consolas" panose="020B0609020204030204" pitchFamily="49" charset="0"/>
              </a:rPr>
              <a:t>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print('| ' + word + ' |')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8B450-0CDE-98B7-C107-2BE38CC4B57F}"/>
              </a:ext>
            </a:extLst>
          </p:cNvPr>
          <p:cNvSpPr txBox="1"/>
          <p:nvPr/>
        </p:nvSpPr>
        <p:spPr>
          <a:xfrm>
            <a:off x="264583" y="134668"/>
            <a:ext cx="7001933" cy="107721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(n):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print('+' + '-' * n + '+')</a:t>
            </a:r>
            <a:endParaRPr lang="en-AU" sz="3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F883D-937C-5D1C-7E3B-1C7F97EBBEE3}"/>
              </a:ext>
            </a:extLst>
          </p:cNvPr>
          <p:cNvSpPr txBox="1"/>
          <p:nvPr/>
        </p:nvSpPr>
        <p:spPr>
          <a:xfrm>
            <a:off x="6294675" y="2021805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Variable </a:t>
            </a:r>
            <a:r>
              <a:rPr lang="en-CA" b="1" dirty="0"/>
              <a:t>n</a:t>
            </a:r>
            <a:r>
              <a:rPr lang="en-CA" dirty="0"/>
              <a:t> is defined </a:t>
            </a:r>
            <a:r>
              <a:rPr lang="en-CA" b="1" dirty="0"/>
              <a:t>inside</a:t>
            </a:r>
            <a:r>
              <a:rPr lang="en-CA" dirty="0"/>
              <a:t> the </a:t>
            </a:r>
            <a:r>
              <a:rPr lang="en-CA" b="1" dirty="0" err="1"/>
              <a:t>print_in_box</a:t>
            </a:r>
            <a:r>
              <a:rPr lang="en-CA" b="1" dirty="0"/>
              <a:t> </a:t>
            </a:r>
            <a:r>
              <a:rPr lang="en-CA" dirty="0"/>
              <a:t>function.</a:t>
            </a:r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269E4-6FB5-E564-42DD-903D30CD8F2C}"/>
              </a:ext>
            </a:extLst>
          </p:cNvPr>
          <p:cNvSpPr/>
          <p:nvPr/>
        </p:nvSpPr>
        <p:spPr>
          <a:xfrm>
            <a:off x="1104610" y="2611028"/>
            <a:ext cx="40431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610B4D-D8A4-A573-E862-D14B22A6F869}"/>
              </a:ext>
            </a:extLst>
          </p:cNvPr>
          <p:cNvCxnSpPr>
            <a:cxnSpLocks/>
            <a:stCxn id="3" idx="1"/>
            <a:endCxn id="5" idx="3"/>
          </p:cNvCxnSpPr>
          <p:nvPr/>
        </p:nvCxnSpPr>
        <p:spPr>
          <a:xfrm flipH="1">
            <a:off x="5147733" y="2621970"/>
            <a:ext cx="1146942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662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19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256116" y="2021805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print_in_box</a:t>
            </a:r>
            <a:r>
              <a:rPr lang="en-US" sz="3200">
                <a:latin typeface="Consolas" panose="020B0609020204030204" pitchFamily="49" charset="0"/>
              </a:rPr>
              <a:t>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print('| ' + word + ' |')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8B450-0CDE-98B7-C107-2BE38CC4B57F}"/>
              </a:ext>
            </a:extLst>
          </p:cNvPr>
          <p:cNvSpPr txBox="1"/>
          <p:nvPr/>
        </p:nvSpPr>
        <p:spPr>
          <a:xfrm>
            <a:off x="264583" y="134668"/>
            <a:ext cx="7001933" cy="107721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(n):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print('+' + '-' * n + '+')</a:t>
            </a:r>
            <a:endParaRPr lang="en-AU" sz="3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F883D-937C-5D1C-7E3B-1C7F97EBBEE3}"/>
              </a:ext>
            </a:extLst>
          </p:cNvPr>
          <p:cNvSpPr txBox="1"/>
          <p:nvPr/>
        </p:nvSpPr>
        <p:spPr>
          <a:xfrm>
            <a:off x="6294676" y="2021805"/>
            <a:ext cx="224366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Notice the variable n is defined inside the </a:t>
            </a:r>
            <a:r>
              <a:rPr lang="en-CA" b="1" err="1"/>
              <a:t>print_in_box</a:t>
            </a:r>
            <a:r>
              <a:rPr lang="en-CA" b="1"/>
              <a:t> </a:t>
            </a:r>
            <a:r>
              <a:rPr lang="en-CA"/>
              <a:t>function.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269E4-6FB5-E564-42DD-903D30CD8F2C}"/>
              </a:ext>
            </a:extLst>
          </p:cNvPr>
          <p:cNvSpPr/>
          <p:nvPr/>
        </p:nvSpPr>
        <p:spPr>
          <a:xfrm>
            <a:off x="1104610" y="2611028"/>
            <a:ext cx="40431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610B4D-D8A4-A573-E862-D14B22A6F869}"/>
              </a:ext>
            </a:extLst>
          </p:cNvPr>
          <p:cNvCxnSpPr>
            <a:stCxn id="3" idx="1"/>
            <a:endCxn id="5" idx="3"/>
          </p:cNvCxnSpPr>
          <p:nvPr/>
        </p:nvCxnSpPr>
        <p:spPr>
          <a:xfrm flipH="1">
            <a:off x="5147733" y="2621970"/>
            <a:ext cx="1146943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0DA05D9-9E6A-F367-A060-83BD870DEB9E}"/>
              </a:ext>
            </a:extLst>
          </p:cNvPr>
          <p:cNvSpPr txBox="1"/>
          <p:nvPr/>
        </p:nvSpPr>
        <p:spPr>
          <a:xfrm>
            <a:off x="7086310" y="3672118"/>
            <a:ext cx="24810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variable defined inside a function is called a </a:t>
            </a:r>
            <a:r>
              <a:rPr lang="en-CA" b="1"/>
              <a:t>local variable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3AD6E6-71A9-64C9-AD5E-F4D6C8A65E67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8173435" y="3222134"/>
            <a:ext cx="153387" cy="449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956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20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256116" y="2021805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print_in_box</a:t>
            </a:r>
            <a:r>
              <a:rPr lang="en-US" sz="3200">
                <a:latin typeface="Consolas" panose="020B0609020204030204" pitchFamily="49" charset="0"/>
              </a:rPr>
              <a:t>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print('| ' + word + ' |')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8B450-0CDE-98B7-C107-2BE38CC4B57F}"/>
              </a:ext>
            </a:extLst>
          </p:cNvPr>
          <p:cNvSpPr txBox="1"/>
          <p:nvPr/>
        </p:nvSpPr>
        <p:spPr>
          <a:xfrm>
            <a:off x="264583" y="134668"/>
            <a:ext cx="7001933" cy="107721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(n):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print('+' + '-' * n + '+')</a:t>
            </a:r>
            <a:endParaRPr lang="en-AU" sz="3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F883D-937C-5D1C-7E3B-1C7F97EBBEE3}"/>
              </a:ext>
            </a:extLst>
          </p:cNvPr>
          <p:cNvSpPr txBox="1"/>
          <p:nvPr/>
        </p:nvSpPr>
        <p:spPr>
          <a:xfrm>
            <a:off x="6294676" y="2021805"/>
            <a:ext cx="224366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Notice the variable n is defined inside the </a:t>
            </a:r>
            <a:r>
              <a:rPr lang="en-CA" b="1" err="1"/>
              <a:t>print_in_box</a:t>
            </a:r>
            <a:r>
              <a:rPr lang="en-CA" b="1"/>
              <a:t> </a:t>
            </a:r>
            <a:r>
              <a:rPr lang="en-CA"/>
              <a:t>function.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269E4-6FB5-E564-42DD-903D30CD8F2C}"/>
              </a:ext>
            </a:extLst>
          </p:cNvPr>
          <p:cNvSpPr/>
          <p:nvPr/>
        </p:nvSpPr>
        <p:spPr>
          <a:xfrm>
            <a:off x="1104610" y="2611028"/>
            <a:ext cx="40431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610B4D-D8A4-A573-E862-D14B22A6F869}"/>
              </a:ext>
            </a:extLst>
          </p:cNvPr>
          <p:cNvCxnSpPr>
            <a:stCxn id="3" idx="1"/>
            <a:endCxn id="5" idx="3"/>
          </p:cNvCxnSpPr>
          <p:nvPr/>
        </p:nvCxnSpPr>
        <p:spPr>
          <a:xfrm flipH="1">
            <a:off x="5147733" y="2621970"/>
            <a:ext cx="1146943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0DA05D9-9E6A-F367-A060-83BD870DEB9E}"/>
              </a:ext>
            </a:extLst>
          </p:cNvPr>
          <p:cNvSpPr txBox="1"/>
          <p:nvPr/>
        </p:nvSpPr>
        <p:spPr>
          <a:xfrm>
            <a:off x="7086310" y="3672118"/>
            <a:ext cx="24810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variable defined inside a function is called a </a:t>
            </a:r>
            <a:r>
              <a:rPr lang="en-CA" b="1"/>
              <a:t>local variable</a:t>
            </a:r>
            <a:r>
              <a:rPr lang="en-CA"/>
              <a:t>.</a:t>
            </a:r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4AF237-43CE-2456-32A3-E64AD884E707}"/>
              </a:ext>
            </a:extLst>
          </p:cNvPr>
          <p:cNvSpPr txBox="1"/>
          <p:nvPr/>
        </p:nvSpPr>
        <p:spPr>
          <a:xfrm>
            <a:off x="7086310" y="4986253"/>
            <a:ext cx="24810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Local variables only exist inside the function they’re defined.</a:t>
            </a:r>
            <a:endParaRPr lang="en-AU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9879DD-0C4B-745C-A283-827D7F743B32}"/>
              </a:ext>
            </a:extLst>
          </p:cNvPr>
          <p:cNvCxnSpPr>
            <a:stCxn id="14" idx="0"/>
            <a:endCxn id="11" idx="2"/>
          </p:cNvCxnSpPr>
          <p:nvPr/>
        </p:nvCxnSpPr>
        <p:spPr>
          <a:xfrm flipV="1">
            <a:off x="8326822" y="4595448"/>
            <a:ext cx="0" cy="390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3AD6E6-71A9-64C9-AD5E-F4D6C8A65E67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8173435" y="3222134"/>
            <a:ext cx="153387" cy="449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795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21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256116" y="2021805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print_in_box</a:t>
            </a:r>
            <a:r>
              <a:rPr lang="en-US" sz="3200">
                <a:latin typeface="Consolas" panose="020B0609020204030204" pitchFamily="49" charset="0"/>
              </a:rPr>
              <a:t>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print('| ' + word + ' |')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8B450-0CDE-98B7-C107-2BE38CC4B57F}"/>
              </a:ext>
            </a:extLst>
          </p:cNvPr>
          <p:cNvSpPr txBox="1"/>
          <p:nvPr/>
        </p:nvSpPr>
        <p:spPr>
          <a:xfrm>
            <a:off x="264583" y="134668"/>
            <a:ext cx="7001933" cy="107721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(n):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print('+' + '-' * n + '+')</a:t>
            </a:r>
            <a:endParaRPr lang="en-AU" sz="3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F883D-937C-5D1C-7E3B-1C7F97EBBEE3}"/>
              </a:ext>
            </a:extLst>
          </p:cNvPr>
          <p:cNvSpPr txBox="1"/>
          <p:nvPr/>
        </p:nvSpPr>
        <p:spPr>
          <a:xfrm>
            <a:off x="6294676" y="2021805"/>
            <a:ext cx="224366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Notice the variable n is defined inside the </a:t>
            </a:r>
            <a:r>
              <a:rPr lang="en-CA" b="1" err="1"/>
              <a:t>print_in_box</a:t>
            </a:r>
            <a:r>
              <a:rPr lang="en-CA" b="1"/>
              <a:t> </a:t>
            </a:r>
            <a:r>
              <a:rPr lang="en-CA"/>
              <a:t>function.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269E4-6FB5-E564-42DD-903D30CD8F2C}"/>
              </a:ext>
            </a:extLst>
          </p:cNvPr>
          <p:cNvSpPr/>
          <p:nvPr/>
        </p:nvSpPr>
        <p:spPr>
          <a:xfrm>
            <a:off x="1104610" y="2611028"/>
            <a:ext cx="40431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610B4D-D8A4-A573-E862-D14B22A6F869}"/>
              </a:ext>
            </a:extLst>
          </p:cNvPr>
          <p:cNvCxnSpPr>
            <a:stCxn id="3" idx="1"/>
            <a:endCxn id="5" idx="3"/>
          </p:cNvCxnSpPr>
          <p:nvPr/>
        </p:nvCxnSpPr>
        <p:spPr>
          <a:xfrm flipH="1">
            <a:off x="5147733" y="2621970"/>
            <a:ext cx="1146943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0DA05D9-9E6A-F367-A060-83BD870DEB9E}"/>
              </a:ext>
            </a:extLst>
          </p:cNvPr>
          <p:cNvSpPr txBox="1"/>
          <p:nvPr/>
        </p:nvSpPr>
        <p:spPr>
          <a:xfrm>
            <a:off x="7086310" y="3672118"/>
            <a:ext cx="24810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variable defined inside a function is called a </a:t>
            </a:r>
            <a:r>
              <a:rPr lang="en-CA" b="1"/>
              <a:t>local variable</a:t>
            </a:r>
            <a:r>
              <a:rPr lang="en-CA"/>
              <a:t>.</a:t>
            </a:r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4AF237-43CE-2456-32A3-E64AD884E707}"/>
              </a:ext>
            </a:extLst>
          </p:cNvPr>
          <p:cNvSpPr txBox="1"/>
          <p:nvPr/>
        </p:nvSpPr>
        <p:spPr>
          <a:xfrm>
            <a:off x="7086310" y="4986253"/>
            <a:ext cx="24810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Local variables only exist inside the function they’re defined.</a:t>
            </a:r>
            <a:endParaRPr lang="en-AU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9879DD-0C4B-745C-A283-827D7F743B32}"/>
              </a:ext>
            </a:extLst>
          </p:cNvPr>
          <p:cNvCxnSpPr>
            <a:stCxn id="14" idx="0"/>
            <a:endCxn id="11" idx="2"/>
          </p:cNvCxnSpPr>
          <p:nvPr/>
        </p:nvCxnSpPr>
        <p:spPr>
          <a:xfrm flipV="1">
            <a:off x="8326822" y="4595448"/>
            <a:ext cx="0" cy="390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3AD6E6-71A9-64C9-AD5E-F4D6C8A65E67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8173435" y="3222134"/>
            <a:ext cx="153387" cy="449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2B3548E-7A63-075B-18BE-D6AC0AE2B1F7}"/>
              </a:ext>
            </a:extLst>
          </p:cNvPr>
          <p:cNvSpPr txBox="1"/>
          <p:nvPr/>
        </p:nvSpPr>
        <p:spPr>
          <a:xfrm>
            <a:off x="3384801" y="4984099"/>
            <a:ext cx="24810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We say that the </a:t>
            </a:r>
            <a:r>
              <a:rPr lang="en-CA" b="1"/>
              <a:t>scope</a:t>
            </a:r>
            <a:r>
              <a:rPr lang="en-CA"/>
              <a:t> of a local variable is the function it’s defined in.</a:t>
            </a:r>
            <a:endParaRPr lang="en-AU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3078A0-45CB-3ABB-CD7A-6915820AEA22}"/>
              </a:ext>
            </a:extLst>
          </p:cNvPr>
          <p:cNvCxnSpPr>
            <a:stCxn id="22" idx="3"/>
            <a:endCxn id="14" idx="1"/>
          </p:cNvCxnSpPr>
          <p:nvPr/>
        </p:nvCxnSpPr>
        <p:spPr>
          <a:xfrm>
            <a:off x="5865825" y="5584264"/>
            <a:ext cx="1220485" cy="2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373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22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256116" y="2021805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print_in_box</a:t>
            </a:r>
            <a:r>
              <a:rPr lang="en-US" sz="3200">
                <a:latin typeface="Consolas" panose="020B0609020204030204" pitchFamily="49" charset="0"/>
              </a:rPr>
              <a:t>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3200">
                <a:latin typeface="Consolas" panose="020B0609020204030204" pitchFamily="49" charset="0"/>
              </a:rPr>
              <a:t>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print('| ' + word + ' |')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418111-740E-B339-2ED1-2BC013B15505}"/>
              </a:ext>
            </a:extLst>
          </p:cNvPr>
          <p:cNvSpPr txBox="1"/>
          <p:nvPr/>
        </p:nvSpPr>
        <p:spPr>
          <a:xfrm>
            <a:off x="9176202" y="2464639"/>
            <a:ext cx="2243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err="1">
                <a:solidFill>
                  <a:srgbClr val="FF0000"/>
                </a:solidFill>
                <a:latin typeface="Consolas" panose="020B0609020204030204" pitchFamily="49" charset="0"/>
              </a:rPr>
              <a:t>NameError</a:t>
            </a:r>
            <a:r>
              <a:rPr lang="en-AU">
                <a:solidFill>
                  <a:srgbClr val="FF0000"/>
                </a:solidFill>
                <a:latin typeface="Consolas" panose="020B0609020204030204" pitchFamily="49" charset="0"/>
              </a:rPr>
              <a:t>: </a:t>
            </a:r>
            <a:br>
              <a:rPr lang="en-AU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AU">
                <a:solidFill>
                  <a:srgbClr val="FF0000"/>
                </a:solidFill>
                <a:latin typeface="Consolas" panose="020B0609020204030204" pitchFamily="49" charset="0"/>
              </a:rPr>
              <a:t>n is not defined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D3351F3-A898-609E-5961-F04D85E787E1}"/>
              </a:ext>
            </a:extLst>
          </p:cNvPr>
          <p:cNvSpPr/>
          <p:nvPr/>
        </p:nvSpPr>
        <p:spPr>
          <a:xfrm>
            <a:off x="10041142" y="17864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8B450-0CDE-98B7-C107-2BE38CC4B57F}"/>
              </a:ext>
            </a:extLst>
          </p:cNvPr>
          <p:cNvSpPr txBox="1"/>
          <p:nvPr/>
        </p:nvSpPr>
        <p:spPr>
          <a:xfrm>
            <a:off x="264583" y="134668"/>
            <a:ext cx="7001933" cy="107721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(n):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print('+' + '-' * n + '+')</a:t>
            </a:r>
            <a:endParaRPr lang="en-AU" sz="3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F883D-937C-5D1C-7E3B-1C7F97EBBEE3}"/>
              </a:ext>
            </a:extLst>
          </p:cNvPr>
          <p:cNvSpPr txBox="1"/>
          <p:nvPr/>
        </p:nvSpPr>
        <p:spPr>
          <a:xfrm>
            <a:off x="6294676" y="2021805"/>
            <a:ext cx="224366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You </a:t>
            </a:r>
            <a:r>
              <a:rPr lang="en-CA" b="1" dirty="0"/>
              <a:t>cannot</a:t>
            </a:r>
            <a:r>
              <a:rPr lang="en-CA" dirty="0"/>
              <a:t> read or write local variables outside of their function.</a:t>
            </a:r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269E4-6FB5-E564-42DD-903D30CD8F2C}"/>
              </a:ext>
            </a:extLst>
          </p:cNvPr>
          <p:cNvSpPr/>
          <p:nvPr/>
        </p:nvSpPr>
        <p:spPr>
          <a:xfrm>
            <a:off x="1104610" y="2611028"/>
            <a:ext cx="40431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610B4D-D8A4-A573-E862-D14B22A6F869}"/>
              </a:ext>
            </a:extLst>
          </p:cNvPr>
          <p:cNvCxnSpPr>
            <a:stCxn id="3" idx="1"/>
            <a:endCxn id="5" idx="3"/>
          </p:cNvCxnSpPr>
          <p:nvPr/>
        </p:nvCxnSpPr>
        <p:spPr>
          <a:xfrm flipH="1">
            <a:off x="5147733" y="2621970"/>
            <a:ext cx="1146943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5485D6-375C-B321-60CA-E800FEB0634D}"/>
              </a:ext>
            </a:extLst>
          </p:cNvPr>
          <p:cNvSpPr txBox="1"/>
          <p:nvPr/>
        </p:nvSpPr>
        <p:spPr>
          <a:xfrm>
            <a:off x="8612717" y="981054"/>
            <a:ext cx="33147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</a:rPr>
              <a:t>print_in_box</a:t>
            </a:r>
            <a:r>
              <a:rPr lang="en-US" sz="2000" dirty="0">
                <a:latin typeface="Consolas" panose="020B0609020204030204" pitchFamily="49" charset="0"/>
              </a:rPr>
              <a:t>('Hello')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print(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  <a:endParaRPr lang="en-AU" sz="20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B02499-5732-3DBA-6833-C72AEE728224}"/>
              </a:ext>
            </a:extLst>
          </p:cNvPr>
          <p:cNvCxnSpPr>
            <a:cxnSpLocks/>
          </p:cNvCxnSpPr>
          <p:nvPr/>
        </p:nvCxnSpPr>
        <p:spPr>
          <a:xfrm flipV="1">
            <a:off x="8610600" y="1617785"/>
            <a:ext cx="937846" cy="520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333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23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256116" y="2021805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</a:t>
            </a:r>
            <a:r>
              <a:rPr lang="en-US" sz="3200" dirty="0" err="1">
                <a:latin typeface="Consolas" panose="020B0609020204030204" pitchFamily="49" charset="0"/>
              </a:rPr>
              <a:t>print_in_box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 dirty="0">
                <a:latin typeface="Consolas" panose="020B0609020204030204" pitchFamily="49" charset="0"/>
              </a:rPr>
              <a:t>):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n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 dirty="0">
                <a:latin typeface="Consolas" panose="020B0609020204030204" pitchFamily="49" charset="0"/>
              </a:rPr>
              <a:t>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print_dashed_line</a:t>
            </a:r>
            <a:r>
              <a:rPr lang="en-US" sz="3200" dirty="0">
                <a:latin typeface="Consolas" panose="020B0609020204030204" pitchFamily="49" charset="0"/>
              </a:rPr>
              <a:t>(n)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print('| ' +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 dirty="0">
                <a:latin typeface="Consolas" panose="020B0609020204030204" pitchFamily="49" charset="0"/>
              </a:rPr>
              <a:t> + ' |')</a:t>
            </a:r>
            <a:br>
              <a:rPr lang="en-US" sz="3200" dirty="0"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print_dashed_line</a:t>
            </a:r>
            <a:r>
              <a:rPr lang="en-US" sz="3200" dirty="0">
                <a:latin typeface="Consolas" panose="020B0609020204030204" pitchFamily="49" charset="0"/>
              </a:rPr>
              <a:t>(n)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8B450-0CDE-98B7-C107-2BE38CC4B57F}"/>
              </a:ext>
            </a:extLst>
          </p:cNvPr>
          <p:cNvSpPr txBox="1"/>
          <p:nvPr/>
        </p:nvSpPr>
        <p:spPr>
          <a:xfrm>
            <a:off x="264583" y="134668"/>
            <a:ext cx="7001933" cy="107721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(n):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print('+' + '-' * n + '+')</a:t>
            </a:r>
            <a:endParaRPr lang="en-AU" sz="3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F883D-937C-5D1C-7E3B-1C7F97EBBEE3}"/>
              </a:ext>
            </a:extLst>
          </p:cNvPr>
          <p:cNvSpPr txBox="1"/>
          <p:nvPr/>
        </p:nvSpPr>
        <p:spPr>
          <a:xfrm>
            <a:off x="6378937" y="1283141"/>
            <a:ext cx="224366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parameter </a:t>
            </a:r>
            <a:r>
              <a:rPr lang="en-CA" b="1"/>
              <a:t>word</a:t>
            </a:r>
            <a:r>
              <a:rPr lang="en-CA"/>
              <a:t> is also a local variable. </a:t>
            </a:r>
            <a:r>
              <a:rPr lang="en-CA" b="1"/>
              <a:t>word</a:t>
            </a:r>
            <a:r>
              <a:rPr lang="en-CA"/>
              <a:t> only exists inside the function body.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269E4-6FB5-E564-42DD-903D30CD8F2C}"/>
              </a:ext>
            </a:extLst>
          </p:cNvPr>
          <p:cNvSpPr/>
          <p:nvPr/>
        </p:nvSpPr>
        <p:spPr>
          <a:xfrm>
            <a:off x="4130312" y="2104649"/>
            <a:ext cx="93275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E31832-D837-6457-08A3-438652C35F36}"/>
              </a:ext>
            </a:extLst>
          </p:cNvPr>
          <p:cNvCxnSpPr>
            <a:cxnSpLocks/>
          </p:cNvCxnSpPr>
          <p:nvPr/>
        </p:nvCxnSpPr>
        <p:spPr>
          <a:xfrm flipH="1">
            <a:off x="5063067" y="1642533"/>
            <a:ext cx="1315870" cy="379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30A444C-D57E-E683-A9F0-A23B36C944F1}"/>
              </a:ext>
            </a:extLst>
          </p:cNvPr>
          <p:cNvSpPr txBox="1"/>
          <p:nvPr/>
        </p:nvSpPr>
        <p:spPr>
          <a:xfrm>
            <a:off x="7860589" y="4438436"/>
            <a:ext cx="3733800" cy="163121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word = 'Hello'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n =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2000" dirty="0">
                <a:latin typeface="Consolas" panose="020B0609020204030204" pitchFamily="49" charset="0"/>
              </a:rPr>
              <a:t>) + 2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print_dashed_line</a:t>
            </a:r>
            <a:r>
              <a:rPr lang="en-US" sz="2000" dirty="0">
                <a:latin typeface="Consolas" panose="020B0609020204030204" pitchFamily="49" charset="0"/>
              </a:rPr>
              <a:t>(n)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print('| ' +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2000" dirty="0">
                <a:latin typeface="Consolas" panose="020B0609020204030204" pitchFamily="49" charset="0"/>
              </a:rPr>
              <a:t> + ' |')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 err="1">
                <a:latin typeface="Consolas" panose="020B0609020204030204" pitchFamily="49" charset="0"/>
              </a:rPr>
              <a:t>print_dashed_line</a:t>
            </a:r>
            <a:r>
              <a:rPr lang="en-US" sz="2000" dirty="0">
                <a:latin typeface="Consolas" panose="020B0609020204030204" pitchFamily="49" charset="0"/>
              </a:rPr>
              <a:t>(n)</a:t>
            </a:r>
            <a:endParaRPr lang="en-AU" sz="2000" dirty="0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BB9E9D-3899-C007-45FF-5A1F7BEF9431}"/>
              </a:ext>
            </a:extLst>
          </p:cNvPr>
          <p:cNvSpPr txBox="1"/>
          <p:nvPr/>
        </p:nvSpPr>
        <p:spPr>
          <a:xfrm>
            <a:off x="3937000" y="5063103"/>
            <a:ext cx="332951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When calling </a:t>
            </a:r>
            <a:r>
              <a:rPr lang="en-US" sz="1800" err="1">
                <a:latin typeface="Consolas" panose="020B0609020204030204" pitchFamily="49" charset="0"/>
              </a:rPr>
              <a:t>print_in_box</a:t>
            </a:r>
            <a:r>
              <a:rPr lang="en-US" sz="1800">
                <a:latin typeface="Consolas" panose="020B0609020204030204" pitchFamily="49" charset="0"/>
              </a:rPr>
              <a:t>('Hello')</a:t>
            </a:r>
            <a:r>
              <a:rPr lang="en-CA"/>
              <a:t>, it’s as if we wrote code like this.</a:t>
            </a:r>
            <a:endParaRPr lang="en-AU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8AF63C-666C-41E5-D1C4-DFD8128247FD}"/>
              </a:ext>
            </a:extLst>
          </p:cNvPr>
          <p:cNvCxnSpPr>
            <a:cxnSpLocks/>
            <a:stCxn id="23" idx="3"/>
            <a:endCxn id="21" idx="1"/>
          </p:cNvCxnSpPr>
          <p:nvPr/>
        </p:nvCxnSpPr>
        <p:spPr>
          <a:xfrm flipV="1">
            <a:off x="7266516" y="5254044"/>
            <a:ext cx="594073" cy="270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AFC52BC-C892-DEC4-2FEA-BE4894E1757D}"/>
              </a:ext>
            </a:extLst>
          </p:cNvPr>
          <p:cNvSpPr txBox="1"/>
          <p:nvPr/>
        </p:nvSpPr>
        <p:spPr>
          <a:xfrm>
            <a:off x="1079153" y="5201602"/>
            <a:ext cx="212124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Both </a:t>
            </a:r>
            <a:r>
              <a:rPr lang="en-CA" b="1"/>
              <a:t>word</a:t>
            </a:r>
            <a:r>
              <a:rPr lang="en-CA"/>
              <a:t> and</a:t>
            </a:r>
            <a:r>
              <a:rPr lang="en-CA" b="1"/>
              <a:t> n </a:t>
            </a:r>
            <a:r>
              <a:rPr lang="en-CA"/>
              <a:t>are local variables.</a:t>
            </a:r>
            <a:endParaRPr lang="en-AU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C65B9B9-D021-D9BC-70E3-7ECD67E4CD7E}"/>
              </a:ext>
            </a:extLst>
          </p:cNvPr>
          <p:cNvCxnSpPr>
            <a:cxnSpLocks/>
            <a:stCxn id="26" idx="3"/>
            <a:endCxn id="23" idx="1"/>
          </p:cNvCxnSpPr>
          <p:nvPr/>
        </p:nvCxnSpPr>
        <p:spPr>
          <a:xfrm>
            <a:off x="3200401" y="5524768"/>
            <a:ext cx="7365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7F9F113-89E7-E269-4673-C1799D96F705}"/>
              </a:ext>
            </a:extLst>
          </p:cNvPr>
          <p:cNvSpPr/>
          <p:nvPr/>
        </p:nvSpPr>
        <p:spPr>
          <a:xfrm>
            <a:off x="1219199" y="2611028"/>
            <a:ext cx="333911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448616-CD57-EDED-71BD-6B4CF028DF15}"/>
              </a:ext>
            </a:extLst>
          </p:cNvPr>
          <p:cNvSpPr txBox="1"/>
          <p:nvPr/>
        </p:nvSpPr>
        <p:spPr>
          <a:xfrm>
            <a:off x="8137872" y="3951683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Consolas" panose="020B0609020204030204" pitchFamily="49" charset="0"/>
              </a:rPr>
              <a:t>print_in_box</a:t>
            </a:r>
            <a:r>
              <a:rPr lang="en-US" sz="2000" b="1" dirty="0">
                <a:latin typeface="Consolas" panose="020B0609020204030204" pitchFamily="49" charset="0"/>
              </a:rPr>
              <a:t>('Hello')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2209025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24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256116" y="2021805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print_in_box</a:t>
            </a:r>
            <a:r>
              <a:rPr lang="en-US" sz="3200">
                <a:latin typeface="Consolas" panose="020B0609020204030204" pitchFamily="49" charset="0"/>
              </a:rPr>
              <a:t>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print('| ' + word + ' |')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8B450-0CDE-98B7-C107-2BE38CC4B57F}"/>
              </a:ext>
            </a:extLst>
          </p:cNvPr>
          <p:cNvSpPr txBox="1"/>
          <p:nvPr/>
        </p:nvSpPr>
        <p:spPr>
          <a:xfrm>
            <a:off x="264583" y="134668"/>
            <a:ext cx="7001933" cy="107721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(n):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print('+' + '-' * n + '+')</a:t>
            </a:r>
            <a:endParaRPr lang="en-AU" sz="3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0A444C-D57E-E683-A9F0-A23B36C944F1}"/>
              </a:ext>
            </a:extLst>
          </p:cNvPr>
          <p:cNvSpPr txBox="1"/>
          <p:nvPr/>
        </p:nvSpPr>
        <p:spPr>
          <a:xfrm>
            <a:off x="7815429" y="4438436"/>
            <a:ext cx="3733800" cy="163121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word = 'Hello'</a:t>
            </a:r>
          </a:p>
          <a:p>
            <a:r>
              <a:rPr lang="en-US" sz="2000">
                <a:latin typeface="Consolas" panose="020B0609020204030204" pitchFamily="49" charset="0"/>
              </a:rPr>
              <a:t>n = </a:t>
            </a:r>
            <a:r>
              <a:rPr lang="en-US" sz="2000" err="1">
                <a:latin typeface="Consolas" panose="020B0609020204030204" pitchFamily="49" charset="0"/>
              </a:rPr>
              <a:t>len</a:t>
            </a:r>
            <a:r>
              <a:rPr lang="en-US" sz="2000">
                <a:latin typeface="Consolas" panose="020B0609020204030204" pitchFamily="49" charset="0"/>
              </a:rPr>
              <a:t>(word) + 2</a:t>
            </a:r>
          </a:p>
          <a:p>
            <a:r>
              <a:rPr lang="en-US" sz="2000" err="1">
                <a:latin typeface="Consolas" panose="020B0609020204030204" pitchFamily="49" charset="0"/>
              </a:rPr>
              <a:t>print_dashed_line</a:t>
            </a:r>
            <a:r>
              <a:rPr lang="en-US" sz="2000">
                <a:latin typeface="Consolas" panose="020B0609020204030204" pitchFamily="49" charset="0"/>
              </a:rPr>
              <a:t>(n)</a:t>
            </a:r>
          </a:p>
          <a:p>
            <a:r>
              <a:rPr lang="en-US" sz="2000">
                <a:latin typeface="Consolas" panose="020B0609020204030204" pitchFamily="49" charset="0"/>
              </a:rPr>
              <a:t>print('| ' + word + ' |')</a:t>
            </a:r>
            <a:br>
              <a:rPr lang="en-US" sz="2000">
                <a:latin typeface="Consolas" panose="020B0609020204030204" pitchFamily="49" charset="0"/>
              </a:rPr>
            </a:br>
            <a:r>
              <a:rPr lang="en-US" sz="2000" err="1">
                <a:latin typeface="Consolas" panose="020B0609020204030204" pitchFamily="49" charset="0"/>
              </a:rPr>
              <a:t>print_dashed_line</a:t>
            </a:r>
            <a:r>
              <a:rPr lang="en-US" sz="2000">
                <a:latin typeface="Consolas" panose="020B0609020204030204" pitchFamily="49" charset="0"/>
              </a:rPr>
              <a:t>(n)</a:t>
            </a:r>
            <a:endParaRPr lang="en-AU" sz="2000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BB9E9D-3899-C007-45FF-5A1F7BEF9431}"/>
              </a:ext>
            </a:extLst>
          </p:cNvPr>
          <p:cNvSpPr txBox="1"/>
          <p:nvPr/>
        </p:nvSpPr>
        <p:spPr>
          <a:xfrm>
            <a:off x="8017571" y="3454111"/>
            <a:ext cx="332951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copy of the argument is </a:t>
            </a:r>
            <a:r>
              <a:rPr lang="en-CA" dirty="0"/>
              <a:t>assigned</a:t>
            </a:r>
            <a:r>
              <a:rPr lang="en-CA"/>
              <a:t> to the parameter.</a:t>
            </a:r>
            <a:endParaRPr lang="en-AU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F9F113-89E7-E269-4673-C1799D96F705}"/>
              </a:ext>
            </a:extLst>
          </p:cNvPr>
          <p:cNvSpPr/>
          <p:nvPr/>
        </p:nvSpPr>
        <p:spPr>
          <a:xfrm>
            <a:off x="1219199" y="2611028"/>
            <a:ext cx="333911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B76B1F-AAF2-23A6-CCAD-3B7C87D00F6C}"/>
              </a:ext>
            </a:extLst>
          </p:cNvPr>
          <p:cNvCxnSpPr/>
          <p:nvPr/>
        </p:nvCxnSpPr>
        <p:spPr>
          <a:xfrm flipH="1">
            <a:off x="8238392" y="4097532"/>
            <a:ext cx="384212" cy="478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919856-A98D-9E0F-14AD-AE6A572EBE21}"/>
              </a:ext>
            </a:extLst>
          </p:cNvPr>
          <p:cNvCxnSpPr>
            <a:cxnSpLocks/>
          </p:cNvCxnSpPr>
          <p:nvPr/>
        </p:nvCxnSpPr>
        <p:spPr>
          <a:xfrm flipH="1">
            <a:off x="9495692" y="4097532"/>
            <a:ext cx="71642" cy="412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B8BAFD8-096F-2092-FBF2-E1B66712EAFF}"/>
              </a:ext>
            </a:extLst>
          </p:cNvPr>
          <p:cNvSpPr txBox="1"/>
          <p:nvPr/>
        </p:nvSpPr>
        <p:spPr>
          <a:xfrm>
            <a:off x="4130312" y="4955622"/>
            <a:ext cx="260703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'Hello'</a:t>
            </a:r>
            <a:r>
              <a:rPr lang="en-CA" dirty="0"/>
              <a:t> is the </a:t>
            </a:r>
            <a:r>
              <a:rPr lang="en-CA" b="1" dirty="0"/>
              <a:t>argument</a:t>
            </a:r>
            <a:br>
              <a:rPr lang="en-CA" b="1" dirty="0"/>
            </a:br>
            <a:r>
              <a:rPr lang="en-CA" b="1" dirty="0"/>
              <a:t>word</a:t>
            </a:r>
            <a:r>
              <a:rPr lang="en-CA" dirty="0"/>
              <a:t> is the </a:t>
            </a:r>
            <a:r>
              <a:rPr lang="en-CA" b="1" dirty="0"/>
              <a:t>parameter</a:t>
            </a:r>
            <a:endParaRPr lang="en-AU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7AB3E1-8CE1-E36C-7B1D-402DEAE2623C}"/>
              </a:ext>
            </a:extLst>
          </p:cNvPr>
          <p:cNvCxnSpPr>
            <a:stCxn id="14" idx="3"/>
          </p:cNvCxnSpPr>
          <p:nvPr/>
        </p:nvCxnSpPr>
        <p:spPr>
          <a:xfrm flipV="1">
            <a:off x="6737349" y="4659194"/>
            <a:ext cx="1158143" cy="619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0C9E63F-2987-E93F-0BC8-180D284FF40C}"/>
              </a:ext>
            </a:extLst>
          </p:cNvPr>
          <p:cNvSpPr txBox="1"/>
          <p:nvPr/>
        </p:nvSpPr>
        <p:spPr>
          <a:xfrm>
            <a:off x="8330104" y="657272"/>
            <a:ext cx="3023696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Important</a:t>
            </a:r>
            <a:br>
              <a:rPr lang="en-CA" b="1" dirty="0"/>
            </a:br>
            <a:r>
              <a:rPr lang="en-CA" dirty="0"/>
              <a:t>When you pass a value to a function, Python </a:t>
            </a:r>
            <a:r>
              <a:rPr lang="en-CA" b="1" dirty="0"/>
              <a:t>copies</a:t>
            </a:r>
            <a:r>
              <a:rPr lang="en-CA" dirty="0"/>
              <a:t> the value. This is called</a:t>
            </a:r>
            <a:br>
              <a:rPr lang="en-CA" dirty="0"/>
            </a:br>
            <a:r>
              <a:rPr lang="en-CA" dirty="0"/>
              <a:t> </a:t>
            </a:r>
            <a:r>
              <a:rPr lang="en-CA" b="1" dirty="0"/>
              <a:t>pass by value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1131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25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256116" y="2021805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print_in_box</a:t>
            </a:r>
            <a:r>
              <a:rPr lang="en-US" sz="3200">
                <a:latin typeface="Consolas" panose="020B0609020204030204" pitchFamily="49" charset="0"/>
              </a:rPr>
              <a:t>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3200">
                <a:latin typeface="Consolas" panose="020B0609020204030204" pitchFamily="49" charset="0"/>
              </a:rPr>
              <a:t>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print('| ' + word + ' |')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8B450-0CDE-98B7-C107-2BE38CC4B57F}"/>
              </a:ext>
            </a:extLst>
          </p:cNvPr>
          <p:cNvSpPr txBox="1"/>
          <p:nvPr/>
        </p:nvSpPr>
        <p:spPr>
          <a:xfrm>
            <a:off x="264583" y="134668"/>
            <a:ext cx="7001933" cy="107721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3200">
                <a:latin typeface="Consolas" panose="020B0609020204030204" pitchFamily="49" charset="0"/>
              </a:rPr>
              <a:t>):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print('+' + '-' * n + '+')</a:t>
            </a:r>
            <a:endParaRPr lang="en-AU" sz="3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F883D-937C-5D1C-7E3B-1C7F97EBBEE3}"/>
              </a:ext>
            </a:extLst>
          </p:cNvPr>
          <p:cNvSpPr txBox="1"/>
          <p:nvPr/>
        </p:nvSpPr>
        <p:spPr>
          <a:xfrm>
            <a:off x="6294676" y="2021805"/>
            <a:ext cx="23921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Notice a local variable named </a:t>
            </a:r>
            <a:r>
              <a:rPr lang="en-CA" b="1"/>
              <a:t>n</a:t>
            </a:r>
            <a:r>
              <a:rPr lang="en-CA"/>
              <a:t> appears in </a:t>
            </a:r>
            <a:r>
              <a:rPr lang="en-CA" i="1" dirty="0"/>
              <a:t>both</a:t>
            </a:r>
            <a:r>
              <a:rPr lang="en-CA"/>
              <a:t> functions.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269E4-6FB5-E564-42DD-903D30CD8F2C}"/>
              </a:ext>
            </a:extLst>
          </p:cNvPr>
          <p:cNvSpPr/>
          <p:nvPr/>
        </p:nvSpPr>
        <p:spPr>
          <a:xfrm>
            <a:off x="1104610" y="2611028"/>
            <a:ext cx="40431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610B4D-D8A4-A573-E862-D14B22A6F869}"/>
              </a:ext>
            </a:extLst>
          </p:cNvPr>
          <p:cNvCxnSpPr>
            <a:cxnSpLocks/>
            <a:stCxn id="3" idx="1"/>
            <a:endCxn id="5" idx="3"/>
          </p:cNvCxnSpPr>
          <p:nvPr/>
        </p:nvCxnSpPr>
        <p:spPr>
          <a:xfrm flipH="1">
            <a:off x="5147733" y="2483470"/>
            <a:ext cx="1146943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D47771A-3DC8-5628-6BCB-9E0E08FCB012}"/>
              </a:ext>
            </a:extLst>
          </p:cNvPr>
          <p:cNvSpPr/>
          <p:nvPr/>
        </p:nvSpPr>
        <p:spPr>
          <a:xfrm>
            <a:off x="5244954" y="220507"/>
            <a:ext cx="2678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359601-31A4-0086-5689-EC1C903ACF2F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5378866" y="673277"/>
            <a:ext cx="915810" cy="1348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552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26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256116" y="2021805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print_in_box</a:t>
            </a:r>
            <a:r>
              <a:rPr lang="en-US" sz="3200">
                <a:latin typeface="Consolas" panose="020B0609020204030204" pitchFamily="49" charset="0"/>
              </a:rPr>
              <a:t>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3200">
                <a:latin typeface="Consolas" panose="020B0609020204030204" pitchFamily="49" charset="0"/>
              </a:rPr>
              <a:t>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print('| ' + word + ' |')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8B450-0CDE-98B7-C107-2BE38CC4B57F}"/>
              </a:ext>
            </a:extLst>
          </p:cNvPr>
          <p:cNvSpPr txBox="1"/>
          <p:nvPr/>
        </p:nvSpPr>
        <p:spPr>
          <a:xfrm>
            <a:off x="264583" y="134668"/>
            <a:ext cx="7001933" cy="107721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3200">
                <a:latin typeface="Consolas" panose="020B0609020204030204" pitchFamily="49" charset="0"/>
              </a:rPr>
              <a:t>):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print('+' + '-' * n + '+')</a:t>
            </a:r>
            <a:endParaRPr lang="en-AU" sz="3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F883D-937C-5D1C-7E3B-1C7F97EBBEE3}"/>
              </a:ext>
            </a:extLst>
          </p:cNvPr>
          <p:cNvSpPr txBox="1"/>
          <p:nvPr/>
        </p:nvSpPr>
        <p:spPr>
          <a:xfrm>
            <a:off x="6294676" y="2021805"/>
            <a:ext cx="23921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Notice a local variable named </a:t>
            </a:r>
            <a:r>
              <a:rPr lang="en-CA" b="1"/>
              <a:t>n</a:t>
            </a:r>
            <a:r>
              <a:rPr lang="en-CA"/>
              <a:t> appears in </a:t>
            </a:r>
            <a:r>
              <a:rPr lang="en-CA" i="1" dirty="0"/>
              <a:t>both</a:t>
            </a:r>
            <a:r>
              <a:rPr lang="en-CA"/>
              <a:t> functions.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269E4-6FB5-E564-42DD-903D30CD8F2C}"/>
              </a:ext>
            </a:extLst>
          </p:cNvPr>
          <p:cNvSpPr/>
          <p:nvPr/>
        </p:nvSpPr>
        <p:spPr>
          <a:xfrm>
            <a:off x="1104610" y="2611028"/>
            <a:ext cx="40431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610B4D-D8A4-A573-E862-D14B22A6F869}"/>
              </a:ext>
            </a:extLst>
          </p:cNvPr>
          <p:cNvCxnSpPr>
            <a:cxnSpLocks/>
            <a:stCxn id="3" idx="1"/>
            <a:endCxn id="5" idx="3"/>
          </p:cNvCxnSpPr>
          <p:nvPr/>
        </p:nvCxnSpPr>
        <p:spPr>
          <a:xfrm flipH="1">
            <a:off x="5147733" y="2483470"/>
            <a:ext cx="1146943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D47771A-3DC8-5628-6BCB-9E0E08FCB012}"/>
              </a:ext>
            </a:extLst>
          </p:cNvPr>
          <p:cNvSpPr/>
          <p:nvPr/>
        </p:nvSpPr>
        <p:spPr>
          <a:xfrm>
            <a:off x="5244954" y="220507"/>
            <a:ext cx="2678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359601-31A4-0086-5689-EC1C903ACF2F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5378866" y="673277"/>
            <a:ext cx="915810" cy="1348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57F24CA-F978-0CFC-17F5-5544B610E629}"/>
              </a:ext>
            </a:extLst>
          </p:cNvPr>
          <p:cNvSpPr txBox="1"/>
          <p:nvPr/>
        </p:nvSpPr>
        <p:spPr>
          <a:xfrm>
            <a:off x="7689849" y="3666626"/>
            <a:ext cx="307975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</a:t>
            </a:r>
            <a:r>
              <a:rPr lang="en-CA" b="1"/>
              <a:t>n</a:t>
            </a:r>
            <a:r>
              <a:rPr lang="en-CA"/>
              <a:t> in </a:t>
            </a:r>
            <a:r>
              <a:rPr lang="en-CA" b="1" err="1"/>
              <a:t>print_dashed_line</a:t>
            </a:r>
            <a:r>
              <a:rPr lang="en-CA" b="1"/>
              <a:t> </a:t>
            </a:r>
            <a:r>
              <a:rPr lang="en-CA"/>
              <a:t>is different than </a:t>
            </a:r>
            <a:r>
              <a:rPr lang="en-CA" dirty="0"/>
              <a:t>the</a:t>
            </a:r>
            <a:r>
              <a:rPr lang="en-CA"/>
              <a:t> </a:t>
            </a:r>
            <a:r>
              <a:rPr lang="en-CA" b="1"/>
              <a:t>n</a:t>
            </a:r>
            <a:r>
              <a:rPr lang="en-CA"/>
              <a:t> in </a:t>
            </a:r>
            <a:r>
              <a:rPr lang="en-CA" b="1" err="1"/>
              <a:t>print_in_box</a:t>
            </a:r>
            <a:r>
              <a:rPr lang="en-CA"/>
              <a:t>.</a:t>
            </a:r>
            <a:endParaRPr lang="en-AU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61ABCA-F4BE-9877-C666-C6ACC0C677DD}"/>
              </a:ext>
            </a:extLst>
          </p:cNvPr>
          <p:cNvCxnSpPr>
            <a:stCxn id="20" idx="0"/>
          </p:cNvCxnSpPr>
          <p:nvPr/>
        </p:nvCxnSpPr>
        <p:spPr>
          <a:xfrm flipH="1" flipV="1">
            <a:off x="8610600" y="2945135"/>
            <a:ext cx="619125" cy="7214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6339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27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256116" y="2021805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print_in_box</a:t>
            </a:r>
            <a:r>
              <a:rPr lang="en-US" sz="3200">
                <a:latin typeface="Consolas" panose="020B0609020204030204" pitchFamily="49" charset="0"/>
              </a:rPr>
              <a:t>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3200">
                <a:latin typeface="Consolas" panose="020B0609020204030204" pitchFamily="49" charset="0"/>
              </a:rPr>
              <a:t>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print('| ' + word + ' |')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8B450-0CDE-98B7-C107-2BE38CC4B57F}"/>
              </a:ext>
            </a:extLst>
          </p:cNvPr>
          <p:cNvSpPr txBox="1"/>
          <p:nvPr/>
        </p:nvSpPr>
        <p:spPr>
          <a:xfrm>
            <a:off x="264583" y="134668"/>
            <a:ext cx="7001933" cy="107721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</a:t>
            </a:r>
            <a:r>
              <a:rPr lang="en-US" sz="3200" err="1">
                <a:latin typeface="Consolas" panose="020B0609020204030204" pitchFamily="49" charset="0"/>
              </a:rPr>
              <a:t>print_dashed_line</a:t>
            </a:r>
            <a:r>
              <a:rPr lang="en-US" sz="3200"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3200">
                <a:latin typeface="Consolas" panose="020B0609020204030204" pitchFamily="49" charset="0"/>
              </a:rPr>
              <a:t>):</a:t>
            </a:r>
            <a:br>
              <a:rPr lang="en-US" sz="3200"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   print('+' + '-' * n + '+')</a:t>
            </a:r>
            <a:endParaRPr lang="en-AU" sz="3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F883D-937C-5D1C-7E3B-1C7F97EBBEE3}"/>
              </a:ext>
            </a:extLst>
          </p:cNvPr>
          <p:cNvSpPr txBox="1"/>
          <p:nvPr/>
        </p:nvSpPr>
        <p:spPr>
          <a:xfrm>
            <a:off x="6294676" y="2021805"/>
            <a:ext cx="23921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Notice a local variable named </a:t>
            </a:r>
            <a:r>
              <a:rPr lang="en-CA" b="1"/>
              <a:t>n</a:t>
            </a:r>
            <a:r>
              <a:rPr lang="en-CA"/>
              <a:t> appears in </a:t>
            </a:r>
            <a:r>
              <a:rPr lang="en-CA" i="1" dirty="0"/>
              <a:t>both</a:t>
            </a:r>
            <a:r>
              <a:rPr lang="en-CA"/>
              <a:t> functions.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269E4-6FB5-E564-42DD-903D30CD8F2C}"/>
              </a:ext>
            </a:extLst>
          </p:cNvPr>
          <p:cNvSpPr/>
          <p:nvPr/>
        </p:nvSpPr>
        <p:spPr>
          <a:xfrm>
            <a:off x="1104610" y="2611028"/>
            <a:ext cx="40431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610B4D-D8A4-A573-E862-D14B22A6F869}"/>
              </a:ext>
            </a:extLst>
          </p:cNvPr>
          <p:cNvCxnSpPr>
            <a:cxnSpLocks/>
            <a:stCxn id="3" idx="1"/>
            <a:endCxn id="5" idx="3"/>
          </p:cNvCxnSpPr>
          <p:nvPr/>
        </p:nvCxnSpPr>
        <p:spPr>
          <a:xfrm flipH="1">
            <a:off x="5147733" y="2483470"/>
            <a:ext cx="1146943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D47771A-3DC8-5628-6BCB-9E0E08FCB012}"/>
              </a:ext>
            </a:extLst>
          </p:cNvPr>
          <p:cNvSpPr/>
          <p:nvPr/>
        </p:nvSpPr>
        <p:spPr>
          <a:xfrm>
            <a:off x="5244954" y="220507"/>
            <a:ext cx="2678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359601-31A4-0086-5689-EC1C903ACF2F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5378866" y="673277"/>
            <a:ext cx="915810" cy="1348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57F24CA-F978-0CFC-17F5-5544B610E629}"/>
              </a:ext>
            </a:extLst>
          </p:cNvPr>
          <p:cNvSpPr txBox="1"/>
          <p:nvPr/>
        </p:nvSpPr>
        <p:spPr>
          <a:xfrm>
            <a:off x="7689849" y="3666626"/>
            <a:ext cx="307975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</a:t>
            </a:r>
            <a:r>
              <a:rPr lang="en-CA" b="1"/>
              <a:t>n</a:t>
            </a:r>
            <a:r>
              <a:rPr lang="en-CA"/>
              <a:t> in </a:t>
            </a:r>
            <a:r>
              <a:rPr lang="en-CA" b="1" err="1"/>
              <a:t>print_dashed_line</a:t>
            </a:r>
            <a:r>
              <a:rPr lang="en-CA" b="1"/>
              <a:t> </a:t>
            </a:r>
            <a:r>
              <a:rPr lang="en-CA"/>
              <a:t>is different than </a:t>
            </a:r>
            <a:r>
              <a:rPr lang="en-CA" dirty="0"/>
              <a:t>the</a:t>
            </a:r>
            <a:r>
              <a:rPr lang="en-CA"/>
              <a:t> </a:t>
            </a:r>
            <a:r>
              <a:rPr lang="en-CA" b="1"/>
              <a:t>n</a:t>
            </a:r>
            <a:r>
              <a:rPr lang="en-CA"/>
              <a:t> in </a:t>
            </a:r>
            <a:r>
              <a:rPr lang="en-CA" b="1" err="1"/>
              <a:t>print_in_box</a:t>
            </a:r>
            <a:r>
              <a:rPr lang="en-CA"/>
              <a:t>.</a:t>
            </a:r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22C984-7AC8-0C92-F8B0-C9D3D52122D4}"/>
              </a:ext>
            </a:extLst>
          </p:cNvPr>
          <p:cNvSpPr txBox="1"/>
          <p:nvPr/>
        </p:nvSpPr>
        <p:spPr>
          <a:xfrm>
            <a:off x="7689849" y="5230597"/>
            <a:ext cx="307975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Neither function can access the </a:t>
            </a:r>
            <a:r>
              <a:rPr lang="en-CA" b="1"/>
              <a:t>n</a:t>
            </a:r>
            <a:r>
              <a:rPr lang="en-CA"/>
              <a:t> in the other one. Local variables are private in the function they are defined.</a:t>
            </a:r>
            <a:endParaRPr lang="en-AU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2A59D92-6E92-E5C0-32C7-7BFB673D3BCF}"/>
              </a:ext>
            </a:extLst>
          </p:cNvPr>
          <p:cNvCxnSpPr>
            <a:stCxn id="22" idx="0"/>
            <a:endCxn id="20" idx="2"/>
          </p:cNvCxnSpPr>
          <p:nvPr/>
        </p:nvCxnSpPr>
        <p:spPr>
          <a:xfrm flipV="1">
            <a:off x="9229725" y="4589956"/>
            <a:ext cx="0" cy="640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61ABCA-F4BE-9877-C666-C6ACC0C677DD}"/>
              </a:ext>
            </a:extLst>
          </p:cNvPr>
          <p:cNvCxnSpPr>
            <a:stCxn id="20" idx="0"/>
          </p:cNvCxnSpPr>
          <p:nvPr/>
        </p:nvCxnSpPr>
        <p:spPr>
          <a:xfrm flipH="1" flipV="1">
            <a:off x="8610600" y="2945135"/>
            <a:ext cx="619125" cy="7214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F4AF9B6-23B1-2BEF-2182-5C30BED4EB5A}"/>
              </a:ext>
            </a:extLst>
          </p:cNvPr>
          <p:cNvSpPr txBox="1"/>
          <p:nvPr/>
        </p:nvSpPr>
        <p:spPr>
          <a:xfrm>
            <a:off x="3460259" y="5538392"/>
            <a:ext cx="307975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Python automatically keeps track of which </a:t>
            </a:r>
            <a:r>
              <a:rPr lang="en-CA" b="1"/>
              <a:t>n</a:t>
            </a:r>
            <a:r>
              <a:rPr lang="en-CA"/>
              <a:t> is which.</a:t>
            </a:r>
            <a:endParaRPr lang="en-AU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5F7FC4-825C-7071-1AF1-B10A6DD504DB}"/>
              </a:ext>
            </a:extLst>
          </p:cNvPr>
          <p:cNvCxnSpPr>
            <a:cxnSpLocks/>
            <a:stCxn id="28" idx="3"/>
            <a:endCxn id="22" idx="1"/>
          </p:cNvCxnSpPr>
          <p:nvPr/>
        </p:nvCxnSpPr>
        <p:spPr>
          <a:xfrm flipV="1">
            <a:off x="6540011" y="5830762"/>
            <a:ext cx="1149838" cy="30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474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28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256116" y="2021805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</a:t>
            </a:r>
            <a:r>
              <a:rPr lang="en-US" sz="3200" dirty="0" err="1">
                <a:latin typeface="Consolas" panose="020B0609020204030204" pitchFamily="49" charset="0"/>
              </a:rPr>
              <a:t>print_in_box</a:t>
            </a:r>
            <a:r>
              <a:rPr lang="en-US" sz="32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3200" dirty="0">
                <a:latin typeface="Consolas" panose="020B0609020204030204" pitchFamily="49" charset="0"/>
              </a:rPr>
              <a:t>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print_dashed_line</a:t>
            </a:r>
            <a:r>
              <a:rPr lang="en-US" sz="3200" dirty="0">
                <a:latin typeface="Consolas" panose="020B0609020204030204" pitchFamily="49" charset="0"/>
              </a:rPr>
              <a:t>(n)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print('| ' + word + ' |')</a:t>
            </a:r>
            <a:br>
              <a:rPr lang="en-US" sz="3200" dirty="0"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print_dashed_line</a:t>
            </a:r>
            <a:r>
              <a:rPr lang="en-US" sz="3200" dirty="0">
                <a:latin typeface="Consolas" panose="020B0609020204030204" pitchFamily="49" charset="0"/>
              </a:rPr>
              <a:t>(n)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418111-740E-B339-2ED1-2BC013B15505}"/>
              </a:ext>
            </a:extLst>
          </p:cNvPr>
          <p:cNvSpPr txBox="1"/>
          <p:nvPr/>
        </p:nvSpPr>
        <p:spPr>
          <a:xfrm>
            <a:off x="9567334" y="2375748"/>
            <a:ext cx="1405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Consolas" panose="020B0609020204030204" pitchFamily="49" charset="0"/>
              </a:rPr>
              <a:t>+-------+</a:t>
            </a:r>
          </a:p>
          <a:p>
            <a:r>
              <a:rPr lang="en-AU" dirty="0">
                <a:latin typeface="Consolas" panose="020B0609020204030204" pitchFamily="49" charset="0"/>
              </a:rPr>
              <a:t>| Hello |</a:t>
            </a:r>
          </a:p>
          <a:p>
            <a:r>
              <a:rPr lang="en-AU" dirty="0">
                <a:latin typeface="Consolas" panose="020B0609020204030204" pitchFamily="49" charset="0"/>
              </a:rPr>
              <a:t>+-------+</a:t>
            </a:r>
          </a:p>
          <a:p>
            <a:r>
              <a:rPr lang="en-AU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D3351F3-A898-609E-5961-F04D85E787E1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8B450-0CDE-98B7-C107-2BE38CC4B57F}"/>
              </a:ext>
            </a:extLst>
          </p:cNvPr>
          <p:cNvSpPr txBox="1"/>
          <p:nvPr/>
        </p:nvSpPr>
        <p:spPr>
          <a:xfrm>
            <a:off x="264583" y="134668"/>
            <a:ext cx="7001933" cy="107721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</a:t>
            </a:r>
            <a:r>
              <a:rPr lang="en-US" sz="3200" dirty="0" err="1">
                <a:latin typeface="Consolas" panose="020B0609020204030204" pitchFamily="49" charset="0"/>
              </a:rPr>
              <a:t>print_dashed_line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3200" dirty="0">
                <a:latin typeface="Consolas" panose="020B0609020204030204" pitchFamily="49" charset="0"/>
              </a:rPr>
              <a:t>):</a:t>
            </a:r>
            <a:br>
              <a:rPr lang="en-US" sz="3200" dirty="0"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   print('+' + '-' * n + '+')</a:t>
            </a:r>
            <a:endParaRPr lang="en-AU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F883D-937C-5D1C-7E3B-1C7F97EBBEE3}"/>
              </a:ext>
            </a:extLst>
          </p:cNvPr>
          <p:cNvSpPr txBox="1"/>
          <p:nvPr/>
        </p:nvSpPr>
        <p:spPr>
          <a:xfrm>
            <a:off x="6294676" y="2021805"/>
            <a:ext cx="23921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there are three </a:t>
            </a:r>
            <a:r>
              <a:rPr lang="en-CA" b="1"/>
              <a:t>n</a:t>
            </a:r>
            <a:r>
              <a:rPr lang="en-CA"/>
              <a:t> variables! Two local ones, and a </a:t>
            </a:r>
            <a:r>
              <a:rPr lang="en-CA" b="1" dirty="0"/>
              <a:t>global variable</a:t>
            </a:r>
            <a:r>
              <a:rPr lang="en-CA"/>
              <a:t> called </a:t>
            </a:r>
            <a:r>
              <a:rPr lang="en-CA" b="1"/>
              <a:t>n</a:t>
            </a:r>
            <a:r>
              <a:rPr lang="en-CA"/>
              <a:t>.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269E4-6FB5-E564-42DD-903D30CD8F2C}"/>
              </a:ext>
            </a:extLst>
          </p:cNvPr>
          <p:cNvSpPr/>
          <p:nvPr/>
        </p:nvSpPr>
        <p:spPr>
          <a:xfrm>
            <a:off x="1104610" y="2611028"/>
            <a:ext cx="40431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610B4D-D8A4-A573-E862-D14B22A6F869}"/>
              </a:ext>
            </a:extLst>
          </p:cNvPr>
          <p:cNvCxnSpPr>
            <a:cxnSpLocks/>
            <a:stCxn id="3" idx="1"/>
            <a:endCxn id="5" idx="3"/>
          </p:cNvCxnSpPr>
          <p:nvPr/>
        </p:nvCxnSpPr>
        <p:spPr>
          <a:xfrm flipH="1">
            <a:off x="5147733" y="2621970"/>
            <a:ext cx="1146943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5485D6-375C-B321-60CA-E800FEB0634D}"/>
              </a:ext>
            </a:extLst>
          </p:cNvPr>
          <p:cNvSpPr txBox="1"/>
          <p:nvPr/>
        </p:nvSpPr>
        <p:spPr>
          <a:xfrm>
            <a:off x="8612717" y="555017"/>
            <a:ext cx="33147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latin typeface="Consolas" panose="020B0609020204030204" pitchFamily="49" charset="0"/>
              </a:rPr>
              <a:t> = 2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print_in_box</a:t>
            </a:r>
            <a:r>
              <a:rPr lang="en-US" sz="2000" dirty="0">
                <a:latin typeface="Consolas" panose="020B0609020204030204" pitchFamily="49" charset="0"/>
              </a:rPr>
              <a:t>('Hello’)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print(n)</a:t>
            </a:r>
            <a:endParaRPr lang="en-AU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47771A-3DC8-5628-6BCB-9E0E08FCB012}"/>
              </a:ext>
            </a:extLst>
          </p:cNvPr>
          <p:cNvSpPr/>
          <p:nvPr/>
        </p:nvSpPr>
        <p:spPr>
          <a:xfrm>
            <a:off x="5244954" y="220507"/>
            <a:ext cx="2678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359601-31A4-0086-5689-EC1C903ACF2F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5378866" y="673277"/>
            <a:ext cx="915810" cy="1348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3613C1-1380-A246-C13C-CCC102591B63}"/>
              </a:ext>
            </a:extLst>
          </p:cNvPr>
          <p:cNvCxnSpPr/>
          <p:nvPr/>
        </p:nvCxnSpPr>
        <p:spPr>
          <a:xfrm flipV="1">
            <a:off x="7825154" y="844062"/>
            <a:ext cx="861646" cy="1177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8F4121C-AC77-6AB9-C9E8-B327424B7CDE}"/>
              </a:ext>
            </a:extLst>
          </p:cNvPr>
          <p:cNvSpPr/>
          <p:nvPr/>
        </p:nvSpPr>
        <p:spPr>
          <a:xfrm>
            <a:off x="8688193" y="555017"/>
            <a:ext cx="786170" cy="4033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8326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29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256116" y="2021805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</a:t>
            </a:r>
            <a:r>
              <a:rPr lang="en-US" sz="3200" dirty="0" err="1">
                <a:latin typeface="Consolas" panose="020B0609020204030204" pitchFamily="49" charset="0"/>
              </a:rPr>
              <a:t>print_in_box</a:t>
            </a:r>
            <a:r>
              <a:rPr lang="en-US" sz="32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3200" dirty="0">
                <a:latin typeface="Consolas" panose="020B0609020204030204" pitchFamily="49" charset="0"/>
              </a:rPr>
              <a:t>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print_dashed_line</a:t>
            </a:r>
            <a:r>
              <a:rPr lang="en-US" sz="3200" dirty="0">
                <a:latin typeface="Consolas" panose="020B0609020204030204" pitchFamily="49" charset="0"/>
              </a:rPr>
              <a:t>(n)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print('| ' + word + ' |')</a:t>
            </a:r>
            <a:br>
              <a:rPr lang="en-US" sz="3200" dirty="0"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print_dashed_line</a:t>
            </a:r>
            <a:r>
              <a:rPr lang="en-US" sz="3200" dirty="0">
                <a:latin typeface="Consolas" panose="020B0609020204030204" pitchFamily="49" charset="0"/>
              </a:rPr>
              <a:t>(n)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418111-740E-B339-2ED1-2BC013B15505}"/>
              </a:ext>
            </a:extLst>
          </p:cNvPr>
          <p:cNvSpPr txBox="1"/>
          <p:nvPr/>
        </p:nvSpPr>
        <p:spPr>
          <a:xfrm>
            <a:off x="9567334" y="2375748"/>
            <a:ext cx="1405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Consolas" panose="020B0609020204030204" pitchFamily="49" charset="0"/>
              </a:rPr>
              <a:t>+-------+</a:t>
            </a:r>
          </a:p>
          <a:p>
            <a:r>
              <a:rPr lang="en-AU" dirty="0">
                <a:latin typeface="Consolas" panose="020B0609020204030204" pitchFamily="49" charset="0"/>
              </a:rPr>
              <a:t>| Hello |</a:t>
            </a:r>
          </a:p>
          <a:p>
            <a:r>
              <a:rPr lang="en-AU" dirty="0">
                <a:latin typeface="Consolas" panose="020B0609020204030204" pitchFamily="49" charset="0"/>
              </a:rPr>
              <a:t>+-------+</a:t>
            </a:r>
          </a:p>
          <a:p>
            <a:r>
              <a:rPr lang="en-AU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D3351F3-A898-609E-5961-F04D85E787E1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8B450-0CDE-98B7-C107-2BE38CC4B57F}"/>
              </a:ext>
            </a:extLst>
          </p:cNvPr>
          <p:cNvSpPr txBox="1"/>
          <p:nvPr/>
        </p:nvSpPr>
        <p:spPr>
          <a:xfrm>
            <a:off x="264583" y="134668"/>
            <a:ext cx="7001933" cy="107721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</a:t>
            </a:r>
            <a:r>
              <a:rPr lang="en-US" sz="3200" dirty="0" err="1">
                <a:latin typeface="Consolas" panose="020B0609020204030204" pitchFamily="49" charset="0"/>
              </a:rPr>
              <a:t>print_dashed_line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3200" dirty="0">
                <a:latin typeface="Consolas" panose="020B0609020204030204" pitchFamily="49" charset="0"/>
              </a:rPr>
              <a:t>):</a:t>
            </a:r>
            <a:br>
              <a:rPr lang="en-US" sz="3200" dirty="0"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   print('+' + '-' * n + '+')</a:t>
            </a:r>
            <a:endParaRPr lang="en-AU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F883D-937C-5D1C-7E3B-1C7F97EBBEE3}"/>
              </a:ext>
            </a:extLst>
          </p:cNvPr>
          <p:cNvSpPr txBox="1"/>
          <p:nvPr/>
        </p:nvSpPr>
        <p:spPr>
          <a:xfrm>
            <a:off x="6294676" y="2021805"/>
            <a:ext cx="23921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there are three </a:t>
            </a:r>
            <a:r>
              <a:rPr lang="en-CA" b="1"/>
              <a:t>n</a:t>
            </a:r>
            <a:r>
              <a:rPr lang="en-CA"/>
              <a:t> variables! Two local ones, and a </a:t>
            </a:r>
            <a:r>
              <a:rPr lang="en-CA" b="1" dirty="0"/>
              <a:t>global variable</a:t>
            </a:r>
            <a:r>
              <a:rPr lang="en-CA"/>
              <a:t> called </a:t>
            </a:r>
            <a:r>
              <a:rPr lang="en-CA" b="1"/>
              <a:t>n</a:t>
            </a:r>
            <a:r>
              <a:rPr lang="en-CA"/>
              <a:t>.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269E4-6FB5-E564-42DD-903D30CD8F2C}"/>
              </a:ext>
            </a:extLst>
          </p:cNvPr>
          <p:cNvSpPr/>
          <p:nvPr/>
        </p:nvSpPr>
        <p:spPr>
          <a:xfrm>
            <a:off x="1104610" y="2611028"/>
            <a:ext cx="40431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610B4D-D8A4-A573-E862-D14B22A6F869}"/>
              </a:ext>
            </a:extLst>
          </p:cNvPr>
          <p:cNvCxnSpPr>
            <a:cxnSpLocks/>
            <a:stCxn id="3" idx="1"/>
            <a:endCxn id="5" idx="3"/>
          </p:cNvCxnSpPr>
          <p:nvPr/>
        </p:nvCxnSpPr>
        <p:spPr>
          <a:xfrm flipH="1">
            <a:off x="5147733" y="2621970"/>
            <a:ext cx="1146943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5485D6-375C-B321-60CA-E800FEB0634D}"/>
              </a:ext>
            </a:extLst>
          </p:cNvPr>
          <p:cNvSpPr txBox="1"/>
          <p:nvPr/>
        </p:nvSpPr>
        <p:spPr>
          <a:xfrm>
            <a:off x="8612717" y="555017"/>
            <a:ext cx="33147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latin typeface="Consolas" panose="020B0609020204030204" pitchFamily="49" charset="0"/>
              </a:rPr>
              <a:t> = 2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print_in_box</a:t>
            </a:r>
            <a:r>
              <a:rPr lang="en-US" sz="2000" dirty="0">
                <a:latin typeface="Consolas" panose="020B0609020204030204" pitchFamily="49" charset="0"/>
              </a:rPr>
              <a:t>('Hello’)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print(n)</a:t>
            </a:r>
            <a:endParaRPr lang="en-AU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47771A-3DC8-5628-6BCB-9E0E08FCB012}"/>
              </a:ext>
            </a:extLst>
          </p:cNvPr>
          <p:cNvSpPr/>
          <p:nvPr/>
        </p:nvSpPr>
        <p:spPr>
          <a:xfrm>
            <a:off x="5244954" y="220507"/>
            <a:ext cx="2678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359601-31A4-0086-5689-EC1C903ACF2F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5378866" y="673277"/>
            <a:ext cx="915810" cy="1348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3613C1-1380-A246-C13C-CCC102591B63}"/>
              </a:ext>
            </a:extLst>
          </p:cNvPr>
          <p:cNvCxnSpPr/>
          <p:nvPr/>
        </p:nvCxnSpPr>
        <p:spPr>
          <a:xfrm flipV="1">
            <a:off x="7825154" y="844062"/>
            <a:ext cx="861646" cy="1177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8F4121C-AC77-6AB9-C9E8-B327424B7CDE}"/>
              </a:ext>
            </a:extLst>
          </p:cNvPr>
          <p:cNvSpPr/>
          <p:nvPr/>
        </p:nvSpPr>
        <p:spPr>
          <a:xfrm>
            <a:off x="8688193" y="555017"/>
            <a:ext cx="786170" cy="4033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7BCF1-6A97-22EE-50AF-90ED5FB017B9}"/>
              </a:ext>
            </a:extLst>
          </p:cNvPr>
          <p:cNvSpPr txBox="1"/>
          <p:nvPr/>
        </p:nvSpPr>
        <p:spPr>
          <a:xfrm>
            <a:off x="8154866" y="4543703"/>
            <a:ext cx="263899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Code outside of functions can only access global variables, so 2 is printed.</a:t>
            </a:r>
            <a:endParaRPr lang="en-AU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7B50697-28C0-13F8-E32D-3EAC6E2DCA3E}"/>
              </a:ext>
            </a:extLst>
          </p:cNvPr>
          <p:cNvCxnSpPr>
            <a:stCxn id="9" idx="0"/>
          </p:cNvCxnSpPr>
          <p:nvPr/>
        </p:nvCxnSpPr>
        <p:spPr>
          <a:xfrm flipV="1">
            <a:off x="9474363" y="3576077"/>
            <a:ext cx="217074" cy="967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212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30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256116" y="2021805"/>
            <a:ext cx="7433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</a:t>
            </a:r>
            <a:r>
              <a:rPr lang="en-US" sz="3200" dirty="0" err="1">
                <a:latin typeface="Consolas" panose="020B0609020204030204" pitchFamily="49" charset="0"/>
              </a:rPr>
              <a:t>print_in_box</a:t>
            </a:r>
            <a:r>
              <a:rPr lang="en-US" sz="32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3200" dirty="0">
                <a:latin typeface="Consolas" panose="020B0609020204030204" pitchFamily="49" charset="0"/>
              </a:rPr>
              <a:t> = </a:t>
            </a:r>
            <a:r>
              <a:rPr lang="en-US" sz="3200" dirty="0" err="1">
                <a:latin typeface="Consolas" panose="020B0609020204030204" pitchFamily="49" charset="0"/>
              </a:rPr>
              <a:t>len</a:t>
            </a:r>
            <a:r>
              <a:rPr lang="en-US" sz="3200" dirty="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print_dashed_line</a:t>
            </a:r>
            <a:r>
              <a:rPr lang="en-US" sz="3200" dirty="0">
                <a:latin typeface="Consolas" panose="020B0609020204030204" pitchFamily="49" charset="0"/>
              </a:rPr>
              <a:t>(n)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    print('| ' + word + ' |')</a:t>
            </a:r>
            <a:br>
              <a:rPr lang="en-US" sz="3200" dirty="0"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print_dashed_line</a:t>
            </a:r>
            <a:r>
              <a:rPr lang="en-US" sz="3200" dirty="0">
                <a:latin typeface="Consolas" panose="020B0609020204030204" pitchFamily="49" charset="0"/>
              </a:rPr>
              <a:t>(n)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418111-740E-B339-2ED1-2BC013B15505}"/>
              </a:ext>
            </a:extLst>
          </p:cNvPr>
          <p:cNvSpPr txBox="1"/>
          <p:nvPr/>
        </p:nvSpPr>
        <p:spPr>
          <a:xfrm>
            <a:off x="9567334" y="2375748"/>
            <a:ext cx="1405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Consolas" panose="020B0609020204030204" pitchFamily="49" charset="0"/>
              </a:rPr>
              <a:t>+-------+</a:t>
            </a:r>
          </a:p>
          <a:p>
            <a:r>
              <a:rPr lang="en-AU" dirty="0">
                <a:latin typeface="Consolas" panose="020B0609020204030204" pitchFamily="49" charset="0"/>
              </a:rPr>
              <a:t>| Hello |</a:t>
            </a:r>
          </a:p>
          <a:p>
            <a:r>
              <a:rPr lang="en-AU" dirty="0">
                <a:latin typeface="Consolas" panose="020B0609020204030204" pitchFamily="49" charset="0"/>
              </a:rPr>
              <a:t>+-------+</a:t>
            </a:r>
          </a:p>
          <a:p>
            <a:r>
              <a:rPr lang="en-AU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D3351F3-A898-609E-5961-F04D85E787E1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8B450-0CDE-98B7-C107-2BE38CC4B57F}"/>
              </a:ext>
            </a:extLst>
          </p:cNvPr>
          <p:cNvSpPr txBox="1"/>
          <p:nvPr/>
        </p:nvSpPr>
        <p:spPr>
          <a:xfrm>
            <a:off x="264583" y="134668"/>
            <a:ext cx="7001933" cy="107721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def </a:t>
            </a:r>
            <a:r>
              <a:rPr lang="en-US" sz="3200" dirty="0" err="1">
                <a:latin typeface="Consolas" panose="020B0609020204030204" pitchFamily="49" charset="0"/>
              </a:rPr>
              <a:t>print_dashed_line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3200" dirty="0">
                <a:latin typeface="Consolas" panose="020B0609020204030204" pitchFamily="49" charset="0"/>
              </a:rPr>
              <a:t>):</a:t>
            </a:r>
            <a:br>
              <a:rPr lang="en-US" sz="3200" dirty="0"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   print('+' + '-' * n + '+')</a:t>
            </a:r>
            <a:endParaRPr lang="en-AU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F883D-937C-5D1C-7E3B-1C7F97EBBEE3}"/>
              </a:ext>
            </a:extLst>
          </p:cNvPr>
          <p:cNvSpPr txBox="1"/>
          <p:nvPr/>
        </p:nvSpPr>
        <p:spPr>
          <a:xfrm>
            <a:off x="6294676" y="2021805"/>
            <a:ext cx="23921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there are three </a:t>
            </a:r>
            <a:r>
              <a:rPr lang="en-CA" b="1"/>
              <a:t>n</a:t>
            </a:r>
            <a:r>
              <a:rPr lang="en-CA"/>
              <a:t> variables! Two local ones, and a </a:t>
            </a:r>
            <a:r>
              <a:rPr lang="en-CA" b="1" dirty="0"/>
              <a:t>global variable</a:t>
            </a:r>
            <a:r>
              <a:rPr lang="en-CA"/>
              <a:t> called </a:t>
            </a:r>
            <a:r>
              <a:rPr lang="en-CA" b="1"/>
              <a:t>n</a:t>
            </a:r>
            <a:r>
              <a:rPr lang="en-CA"/>
              <a:t>.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269E4-6FB5-E564-42DD-903D30CD8F2C}"/>
              </a:ext>
            </a:extLst>
          </p:cNvPr>
          <p:cNvSpPr/>
          <p:nvPr/>
        </p:nvSpPr>
        <p:spPr>
          <a:xfrm>
            <a:off x="1104610" y="2611028"/>
            <a:ext cx="40431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610B4D-D8A4-A573-E862-D14B22A6F869}"/>
              </a:ext>
            </a:extLst>
          </p:cNvPr>
          <p:cNvCxnSpPr>
            <a:cxnSpLocks/>
            <a:stCxn id="3" idx="1"/>
            <a:endCxn id="5" idx="3"/>
          </p:cNvCxnSpPr>
          <p:nvPr/>
        </p:nvCxnSpPr>
        <p:spPr>
          <a:xfrm flipH="1">
            <a:off x="5147733" y="2621970"/>
            <a:ext cx="1146943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5485D6-375C-B321-60CA-E800FEB0634D}"/>
              </a:ext>
            </a:extLst>
          </p:cNvPr>
          <p:cNvSpPr txBox="1"/>
          <p:nvPr/>
        </p:nvSpPr>
        <p:spPr>
          <a:xfrm>
            <a:off x="8612717" y="555017"/>
            <a:ext cx="33147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latin typeface="Consolas" panose="020B0609020204030204" pitchFamily="49" charset="0"/>
              </a:rPr>
              <a:t> = 2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print_in_box</a:t>
            </a:r>
            <a:r>
              <a:rPr lang="en-US" sz="2000" dirty="0">
                <a:latin typeface="Consolas" panose="020B0609020204030204" pitchFamily="49" charset="0"/>
              </a:rPr>
              <a:t>('Hello’)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print(n)</a:t>
            </a:r>
            <a:endParaRPr lang="en-AU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47771A-3DC8-5628-6BCB-9E0E08FCB012}"/>
              </a:ext>
            </a:extLst>
          </p:cNvPr>
          <p:cNvSpPr/>
          <p:nvPr/>
        </p:nvSpPr>
        <p:spPr>
          <a:xfrm>
            <a:off x="5244954" y="220507"/>
            <a:ext cx="26782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359601-31A4-0086-5689-EC1C903ACF2F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5378866" y="673277"/>
            <a:ext cx="915810" cy="1348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3613C1-1380-A246-C13C-CCC102591B63}"/>
              </a:ext>
            </a:extLst>
          </p:cNvPr>
          <p:cNvCxnSpPr/>
          <p:nvPr/>
        </p:nvCxnSpPr>
        <p:spPr>
          <a:xfrm flipV="1">
            <a:off x="7825154" y="844062"/>
            <a:ext cx="861646" cy="1177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8F4121C-AC77-6AB9-C9E8-B327424B7CDE}"/>
              </a:ext>
            </a:extLst>
          </p:cNvPr>
          <p:cNvSpPr/>
          <p:nvPr/>
        </p:nvSpPr>
        <p:spPr>
          <a:xfrm>
            <a:off x="8688193" y="555017"/>
            <a:ext cx="786170" cy="4033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7BCF1-6A97-22EE-50AF-90ED5FB017B9}"/>
              </a:ext>
            </a:extLst>
          </p:cNvPr>
          <p:cNvSpPr txBox="1"/>
          <p:nvPr/>
        </p:nvSpPr>
        <p:spPr>
          <a:xfrm>
            <a:off x="8154866" y="4543703"/>
            <a:ext cx="263899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Code outside of functions can only access global variables, so 2 is printed.</a:t>
            </a:r>
            <a:endParaRPr lang="en-AU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7B50697-28C0-13F8-E32D-3EAC6E2DCA3E}"/>
              </a:ext>
            </a:extLst>
          </p:cNvPr>
          <p:cNvCxnSpPr>
            <a:stCxn id="9" idx="0"/>
          </p:cNvCxnSpPr>
          <p:nvPr/>
        </p:nvCxnSpPr>
        <p:spPr>
          <a:xfrm flipV="1">
            <a:off x="9474363" y="3576077"/>
            <a:ext cx="217074" cy="967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48806ED-FBA3-66AF-DEDB-924F8F763B73}"/>
              </a:ext>
            </a:extLst>
          </p:cNvPr>
          <p:cNvSpPr txBox="1"/>
          <p:nvPr/>
        </p:nvSpPr>
        <p:spPr>
          <a:xfrm>
            <a:off x="2313964" y="4684501"/>
            <a:ext cx="3318035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Important</a:t>
            </a:r>
            <a:br>
              <a:rPr lang="en-CA" dirty="0"/>
            </a:br>
            <a:r>
              <a:rPr lang="en-CA" dirty="0"/>
              <a:t>It’s okay, and usually good, for functions to use whatever local variable names make the most sense in them.</a:t>
            </a:r>
            <a:br>
              <a:rPr lang="en-CA" dirty="0"/>
            </a:br>
            <a:r>
              <a:rPr lang="en-CA" b="1" dirty="0"/>
              <a:t>Make your variable names self-descriptive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0668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0</a:t>
            </a:r>
          </a:p>
          <a:p>
            <a:r>
              <a:rPr lang="en-CA" dirty="0"/>
              <a:t>1</a:t>
            </a:r>
          </a:p>
          <a:p>
            <a:r>
              <a:rPr lang="en-CA" dirty="0"/>
              <a:t>2</a:t>
            </a:r>
          </a:p>
          <a:p>
            <a:r>
              <a:rPr lang="en-CA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you want to print the numbers 0 to 3.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145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21305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print(0)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print(1)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print(2)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print(3)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8013963" y="2247677"/>
            <a:ext cx="263899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works, but if you want to print out 1000 numbers it will get tedious!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03354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0</a:t>
            </a:r>
          </a:p>
          <a:p>
            <a:r>
              <a:rPr lang="en-CA" dirty="0"/>
              <a:t>1</a:t>
            </a:r>
          </a:p>
          <a:p>
            <a:r>
              <a:rPr lang="en-CA" dirty="0"/>
              <a:t>2</a:t>
            </a:r>
          </a:p>
          <a:p>
            <a:r>
              <a:rPr lang="en-CA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you want to print the numbers 0 to 3.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6096000" y="1527262"/>
            <a:ext cx="191579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prints 0 to 3 using a </a:t>
            </a:r>
            <a:r>
              <a:rPr lang="en-CA" b="1" dirty="0"/>
              <a:t>for-loop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85212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0</a:t>
            </a:r>
          </a:p>
          <a:p>
            <a:r>
              <a:rPr lang="en-CA" dirty="0"/>
              <a:t>1</a:t>
            </a:r>
          </a:p>
          <a:p>
            <a:r>
              <a:rPr lang="en-CA" dirty="0"/>
              <a:t>2</a:t>
            </a:r>
          </a:p>
          <a:p>
            <a:r>
              <a:rPr lang="en-CA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you want to print the numbers 0 to 3.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4109800" y="2350582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8159431" y="1586029"/>
            <a:ext cx="130666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Prints the same thing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AA0E86-9632-7612-FF8E-CEBB752FB340}"/>
              </a:ext>
            </a:extLst>
          </p:cNvPr>
          <p:cNvSpPr txBox="1"/>
          <p:nvPr/>
        </p:nvSpPr>
        <p:spPr>
          <a:xfrm>
            <a:off x="9886962" y="2231313"/>
            <a:ext cx="21305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print(0)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print(1)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print(2)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print(3)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49194A70-E003-CF27-E354-4BF61D0280E6}"/>
              </a:ext>
            </a:extLst>
          </p:cNvPr>
          <p:cNvSpPr/>
          <p:nvPr/>
        </p:nvSpPr>
        <p:spPr>
          <a:xfrm>
            <a:off x="8225691" y="2530994"/>
            <a:ext cx="1240404" cy="63610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06738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0</a:t>
            </a:r>
          </a:p>
          <a:p>
            <a:r>
              <a:rPr lang="en-CA" dirty="0"/>
              <a:t>1</a:t>
            </a:r>
          </a:p>
          <a:p>
            <a:r>
              <a:rPr lang="en-CA" dirty="0"/>
              <a:t>2</a:t>
            </a:r>
          </a:p>
          <a:p>
            <a:r>
              <a:rPr lang="en-CA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you want to print the numbers 0 to 3.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4707285" y="1057920"/>
            <a:ext cx="190406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</a:t>
            </a:r>
            <a:br>
              <a:rPr lang="en-CA" dirty="0"/>
            </a:br>
            <a:r>
              <a:rPr lang="en-CA" dirty="0"/>
              <a:t>for-loop</a:t>
            </a:r>
            <a:r>
              <a:rPr lang="en-CA" b="1" dirty="0"/>
              <a:t> header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345346-B6E4-646B-4FC5-34E4D72BDD21}"/>
              </a:ext>
            </a:extLst>
          </p:cNvPr>
          <p:cNvSpPr txBox="1"/>
          <p:nvPr/>
        </p:nvSpPr>
        <p:spPr>
          <a:xfrm>
            <a:off x="8806043" y="3848490"/>
            <a:ext cx="190406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</a:t>
            </a:r>
            <a:br>
              <a:rPr lang="en-CA" dirty="0"/>
            </a:br>
            <a:r>
              <a:rPr lang="en-CA" dirty="0"/>
              <a:t>for-loop</a:t>
            </a:r>
            <a:r>
              <a:rPr lang="en-CA" b="1" dirty="0"/>
              <a:t> body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36547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stCxn id="9" idx="2"/>
          </p:cNvCxnSpPr>
          <p:nvPr/>
        </p:nvCxnSpPr>
        <p:spPr>
          <a:xfrm>
            <a:off x="5659319" y="1704251"/>
            <a:ext cx="274121" cy="734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46B76DF-18A0-D9DA-6A8E-5BD4183230D0}"/>
              </a:ext>
            </a:extLst>
          </p:cNvPr>
          <p:cNvSpPr/>
          <p:nvPr/>
        </p:nvSpPr>
        <p:spPr>
          <a:xfrm>
            <a:off x="5347031" y="2999254"/>
            <a:ext cx="36547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DD2A7F-78C1-0D4B-FB02-FE853711252D}"/>
              </a:ext>
            </a:extLst>
          </p:cNvPr>
          <p:cNvCxnSpPr/>
          <p:nvPr/>
        </p:nvCxnSpPr>
        <p:spPr>
          <a:xfrm flipH="1" flipV="1">
            <a:off x="8405446" y="3452024"/>
            <a:ext cx="400597" cy="396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038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for-loop always starts with the keyword </a:t>
            </a:r>
            <a:r>
              <a:rPr lang="en-CA" b="1" dirty="0"/>
              <a:t>for</a:t>
            </a:r>
            <a:endParaRPr lang="en-AU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1779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58CB93-4F46-67C4-89C8-4FD2C1795D33}"/>
              </a:ext>
            </a:extLst>
          </p:cNvPr>
          <p:cNvSpPr/>
          <p:nvPr/>
        </p:nvSpPr>
        <p:spPr>
          <a:xfrm>
            <a:off x="6167649" y="2500020"/>
            <a:ext cx="28590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7BED1-97DD-C3D4-FB79-25BF6B1D70DB}"/>
              </a:ext>
            </a:extLst>
          </p:cNvPr>
          <p:cNvSpPr txBox="1"/>
          <p:nvPr/>
        </p:nvSpPr>
        <p:spPr>
          <a:xfrm>
            <a:off x="3944351" y="90663"/>
            <a:ext cx="2509203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</a:t>
            </a:r>
            <a:r>
              <a:rPr lang="en-CA" b="1" dirty="0"/>
              <a:t>loop variable</a:t>
            </a:r>
            <a:r>
              <a:rPr lang="en-CA" dirty="0"/>
              <a:t>. It can be any variable name you like. </a:t>
            </a:r>
            <a:r>
              <a:rPr lang="en-CA" b="1" dirty="0" err="1"/>
              <a:t>i</a:t>
            </a:r>
            <a:r>
              <a:rPr lang="en-CA" dirty="0"/>
              <a:t> is the traditional variable, short for “index”.</a:t>
            </a:r>
            <a:endParaRPr lang="en-AU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3E92C3-9A77-01FE-EAB1-28C016AC9B9E}"/>
              </a:ext>
            </a:extLst>
          </p:cNvPr>
          <p:cNvCxnSpPr/>
          <p:nvPr/>
        </p:nvCxnSpPr>
        <p:spPr>
          <a:xfrm>
            <a:off x="6242538" y="1844989"/>
            <a:ext cx="68063" cy="61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D2F687F-31D9-B18B-320C-F315FC4EBA7A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for-loop always starts with the keyword </a:t>
            </a:r>
            <a:r>
              <a:rPr lang="en-CA" b="1" dirty="0"/>
              <a:t>for</a:t>
            </a:r>
            <a:endParaRPr lang="en-AU" b="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F2BC29-496A-D5D0-DEFB-F295596166E8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43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58CB93-4F46-67C4-89C8-4FD2C1795D33}"/>
              </a:ext>
            </a:extLst>
          </p:cNvPr>
          <p:cNvSpPr/>
          <p:nvPr/>
        </p:nvSpPr>
        <p:spPr>
          <a:xfrm>
            <a:off x="6167649" y="2500020"/>
            <a:ext cx="28590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65B9-B755-B74F-42CD-81DDDBA4DF1B}"/>
              </a:ext>
            </a:extLst>
          </p:cNvPr>
          <p:cNvSpPr/>
          <p:nvPr/>
        </p:nvSpPr>
        <p:spPr>
          <a:xfrm>
            <a:off x="6611353" y="2495767"/>
            <a:ext cx="420719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7BED1-97DD-C3D4-FB79-25BF6B1D70DB}"/>
              </a:ext>
            </a:extLst>
          </p:cNvPr>
          <p:cNvSpPr txBox="1"/>
          <p:nvPr/>
        </p:nvSpPr>
        <p:spPr>
          <a:xfrm>
            <a:off x="3944351" y="90663"/>
            <a:ext cx="2509203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</a:t>
            </a:r>
            <a:r>
              <a:rPr lang="en-CA" b="1" dirty="0"/>
              <a:t>loop variable</a:t>
            </a:r>
            <a:r>
              <a:rPr lang="en-CA" dirty="0"/>
              <a:t>. It can be any variable name you like. </a:t>
            </a:r>
            <a:r>
              <a:rPr lang="en-CA" b="1" dirty="0" err="1"/>
              <a:t>i</a:t>
            </a:r>
            <a:r>
              <a:rPr lang="en-CA" dirty="0"/>
              <a:t> is the traditional variable, short for “index”</a:t>
            </a:r>
            <a:endParaRPr lang="en-AU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3E92C3-9A77-01FE-EAB1-28C016AC9B9E}"/>
              </a:ext>
            </a:extLst>
          </p:cNvPr>
          <p:cNvCxnSpPr/>
          <p:nvPr/>
        </p:nvCxnSpPr>
        <p:spPr>
          <a:xfrm>
            <a:off x="6242538" y="1844989"/>
            <a:ext cx="68063" cy="61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7D7CA5-93ED-A584-B49D-0C09AA085AE4}"/>
              </a:ext>
            </a:extLst>
          </p:cNvPr>
          <p:cNvSpPr txBox="1"/>
          <p:nvPr/>
        </p:nvSpPr>
        <p:spPr>
          <a:xfrm>
            <a:off x="6917547" y="621432"/>
            <a:ext cx="190406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keyword </a:t>
            </a:r>
            <a:r>
              <a:rPr lang="en-CA" b="1" dirty="0"/>
              <a:t>in </a:t>
            </a:r>
            <a:r>
              <a:rPr lang="en-CA" dirty="0"/>
              <a:t>always comes after the loop variable.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397D1A-6D77-FA15-D598-CA478730CCFE}"/>
              </a:ext>
            </a:extLst>
          </p:cNvPr>
          <p:cNvCxnSpPr/>
          <p:nvPr/>
        </p:nvCxnSpPr>
        <p:spPr>
          <a:xfrm flipH="1">
            <a:off x="6917547" y="1821761"/>
            <a:ext cx="362484" cy="639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2A4C64E-D70F-7ACD-1C89-0A9E100141C0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for-loop always starts with the keyword </a:t>
            </a:r>
            <a:r>
              <a:rPr lang="en-CA" b="1" dirty="0"/>
              <a:t>for</a:t>
            </a:r>
            <a:endParaRPr lang="en-AU" b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18E0AC-94E6-C1D1-B487-F737DA3D865E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1041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for-loop always starts with the keyword </a:t>
            </a:r>
            <a:r>
              <a:rPr lang="en-CA" b="1" dirty="0"/>
              <a:t>for</a:t>
            </a:r>
            <a:endParaRPr lang="en-AU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758CB93-4F46-67C4-89C8-4FD2C1795D33}"/>
              </a:ext>
            </a:extLst>
          </p:cNvPr>
          <p:cNvSpPr/>
          <p:nvPr/>
        </p:nvSpPr>
        <p:spPr>
          <a:xfrm>
            <a:off x="6167649" y="2500020"/>
            <a:ext cx="28590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65B9-B755-B74F-42CD-81DDDBA4DF1B}"/>
              </a:ext>
            </a:extLst>
          </p:cNvPr>
          <p:cNvSpPr/>
          <p:nvPr/>
        </p:nvSpPr>
        <p:spPr>
          <a:xfrm>
            <a:off x="6611353" y="2495767"/>
            <a:ext cx="420719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B54298-C28B-391D-D727-AB85F8DD8D9A}"/>
              </a:ext>
            </a:extLst>
          </p:cNvPr>
          <p:cNvSpPr/>
          <p:nvPr/>
        </p:nvSpPr>
        <p:spPr>
          <a:xfrm>
            <a:off x="7189871" y="2495767"/>
            <a:ext cx="155847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7BED1-97DD-C3D4-FB79-25BF6B1D70DB}"/>
              </a:ext>
            </a:extLst>
          </p:cNvPr>
          <p:cNvSpPr txBox="1"/>
          <p:nvPr/>
        </p:nvSpPr>
        <p:spPr>
          <a:xfrm>
            <a:off x="3944351" y="90663"/>
            <a:ext cx="2509203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</a:t>
            </a:r>
            <a:r>
              <a:rPr lang="en-CA" b="1" dirty="0"/>
              <a:t>loop variable</a:t>
            </a:r>
            <a:r>
              <a:rPr lang="en-CA" dirty="0"/>
              <a:t>. It can be any variable name you like. </a:t>
            </a:r>
            <a:r>
              <a:rPr lang="en-CA" b="1" dirty="0" err="1"/>
              <a:t>i</a:t>
            </a:r>
            <a:r>
              <a:rPr lang="en-CA" dirty="0"/>
              <a:t> is the traditional variable, short for “index”</a:t>
            </a:r>
            <a:endParaRPr lang="en-AU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3E92C3-9A77-01FE-EAB1-28C016AC9B9E}"/>
              </a:ext>
            </a:extLst>
          </p:cNvPr>
          <p:cNvCxnSpPr/>
          <p:nvPr/>
        </p:nvCxnSpPr>
        <p:spPr>
          <a:xfrm>
            <a:off x="6242538" y="1844989"/>
            <a:ext cx="68063" cy="61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7D7CA5-93ED-A584-B49D-0C09AA085AE4}"/>
              </a:ext>
            </a:extLst>
          </p:cNvPr>
          <p:cNvSpPr txBox="1"/>
          <p:nvPr/>
        </p:nvSpPr>
        <p:spPr>
          <a:xfrm>
            <a:off x="6917547" y="621432"/>
            <a:ext cx="190406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keyword </a:t>
            </a:r>
            <a:r>
              <a:rPr lang="en-CA" b="1" dirty="0"/>
              <a:t>in </a:t>
            </a:r>
            <a:r>
              <a:rPr lang="en-CA" dirty="0"/>
              <a:t>always comes after the loop variable.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397D1A-6D77-FA15-D598-CA478730CCFE}"/>
              </a:ext>
            </a:extLst>
          </p:cNvPr>
          <p:cNvCxnSpPr/>
          <p:nvPr/>
        </p:nvCxnSpPr>
        <p:spPr>
          <a:xfrm flipH="1">
            <a:off x="6917547" y="1821761"/>
            <a:ext cx="362484" cy="639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4812B0E-CB9E-DF8D-9EE2-34112FA71D25}"/>
              </a:ext>
            </a:extLst>
          </p:cNvPr>
          <p:cNvSpPr txBox="1"/>
          <p:nvPr/>
        </p:nvSpPr>
        <p:spPr>
          <a:xfrm>
            <a:off x="8247648" y="3453981"/>
            <a:ext cx="310615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expression makes the loop repeat 4 times. Each time through the loop </a:t>
            </a:r>
            <a:r>
              <a:rPr lang="en-CA" b="1" dirty="0" err="1"/>
              <a:t>i</a:t>
            </a:r>
            <a:r>
              <a:rPr lang="en-CA" dirty="0"/>
              <a:t> gets the value 0, then 1, then 2, …</a:t>
            </a:r>
            <a:endParaRPr lang="en-AU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3C3638D-9C67-140E-AD80-010C973E34CA}"/>
              </a:ext>
            </a:extLst>
          </p:cNvPr>
          <p:cNvCxnSpPr/>
          <p:nvPr/>
        </p:nvCxnSpPr>
        <p:spPr>
          <a:xfrm flipH="1" flipV="1">
            <a:off x="8352692" y="2948537"/>
            <a:ext cx="257908" cy="505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B04EE82-C785-BDA0-CB9E-42135606DB3D}"/>
              </a:ext>
            </a:extLst>
          </p:cNvPr>
          <p:cNvSpPr txBox="1"/>
          <p:nvPr/>
        </p:nvSpPr>
        <p:spPr>
          <a:xfrm>
            <a:off x="8301867" y="5043665"/>
            <a:ext cx="299771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 a for-loop, </a:t>
            </a:r>
            <a:r>
              <a:rPr lang="en-CA" b="1" dirty="0"/>
              <a:t>range(n)</a:t>
            </a:r>
            <a:r>
              <a:rPr lang="en-CA" dirty="0"/>
              <a:t> generates the numbers </a:t>
            </a:r>
            <a:br>
              <a:rPr lang="en-CA" dirty="0"/>
            </a:br>
            <a:r>
              <a:rPr lang="en-CA" dirty="0"/>
              <a:t>0, 1, 2, …, n-1.</a:t>
            </a:r>
          </a:p>
          <a:p>
            <a:pPr algn="ctr"/>
            <a:r>
              <a:rPr lang="en-CA" dirty="0"/>
              <a:t>It starts at 0, ends at n-1.</a:t>
            </a:r>
            <a:endParaRPr lang="en-AU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C52110-E750-D052-F04E-920E8C4CE543}"/>
              </a:ext>
            </a:extLst>
          </p:cNvPr>
          <p:cNvCxnSpPr>
            <a:cxnSpLocks/>
            <a:stCxn id="27" idx="0"/>
            <a:endCxn id="24" idx="2"/>
          </p:cNvCxnSpPr>
          <p:nvPr/>
        </p:nvCxnSpPr>
        <p:spPr>
          <a:xfrm flipV="1">
            <a:off x="9800724" y="4654310"/>
            <a:ext cx="0" cy="389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5171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for-loop always starts with the keyword </a:t>
            </a:r>
            <a:r>
              <a:rPr lang="en-CA" b="1" dirty="0"/>
              <a:t>for</a:t>
            </a:r>
            <a:endParaRPr lang="en-AU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758CB93-4F46-67C4-89C8-4FD2C1795D33}"/>
              </a:ext>
            </a:extLst>
          </p:cNvPr>
          <p:cNvSpPr/>
          <p:nvPr/>
        </p:nvSpPr>
        <p:spPr>
          <a:xfrm>
            <a:off x="6167649" y="2500020"/>
            <a:ext cx="28590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65B9-B755-B74F-42CD-81DDDBA4DF1B}"/>
              </a:ext>
            </a:extLst>
          </p:cNvPr>
          <p:cNvSpPr/>
          <p:nvPr/>
        </p:nvSpPr>
        <p:spPr>
          <a:xfrm>
            <a:off x="6611353" y="2495767"/>
            <a:ext cx="420719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B54298-C28B-391D-D727-AB85F8DD8D9A}"/>
              </a:ext>
            </a:extLst>
          </p:cNvPr>
          <p:cNvSpPr/>
          <p:nvPr/>
        </p:nvSpPr>
        <p:spPr>
          <a:xfrm>
            <a:off x="7189871" y="2495767"/>
            <a:ext cx="155847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7BED1-97DD-C3D4-FB79-25BF6B1D70DB}"/>
              </a:ext>
            </a:extLst>
          </p:cNvPr>
          <p:cNvSpPr txBox="1"/>
          <p:nvPr/>
        </p:nvSpPr>
        <p:spPr>
          <a:xfrm>
            <a:off x="3944351" y="90663"/>
            <a:ext cx="2509203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</a:t>
            </a:r>
            <a:r>
              <a:rPr lang="en-CA" b="1" dirty="0"/>
              <a:t>loop variable</a:t>
            </a:r>
            <a:r>
              <a:rPr lang="en-CA" dirty="0"/>
              <a:t>. It can be any variable name you like. </a:t>
            </a:r>
            <a:r>
              <a:rPr lang="en-CA" b="1" dirty="0" err="1"/>
              <a:t>i</a:t>
            </a:r>
            <a:r>
              <a:rPr lang="en-CA" dirty="0"/>
              <a:t> is the traditional variable, short for “index”</a:t>
            </a:r>
            <a:endParaRPr lang="en-AU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3E92C3-9A77-01FE-EAB1-28C016AC9B9E}"/>
              </a:ext>
            </a:extLst>
          </p:cNvPr>
          <p:cNvCxnSpPr/>
          <p:nvPr/>
        </p:nvCxnSpPr>
        <p:spPr>
          <a:xfrm>
            <a:off x="6242538" y="1844989"/>
            <a:ext cx="68063" cy="61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7D7CA5-93ED-A584-B49D-0C09AA085AE4}"/>
              </a:ext>
            </a:extLst>
          </p:cNvPr>
          <p:cNvSpPr txBox="1"/>
          <p:nvPr/>
        </p:nvSpPr>
        <p:spPr>
          <a:xfrm>
            <a:off x="6917547" y="621432"/>
            <a:ext cx="190406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keyword </a:t>
            </a:r>
            <a:r>
              <a:rPr lang="en-CA" b="1" dirty="0"/>
              <a:t>in </a:t>
            </a:r>
            <a:r>
              <a:rPr lang="en-CA" dirty="0"/>
              <a:t>always comes after the loop variable.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397D1A-6D77-FA15-D598-CA478730CCFE}"/>
              </a:ext>
            </a:extLst>
          </p:cNvPr>
          <p:cNvCxnSpPr/>
          <p:nvPr/>
        </p:nvCxnSpPr>
        <p:spPr>
          <a:xfrm flipH="1">
            <a:off x="6917547" y="1821761"/>
            <a:ext cx="362484" cy="639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4812B0E-CB9E-DF8D-9EE2-34112FA71D25}"/>
              </a:ext>
            </a:extLst>
          </p:cNvPr>
          <p:cNvSpPr txBox="1"/>
          <p:nvPr/>
        </p:nvSpPr>
        <p:spPr>
          <a:xfrm>
            <a:off x="8247648" y="3453981"/>
            <a:ext cx="310615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expression makes the loop repeat 4 times. Each time through the loop </a:t>
            </a:r>
            <a:r>
              <a:rPr lang="en-CA" b="1" dirty="0" err="1"/>
              <a:t>i</a:t>
            </a:r>
            <a:r>
              <a:rPr lang="en-CA" dirty="0"/>
              <a:t> gets the value 0, then 1, then 2, …</a:t>
            </a:r>
            <a:endParaRPr lang="en-AU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3C3638D-9C67-140E-AD80-010C973E34CA}"/>
              </a:ext>
            </a:extLst>
          </p:cNvPr>
          <p:cNvCxnSpPr/>
          <p:nvPr/>
        </p:nvCxnSpPr>
        <p:spPr>
          <a:xfrm flipH="1" flipV="1">
            <a:off x="8352692" y="2948537"/>
            <a:ext cx="257908" cy="505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B04EE82-C785-BDA0-CB9E-42135606DB3D}"/>
              </a:ext>
            </a:extLst>
          </p:cNvPr>
          <p:cNvSpPr txBox="1"/>
          <p:nvPr/>
        </p:nvSpPr>
        <p:spPr>
          <a:xfrm>
            <a:off x="8301867" y="5043665"/>
            <a:ext cx="299771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 a for-loop, </a:t>
            </a:r>
            <a:r>
              <a:rPr lang="en-CA" b="1" dirty="0"/>
              <a:t>range(n)</a:t>
            </a:r>
            <a:r>
              <a:rPr lang="en-CA" dirty="0"/>
              <a:t> generates the numbers </a:t>
            </a:r>
            <a:br>
              <a:rPr lang="en-CA" dirty="0"/>
            </a:br>
            <a:r>
              <a:rPr lang="en-CA" dirty="0"/>
              <a:t>0, 1, 2, …, n-1.</a:t>
            </a:r>
          </a:p>
          <a:p>
            <a:pPr algn="ctr"/>
            <a:r>
              <a:rPr lang="en-CA" dirty="0"/>
              <a:t>It starts at 0, ends at n-1.</a:t>
            </a:r>
            <a:endParaRPr lang="en-AU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C52110-E750-D052-F04E-920E8C4CE543}"/>
              </a:ext>
            </a:extLst>
          </p:cNvPr>
          <p:cNvCxnSpPr>
            <a:cxnSpLocks/>
            <a:stCxn id="27" idx="0"/>
            <a:endCxn id="24" idx="2"/>
          </p:cNvCxnSpPr>
          <p:nvPr/>
        </p:nvCxnSpPr>
        <p:spPr>
          <a:xfrm flipV="1">
            <a:off x="9800724" y="4654310"/>
            <a:ext cx="0" cy="389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D99C177-C779-0EF5-1A22-D1EED08E7F18}"/>
              </a:ext>
            </a:extLst>
          </p:cNvPr>
          <p:cNvSpPr/>
          <p:nvPr/>
        </p:nvSpPr>
        <p:spPr>
          <a:xfrm>
            <a:off x="8786599" y="2495767"/>
            <a:ext cx="144611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9B38AB-D32F-D9D3-0F97-BCF9179AC5EA}"/>
              </a:ext>
            </a:extLst>
          </p:cNvPr>
          <p:cNvSpPr txBox="1"/>
          <p:nvPr/>
        </p:nvSpPr>
        <p:spPr>
          <a:xfrm>
            <a:off x="9982200" y="705257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colon :</a:t>
            </a:r>
            <a:r>
              <a:rPr lang="en-CA" dirty="0"/>
              <a:t> marks the end of the for-loop header.</a:t>
            </a:r>
            <a:endParaRPr lang="en-AU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0F4C75-4B25-50D6-31BC-42CF9233E374}"/>
              </a:ext>
            </a:extLst>
          </p:cNvPr>
          <p:cNvCxnSpPr>
            <a:cxnSpLocks/>
          </p:cNvCxnSpPr>
          <p:nvPr/>
        </p:nvCxnSpPr>
        <p:spPr>
          <a:xfrm flipH="1">
            <a:off x="8931210" y="1633012"/>
            <a:ext cx="1045746" cy="842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9148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you want to print the numbers 0 to 3.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4569534" y="3969006"/>
            <a:ext cx="244672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statements </a:t>
            </a:r>
            <a:r>
              <a:rPr lang="en-CA"/>
              <a:t>in the body </a:t>
            </a:r>
            <a:r>
              <a:rPr lang="en-CA" dirty="0"/>
              <a:t>of a for-loop must be consistently indented at least 1 space.</a:t>
            </a:r>
            <a:endParaRPr lang="en-AU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468815" y="2945562"/>
            <a:ext cx="344658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792898" y="3288323"/>
            <a:ext cx="185871" cy="680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5F8DC22-C403-199D-D397-D56770794310}"/>
              </a:ext>
            </a:extLst>
          </p:cNvPr>
          <p:cNvSpPr txBox="1"/>
          <p:nvPr/>
        </p:nvSpPr>
        <p:spPr>
          <a:xfrm>
            <a:off x="8045427" y="3969005"/>
            <a:ext cx="2681188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particular body has only one statement. </a:t>
            </a:r>
            <a:br>
              <a:rPr lang="en-CA" dirty="0"/>
            </a:br>
            <a:r>
              <a:rPr lang="en-CA" dirty="0"/>
              <a:t>In general, a for-loop body can have as many statements as you like.</a:t>
            </a:r>
            <a:endParaRPr lang="en-AU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6C3EA9-8FD6-0550-A4C7-3AE00EB1E161}"/>
              </a:ext>
            </a:extLst>
          </p:cNvPr>
          <p:cNvCxnSpPr>
            <a:stCxn id="17" idx="0"/>
          </p:cNvCxnSpPr>
          <p:nvPr/>
        </p:nvCxnSpPr>
        <p:spPr>
          <a:xfrm flipH="1" flipV="1">
            <a:off x="8915400" y="3442994"/>
            <a:ext cx="470621" cy="526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849A1DA-FE81-AF69-859F-D48291843328}"/>
              </a:ext>
            </a:extLst>
          </p:cNvPr>
          <p:cNvSpPr/>
          <p:nvPr/>
        </p:nvSpPr>
        <p:spPr>
          <a:xfrm>
            <a:off x="5520801" y="3003655"/>
            <a:ext cx="668984" cy="35266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84462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6012F-6D16-EA43-0C55-7C4768E2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42</a:t>
            </a:fld>
            <a:endParaRPr lang="en-A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EDB74BC-1BB1-DB9D-7ADC-A2F2A1DD071E}"/>
              </a:ext>
            </a:extLst>
          </p:cNvPr>
          <p:cNvGrpSpPr/>
          <p:nvPr/>
        </p:nvGrpSpPr>
        <p:grpSpPr>
          <a:xfrm>
            <a:off x="345828" y="1335485"/>
            <a:ext cx="5704900" cy="4893060"/>
            <a:chOff x="192506" y="1660800"/>
            <a:chExt cx="5704900" cy="489306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7242D0-BEB4-E6E6-466F-535FA4C36195}"/>
                </a:ext>
              </a:extLst>
            </p:cNvPr>
            <p:cNvSpPr txBox="1"/>
            <p:nvPr/>
          </p:nvSpPr>
          <p:spPr>
            <a:xfrm>
              <a:off x="192506" y="1660800"/>
              <a:ext cx="4049631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 dirty="0">
                  <a:latin typeface="Consolas" panose="020B0609020204030204" pitchFamily="49" charset="0"/>
                </a:rPr>
                <a:t>for </a:t>
              </a:r>
              <a:r>
                <a:rPr lang="en-CA" sz="28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i</a:t>
              </a:r>
              <a:r>
                <a:rPr lang="en-CA" sz="2800" dirty="0">
                  <a:latin typeface="Consolas" panose="020B0609020204030204" pitchFamily="49" charset="0"/>
                </a:rPr>
                <a:t> in range(4):</a:t>
              </a:r>
            </a:p>
            <a:p>
              <a:r>
                <a:rPr lang="en-CA" sz="2800" dirty="0">
                  <a:latin typeface="Consolas" panose="020B0609020204030204" pitchFamily="49" charset="0"/>
                </a:rPr>
                <a:t>    print(</a:t>
              </a:r>
              <a:r>
                <a:rPr lang="en-CA" sz="28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i</a:t>
              </a:r>
              <a:r>
                <a:rPr lang="en-CA" sz="2800" dirty="0"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737CEA-E099-70B4-2196-E52108F344AD}"/>
                </a:ext>
              </a:extLst>
            </p:cNvPr>
            <p:cNvSpPr txBox="1"/>
            <p:nvPr/>
          </p:nvSpPr>
          <p:spPr>
            <a:xfrm>
              <a:off x="192506" y="2973784"/>
              <a:ext cx="4049631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 dirty="0">
                  <a:latin typeface="Consolas" panose="020B0609020204030204" pitchFamily="49" charset="0"/>
                </a:rPr>
                <a:t>for </a:t>
              </a:r>
              <a:r>
                <a:rPr lang="en-CA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k</a:t>
              </a:r>
              <a:r>
                <a:rPr lang="en-CA" sz="2800" dirty="0">
                  <a:latin typeface="Consolas" panose="020B0609020204030204" pitchFamily="49" charset="0"/>
                </a:rPr>
                <a:t> in range(4):</a:t>
              </a:r>
            </a:p>
            <a:p>
              <a:r>
                <a:rPr lang="en-CA" sz="2800" dirty="0">
                  <a:latin typeface="Consolas" panose="020B0609020204030204" pitchFamily="49" charset="0"/>
                </a:rPr>
                <a:t>    print(</a:t>
              </a:r>
              <a:r>
                <a:rPr lang="en-CA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k</a:t>
              </a:r>
              <a:r>
                <a:rPr lang="en-CA" sz="2800" dirty="0"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885C77-CD61-C764-1F73-B9DC5E03FB6C}"/>
                </a:ext>
              </a:extLst>
            </p:cNvPr>
            <p:cNvSpPr txBox="1"/>
            <p:nvPr/>
          </p:nvSpPr>
          <p:spPr>
            <a:xfrm>
              <a:off x="192506" y="4286768"/>
              <a:ext cx="5704900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 dirty="0">
                  <a:latin typeface="Consolas" panose="020B0609020204030204" pitchFamily="49" charset="0"/>
                </a:rPr>
                <a:t>for </a:t>
              </a:r>
              <a:r>
                <a:rPr lang="en-CA" sz="28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index_value</a:t>
              </a:r>
              <a:r>
                <a:rPr lang="en-CA" sz="2800" dirty="0">
                  <a:latin typeface="Consolas" panose="020B0609020204030204" pitchFamily="49" charset="0"/>
                </a:rPr>
                <a:t> in range(4):</a:t>
              </a:r>
            </a:p>
            <a:p>
              <a:r>
                <a:rPr lang="en-CA" sz="2800" dirty="0">
                  <a:latin typeface="Consolas" panose="020B0609020204030204" pitchFamily="49" charset="0"/>
                </a:rPr>
                <a:t>    print(</a:t>
              </a:r>
              <a:r>
                <a:rPr lang="en-CA" sz="2800" b="1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index_value</a:t>
              </a:r>
              <a:r>
                <a:rPr lang="en-CA" sz="2800" dirty="0">
                  <a:latin typeface="Consolas" panose="020B0609020204030204" pitchFamily="49" charset="0"/>
                </a:rPr>
                <a:t>)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5FEDCC1-586A-9949-83B0-80B987D6AD30}"/>
                </a:ext>
              </a:extLst>
            </p:cNvPr>
            <p:cNvGrpSpPr/>
            <p:nvPr/>
          </p:nvGrpSpPr>
          <p:grpSpPr>
            <a:xfrm>
              <a:off x="192506" y="5599753"/>
              <a:ext cx="4775148" cy="954107"/>
              <a:chOff x="192506" y="5599753"/>
              <a:chExt cx="4775148" cy="954107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1E2428-FC26-9D41-24DC-AD82336B8A8C}"/>
                  </a:ext>
                </a:extLst>
              </p:cNvPr>
              <p:cNvSpPr txBox="1"/>
              <p:nvPr/>
            </p:nvSpPr>
            <p:spPr>
              <a:xfrm>
                <a:off x="192506" y="5599753"/>
                <a:ext cx="4775148" cy="95410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sz="2800" dirty="0">
                    <a:latin typeface="Consolas" panose="020B0609020204030204" pitchFamily="49" charset="0"/>
                  </a:rPr>
                  <a:t>for </a:t>
                </a:r>
                <a:r>
                  <a:rPr lang="en-CA" sz="28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int</a:t>
                </a:r>
                <a:r>
                  <a:rPr lang="en-CA" sz="2800" dirty="0">
                    <a:latin typeface="Consolas" panose="020B0609020204030204" pitchFamily="49" charset="0"/>
                  </a:rPr>
                  <a:t> in range(4):</a:t>
                </a:r>
              </a:p>
              <a:p>
                <a:r>
                  <a:rPr lang="en-CA" sz="2800" dirty="0">
                    <a:latin typeface="Consolas" panose="020B0609020204030204" pitchFamily="49" charset="0"/>
                  </a:rPr>
                  <a:t>    print(</a:t>
                </a:r>
                <a:r>
                  <a:rPr lang="en-CA" sz="28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int</a:t>
                </a:r>
                <a:r>
                  <a:rPr lang="en-CA" sz="2800" dirty="0">
                    <a:latin typeface="Consolas" panose="020B0609020204030204" pitchFamily="49" charset="0"/>
                  </a:rPr>
                  <a:t>)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F0B4DD-CB65-A510-3121-A989C19CE432}"/>
                  </a:ext>
                </a:extLst>
              </p:cNvPr>
              <p:cNvSpPr txBox="1"/>
              <p:nvPr/>
            </p:nvSpPr>
            <p:spPr>
              <a:xfrm>
                <a:off x="3878063" y="6076806"/>
                <a:ext cx="770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b="1" dirty="0">
                    <a:solidFill>
                      <a:srgbClr val="FF0000"/>
                    </a:solidFill>
                  </a:rPr>
                  <a:t>Error!</a:t>
                </a:r>
                <a:endParaRPr lang="en-AU" b="1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503555-4FA9-EB8E-9338-97C862895AD6}"/>
              </a:ext>
            </a:extLst>
          </p:cNvPr>
          <p:cNvGrpSpPr/>
          <p:nvPr/>
        </p:nvGrpSpPr>
        <p:grpSpPr>
          <a:xfrm>
            <a:off x="7091539" y="1221597"/>
            <a:ext cx="4754633" cy="3783622"/>
            <a:chOff x="7091539" y="1221597"/>
            <a:chExt cx="4754633" cy="378362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67262E2-7FE0-F1A7-E27C-339137F07749}"/>
                </a:ext>
              </a:extLst>
            </p:cNvPr>
            <p:cNvSpPr txBox="1"/>
            <p:nvPr/>
          </p:nvSpPr>
          <p:spPr>
            <a:xfrm>
              <a:off x="7091539" y="2636355"/>
              <a:ext cx="4543617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 dirty="0">
                  <a:latin typeface="Consolas" panose="020B0609020204030204" pitchFamily="49" charset="0"/>
                </a:rPr>
                <a:t>for </a:t>
              </a:r>
              <a:r>
                <a:rPr lang="en-CA" sz="2800" dirty="0" err="1">
                  <a:latin typeface="Consolas" panose="020B0609020204030204" pitchFamily="49" charset="0"/>
                </a:rPr>
                <a:t>i</a:t>
              </a:r>
              <a:r>
                <a:rPr lang="en-CA" sz="2800" dirty="0">
                  <a:latin typeface="Consolas" panose="020B0609020204030204" pitchFamily="49" charset="0"/>
                </a:rPr>
                <a:t> in </a:t>
              </a:r>
              <a:r>
                <a:rPr lang="en-CA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range(0, 4)</a:t>
              </a:r>
              <a:r>
                <a:rPr lang="en-CA" sz="2800" dirty="0">
                  <a:latin typeface="Consolas" panose="020B0609020204030204" pitchFamily="49" charset="0"/>
                </a:rPr>
                <a:t>:</a:t>
              </a:r>
            </a:p>
            <a:p>
              <a:r>
                <a:rPr lang="en-CA" sz="2800" dirty="0">
                  <a:latin typeface="Consolas" panose="020B0609020204030204" pitchFamily="49" charset="0"/>
                </a:rPr>
                <a:t>    print(</a:t>
              </a:r>
              <a:r>
                <a:rPr lang="en-CA" sz="2800" dirty="0" err="1">
                  <a:latin typeface="Consolas" panose="020B0609020204030204" pitchFamily="49" charset="0"/>
                </a:rPr>
                <a:t>i</a:t>
              </a:r>
              <a:r>
                <a:rPr lang="en-CA" sz="2800" dirty="0"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B4F958-250E-0A06-A6C2-8F2843E8A6F1}"/>
                </a:ext>
              </a:extLst>
            </p:cNvPr>
            <p:cNvSpPr txBox="1"/>
            <p:nvPr/>
          </p:nvSpPr>
          <p:spPr>
            <a:xfrm>
              <a:off x="7091539" y="1221597"/>
              <a:ext cx="4754633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 dirty="0">
                  <a:latin typeface="Consolas" panose="020B0609020204030204" pitchFamily="49" charset="0"/>
                </a:rPr>
                <a:t>for </a:t>
              </a:r>
              <a:r>
                <a:rPr lang="en-CA" sz="2800" dirty="0" err="1">
                  <a:latin typeface="Consolas" panose="020B0609020204030204" pitchFamily="49" charset="0"/>
                </a:rPr>
                <a:t>i</a:t>
              </a:r>
              <a:r>
                <a:rPr lang="en-CA" sz="2800" dirty="0">
                  <a:latin typeface="Consolas" panose="020B0609020204030204" pitchFamily="49" charset="0"/>
                </a:rPr>
                <a:t> in </a:t>
              </a:r>
              <a:r>
                <a:rPr lang="en-CA" sz="2800" b="1" dirty="0">
                  <a:solidFill>
                    <a:srgbClr val="00B050"/>
                  </a:solidFill>
                  <a:latin typeface="Consolas" panose="020B0609020204030204" pitchFamily="49" charset="0"/>
                </a:rPr>
                <a:t>range(3+1)</a:t>
              </a:r>
              <a:r>
                <a:rPr lang="en-CA" sz="2800" dirty="0">
                  <a:latin typeface="Consolas" panose="020B0609020204030204" pitchFamily="49" charset="0"/>
                </a:rPr>
                <a:t>:</a:t>
              </a:r>
            </a:p>
            <a:p>
              <a:r>
                <a:rPr lang="en-CA" sz="2800" dirty="0">
                  <a:latin typeface="Consolas" panose="020B0609020204030204" pitchFamily="49" charset="0"/>
                </a:rPr>
                <a:t>    print(</a:t>
              </a:r>
              <a:r>
                <a:rPr lang="en-CA" sz="2800" dirty="0" err="1">
                  <a:latin typeface="Consolas" panose="020B0609020204030204" pitchFamily="49" charset="0"/>
                </a:rPr>
                <a:t>i</a:t>
              </a:r>
              <a:r>
                <a:rPr lang="en-CA" sz="2800" dirty="0">
                  <a:latin typeface="Consolas" panose="020B0609020204030204" pitchFamily="49" charset="0"/>
                </a:rPr>
                <a:t>)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B0EF7FE-C984-B47B-E891-AFC40AB98A0D}"/>
                </a:ext>
              </a:extLst>
            </p:cNvPr>
            <p:cNvGrpSpPr/>
            <p:nvPr/>
          </p:nvGrpSpPr>
          <p:grpSpPr>
            <a:xfrm>
              <a:off x="7091539" y="4051112"/>
              <a:ext cx="4543617" cy="954107"/>
              <a:chOff x="7091539" y="4051112"/>
              <a:chExt cx="4543617" cy="954107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360E48-CA7D-6CCD-1AA7-E273EE842938}"/>
                  </a:ext>
                </a:extLst>
              </p:cNvPr>
              <p:cNvSpPr txBox="1"/>
              <p:nvPr/>
            </p:nvSpPr>
            <p:spPr>
              <a:xfrm>
                <a:off x="7091539" y="4051112"/>
                <a:ext cx="4543617" cy="95410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sz="2800" dirty="0">
                    <a:latin typeface="Consolas" panose="020B0609020204030204" pitchFamily="49" charset="0"/>
                  </a:rPr>
                  <a:t>for </a:t>
                </a:r>
                <a:r>
                  <a:rPr lang="en-CA" sz="2800" dirty="0" err="1">
                    <a:latin typeface="Consolas" panose="020B0609020204030204" pitchFamily="49" charset="0"/>
                  </a:rPr>
                  <a:t>i</a:t>
                </a:r>
                <a:r>
                  <a:rPr lang="en-CA" sz="2800" dirty="0">
                    <a:latin typeface="Consolas" panose="020B0609020204030204" pitchFamily="49" charset="0"/>
                  </a:rPr>
                  <a:t> in </a:t>
                </a:r>
                <a:r>
                  <a:rPr lang="en-CA" sz="2800" b="1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range(5, 9)</a:t>
                </a:r>
                <a:r>
                  <a:rPr lang="en-CA" sz="2800" dirty="0">
                    <a:latin typeface="Consolas" panose="020B0609020204030204" pitchFamily="49" charset="0"/>
                  </a:rPr>
                  <a:t>:</a:t>
                </a:r>
              </a:p>
              <a:p>
                <a:r>
                  <a:rPr lang="en-CA" sz="2800" dirty="0">
                    <a:latin typeface="Consolas" panose="020B0609020204030204" pitchFamily="49" charset="0"/>
                  </a:rPr>
                  <a:t>    print(i-5)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698A0B-E6B8-FBC0-EBC2-DC53C56EEDB2}"/>
                  </a:ext>
                </a:extLst>
              </p:cNvPr>
              <p:cNvSpPr txBox="1"/>
              <p:nvPr/>
            </p:nvSpPr>
            <p:spPr>
              <a:xfrm>
                <a:off x="10129370" y="4541872"/>
                <a:ext cx="13035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b="1" dirty="0" err="1">
                    <a:solidFill>
                      <a:srgbClr val="00B050"/>
                    </a:solidFill>
                  </a:rPr>
                  <a:t>i</a:t>
                </a:r>
                <a:r>
                  <a:rPr lang="en-CA" b="1" dirty="0">
                    <a:solidFill>
                      <a:srgbClr val="00B050"/>
                    </a:solidFill>
                  </a:rPr>
                  <a:t> = 5, 6, 7, 8</a:t>
                </a:r>
                <a:endParaRPr lang="en-AU" b="1" dirty="0">
                  <a:solidFill>
                    <a:srgbClr val="00B050"/>
                  </a:solidFill>
                </a:endParaRPr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8980C93-15F7-BBF3-055E-38AE77ED3433}"/>
              </a:ext>
            </a:extLst>
          </p:cNvPr>
          <p:cNvSpPr txBox="1"/>
          <p:nvPr/>
        </p:nvSpPr>
        <p:spPr>
          <a:xfrm>
            <a:off x="713334" y="176389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Loops in green boxes all print the same thing.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58484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for j in range(2):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    print('*', end='')</a:t>
            </a:r>
            <a:br>
              <a:rPr lang="en-CA" sz="2800" dirty="0">
                <a:latin typeface="Consolas" panose="020B0609020204030204" pitchFamily="49" charset="0"/>
              </a:rPr>
            </a:br>
            <a:r>
              <a:rPr lang="en-CA" sz="2800" dirty="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E26D55-8088-4975-72FE-75C57724F5E2}"/>
              </a:ext>
            </a:extLst>
          </p:cNvPr>
          <p:cNvSpPr txBox="1"/>
          <p:nvPr/>
        </p:nvSpPr>
        <p:spPr>
          <a:xfrm>
            <a:off x="1108188" y="1439018"/>
            <a:ext cx="2638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What does this print?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32915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3BA45-181E-B689-0BD2-78684E165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5EEE1-DAC1-8F3C-C2EE-40C6ED0C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87C0A-4645-80E0-144D-222B5BF3E386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F1BFBB-D7E5-91C1-EF9F-3576284E0FFD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for j in range(2):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    print('*', end='')</a:t>
            </a:r>
            <a:br>
              <a:rPr lang="en-CA" sz="2800" dirty="0">
                <a:latin typeface="Consolas" panose="020B0609020204030204" pitchFamily="49" charset="0"/>
              </a:rPr>
            </a:br>
            <a:r>
              <a:rPr lang="en-CA" sz="2800" dirty="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0C99E8-4CF9-AC8A-A429-787897F5A858}"/>
              </a:ext>
            </a:extLst>
          </p:cNvPr>
          <p:cNvSpPr txBox="1"/>
          <p:nvPr/>
        </p:nvSpPr>
        <p:spPr>
          <a:xfrm>
            <a:off x="1108188" y="1439018"/>
            <a:ext cx="2638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What does this print?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53C44-B34B-B167-98ED-80E1380B9EA8}"/>
              </a:ext>
            </a:extLst>
          </p:cNvPr>
          <p:cNvSpPr txBox="1"/>
          <p:nvPr/>
        </p:nvSpPr>
        <p:spPr>
          <a:xfrm>
            <a:off x="6663860" y="1808350"/>
            <a:ext cx="26389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causes the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/>
              <a:t> statement to </a:t>
            </a:r>
            <a:r>
              <a:rPr lang="en-CA" b="1" dirty="0"/>
              <a:t>not</a:t>
            </a:r>
            <a:r>
              <a:rPr lang="en-CA" dirty="0"/>
              <a:t> put a newline at the end.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1CA12A-7BBE-AD2D-4BAD-BA366A9D061B}"/>
              </a:ext>
            </a:extLst>
          </p:cNvPr>
          <p:cNvSpPr/>
          <p:nvPr/>
        </p:nvSpPr>
        <p:spPr>
          <a:xfrm>
            <a:off x="4941787" y="3254463"/>
            <a:ext cx="125119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54D28B-C600-284A-B939-422DD2B886C6}"/>
              </a:ext>
            </a:extLst>
          </p:cNvPr>
          <p:cNvCxnSpPr>
            <a:cxnSpLocks/>
          </p:cNvCxnSpPr>
          <p:nvPr/>
        </p:nvCxnSpPr>
        <p:spPr>
          <a:xfrm flipH="1">
            <a:off x="6192982" y="2731680"/>
            <a:ext cx="470878" cy="522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4F18F7-A10D-BBB6-1F99-EE0EC08EA377}"/>
              </a:ext>
            </a:extLst>
          </p:cNvPr>
          <p:cNvSpPr txBox="1"/>
          <p:nvPr/>
        </p:nvSpPr>
        <p:spPr>
          <a:xfrm>
            <a:off x="4024866" y="4500521"/>
            <a:ext cx="2638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Prints just a newline.</a:t>
            </a:r>
            <a:endParaRPr lang="en-A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9AED8B-D05D-C0B6-D54F-137788D7015C}"/>
              </a:ext>
            </a:extLst>
          </p:cNvPr>
          <p:cNvSpPr/>
          <p:nvPr/>
        </p:nvSpPr>
        <p:spPr>
          <a:xfrm>
            <a:off x="2039260" y="3709634"/>
            <a:ext cx="142091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36CE50-BDF9-F858-80B7-1D66C621E69A}"/>
              </a:ext>
            </a:extLst>
          </p:cNvPr>
          <p:cNvCxnSpPr>
            <a:cxnSpLocks/>
          </p:cNvCxnSpPr>
          <p:nvPr/>
        </p:nvCxnSpPr>
        <p:spPr>
          <a:xfrm flipH="1" flipV="1">
            <a:off x="3460173" y="4162404"/>
            <a:ext cx="564693" cy="338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2138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287093" y="2551837"/>
            <a:ext cx="61740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rgbClr val="FF0000"/>
                </a:solidFill>
              </a:rPr>
              <a:t>**</a:t>
            </a:r>
          </a:p>
          <a:p>
            <a:r>
              <a:rPr lang="en-CA" sz="3600" dirty="0">
                <a:solidFill>
                  <a:srgbClr val="FF0000"/>
                </a:solidFill>
              </a:rPr>
              <a:t>**</a:t>
            </a:r>
          </a:p>
          <a:p>
            <a:r>
              <a:rPr lang="en-CA" sz="3600" dirty="0">
                <a:solidFill>
                  <a:srgbClr val="FF0000"/>
                </a:solidFill>
              </a:rPr>
              <a:t>**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for j in range(2):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    print('*', end='')</a:t>
            </a:r>
            <a:br>
              <a:rPr lang="en-CA" sz="2800" dirty="0">
                <a:latin typeface="Consolas" panose="020B0609020204030204" pitchFamily="49" charset="0"/>
              </a:rPr>
            </a:br>
            <a:r>
              <a:rPr lang="en-CA" sz="2800" dirty="0">
                <a:latin typeface="Consolas" panose="020B0609020204030204" pitchFamily="49" charset="0"/>
              </a:rPr>
              <a:t>    print()</a:t>
            </a:r>
          </a:p>
        </p:txBody>
      </p:sp>
    </p:spTree>
    <p:extLst>
      <p:ext uri="{BB962C8B-B14F-4D97-AF65-F5344CB8AC3E}">
        <p14:creationId xmlns:p14="http://schemas.microsoft.com/office/powerpoint/2010/main" val="15343708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287093" y="2551837"/>
            <a:ext cx="61740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3600" dirty="0"/>
              <a:t>**</a:t>
            </a:r>
          </a:p>
          <a:p>
            <a:r>
              <a:rPr lang="en-CA" sz="3600" dirty="0"/>
              <a:t>**</a:t>
            </a:r>
          </a:p>
          <a:p>
            <a:r>
              <a:rPr lang="en-CA" sz="3600" dirty="0"/>
              <a:t>**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for j in range(2):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    print('*', end='')</a:t>
            </a:r>
            <a:br>
              <a:rPr lang="en-CA" sz="2800" dirty="0">
                <a:latin typeface="Consolas" panose="020B0609020204030204" pitchFamily="49" charset="0"/>
              </a:rPr>
            </a:br>
            <a:r>
              <a:rPr lang="en-CA" sz="2800" dirty="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339A5C-CD5E-C63B-CB42-E51F4C4C9D38}"/>
              </a:ext>
            </a:extLst>
          </p:cNvPr>
          <p:cNvSpPr txBox="1"/>
          <p:nvPr/>
        </p:nvSpPr>
        <p:spPr>
          <a:xfrm>
            <a:off x="7216141" y="76250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range(2):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BAC03-E02D-738A-7E79-869DE20A1543}"/>
              </a:ext>
            </a:extLst>
          </p:cNvPr>
          <p:cNvSpPr txBox="1"/>
          <p:nvPr/>
        </p:nvSpPr>
        <p:spPr>
          <a:xfrm>
            <a:off x="7216141" y="254298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range(2):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266917-8A66-5CBA-BD59-705FEAF3DF08}"/>
              </a:ext>
            </a:extLst>
          </p:cNvPr>
          <p:cNvSpPr txBox="1"/>
          <p:nvPr/>
        </p:nvSpPr>
        <p:spPr>
          <a:xfrm>
            <a:off x="7216141" y="432346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range(2):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BEAF719F-1CB6-7CAF-179B-220C65D22F5E}"/>
              </a:ext>
            </a:extLst>
          </p:cNvPr>
          <p:cNvSpPr/>
          <p:nvPr/>
        </p:nvSpPr>
        <p:spPr>
          <a:xfrm>
            <a:off x="6493971" y="850790"/>
            <a:ext cx="683812" cy="4673000"/>
          </a:xfrm>
          <a:prstGeom prst="leftBrace">
            <a:avLst>
              <a:gd name="adj1" fmla="val 8333"/>
              <a:gd name="adj2" fmla="val 4914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A7CE99-766E-7773-4E98-0778E089E66B}"/>
              </a:ext>
            </a:extLst>
          </p:cNvPr>
          <p:cNvSpPr txBox="1"/>
          <p:nvPr/>
        </p:nvSpPr>
        <p:spPr>
          <a:xfrm>
            <a:off x="4264870" y="1136991"/>
            <a:ext cx="195472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outer loop repeats the inner loop three times.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66128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for j in range(</a:t>
            </a:r>
            <a:r>
              <a:rPr lang="en-CA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    print('*', end='')</a:t>
            </a:r>
            <a:br>
              <a:rPr lang="en-CA" sz="2800" dirty="0">
                <a:latin typeface="Consolas" panose="020B0609020204030204" pitchFamily="49" charset="0"/>
              </a:rPr>
            </a:br>
            <a:r>
              <a:rPr lang="en-CA" sz="2800" dirty="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750C07-B0EC-2D40-5323-A70FEFEFB89F}"/>
              </a:ext>
            </a:extLst>
          </p:cNvPr>
          <p:cNvSpPr txBox="1"/>
          <p:nvPr/>
        </p:nvSpPr>
        <p:spPr>
          <a:xfrm>
            <a:off x="3953143" y="898431"/>
            <a:ext cx="195472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We’ve replaced the 2 with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29B846-BB5C-7566-7683-35A0CA0417BA}"/>
              </a:ext>
            </a:extLst>
          </p:cNvPr>
          <p:cNvCxnSpPr>
            <a:stCxn id="2" idx="2"/>
          </p:cNvCxnSpPr>
          <p:nvPr/>
        </p:nvCxnSpPr>
        <p:spPr>
          <a:xfrm>
            <a:off x="4930507" y="1544762"/>
            <a:ext cx="181820" cy="1271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C0CAD86-E292-1BB2-6491-6A54D614B83F}"/>
              </a:ext>
            </a:extLst>
          </p:cNvPr>
          <p:cNvSpPr txBox="1"/>
          <p:nvPr/>
        </p:nvSpPr>
        <p:spPr>
          <a:xfrm>
            <a:off x="7216141" y="76250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CA" sz="24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EF6762-EEFE-BC55-98CA-EE4CF441DD11}"/>
              </a:ext>
            </a:extLst>
          </p:cNvPr>
          <p:cNvSpPr txBox="1"/>
          <p:nvPr/>
        </p:nvSpPr>
        <p:spPr>
          <a:xfrm>
            <a:off x="7216141" y="254298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CA" sz="24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C386E0-E69B-81F0-7A58-4706E19139EB}"/>
              </a:ext>
            </a:extLst>
          </p:cNvPr>
          <p:cNvSpPr txBox="1"/>
          <p:nvPr/>
        </p:nvSpPr>
        <p:spPr>
          <a:xfrm>
            <a:off x="7216141" y="432346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CA" sz="24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91A2D9BE-DC6B-C717-21F9-4CB3025BAD1B}"/>
              </a:ext>
            </a:extLst>
          </p:cNvPr>
          <p:cNvSpPr/>
          <p:nvPr/>
        </p:nvSpPr>
        <p:spPr>
          <a:xfrm>
            <a:off x="6493971" y="850790"/>
            <a:ext cx="683812" cy="4673000"/>
          </a:xfrm>
          <a:prstGeom prst="leftBrace">
            <a:avLst>
              <a:gd name="adj1" fmla="val 8333"/>
              <a:gd name="adj2" fmla="val 4914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D936B3-CB1A-3A13-9D86-F19170D34414}"/>
              </a:ext>
            </a:extLst>
          </p:cNvPr>
          <p:cNvSpPr txBox="1"/>
          <p:nvPr/>
        </p:nvSpPr>
        <p:spPr>
          <a:xfrm>
            <a:off x="9004836" y="5433020"/>
            <a:ext cx="195472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Each inner loop has a different range value.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66058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D488-0162-83DE-CEEC-8B3A5B4B5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EDE39-E91B-447B-120B-6CD5F83A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99371-B39E-F607-329D-E56573BE3190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Repeating </a:t>
            </a:r>
          </a:p>
          <a:p>
            <a:r>
              <a:rPr lang="en-CA" sz="3200" dirty="0"/>
              <a:t>with for-loops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2212F-03AC-2F1E-E2F0-84CA67CAF8AA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for j in range(</a:t>
            </a:r>
            <a:r>
              <a:rPr lang="en-CA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    print('*', end='')</a:t>
            </a:r>
            <a:br>
              <a:rPr lang="en-CA" sz="2800" dirty="0">
                <a:latin typeface="Consolas" panose="020B0609020204030204" pitchFamily="49" charset="0"/>
              </a:rPr>
            </a:br>
            <a:r>
              <a:rPr lang="en-CA" sz="2800" dirty="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42D440-FCB5-2D32-C1C0-9D17684E8200}"/>
              </a:ext>
            </a:extLst>
          </p:cNvPr>
          <p:cNvSpPr txBox="1"/>
          <p:nvPr/>
        </p:nvSpPr>
        <p:spPr>
          <a:xfrm>
            <a:off x="3953143" y="898431"/>
            <a:ext cx="195472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We’ve replaced the 2 with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6A2223-9C67-29D4-F6A8-CF500375C17D}"/>
              </a:ext>
            </a:extLst>
          </p:cNvPr>
          <p:cNvCxnSpPr>
            <a:stCxn id="2" idx="2"/>
          </p:cNvCxnSpPr>
          <p:nvPr/>
        </p:nvCxnSpPr>
        <p:spPr>
          <a:xfrm>
            <a:off x="4930507" y="1544762"/>
            <a:ext cx="181820" cy="1271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E362D2-9801-99AD-503B-14C0B798A619}"/>
              </a:ext>
            </a:extLst>
          </p:cNvPr>
          <p:cNvSpPr txBox="1"/>
          <p:nvPr/>
        </p:nvSpPr>
        <p:spPr>
          <a:xfrm>
            <a:off x="7216141" y="76250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CA" sz="24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5B0192-AED4-94DC-FB7A-70B19CE83398}"/>
              </a:ext>
            </a:extLst>
          </p:cNvPr>
          <p:cNvSpPr txBox="1"/>
          <p:nvPr/>
        </p:nvSpPr>
        <p:spPr>
          <a:xfrm>
            <a:off x="7216141" y="254298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CA" sz="24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62B867-D7B6-65C7-1DB0-ECC2002B1530}"/>
              </a:ext>
            </a:extLst>
          </p:cNvPr>
          <p:cNvSpPr txBox="1"/>
          <p:nvPr/>
        </p:nvSpPr>
        <p:spPr>
          <a:xfrm>
            <a:off x="7216141" y="432346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for j in range(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CA" sz="2400" dirty="0">
                <a:latin typeface="Consolas" panose="020B0609020204030204" pitchFamily="49" charset="0"/>
              </a:rPr>
              <a:t>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print('*', end='')</a:t>
            </a:r>
          </a:p>
          <a:p>
            <a:r>
              <a:rPr lang="en-CA" sz="2400" dirty="0"/>
              <a:t>print()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9B504AC9-E57E-FD2B-1ACA-74A21F9502F2}"/>
              </a:ext>
            </a:extLst>
          </p:cNvPr>
          <p:cNvSpPr/>
          <p:nvPr/>
        </p:nvSpPr>
        <p:spPr>
          <a:xfrm>
            <a:off x="6493971" y="850790"/>
            <a:ext cx="683812" cy="4673000"/>
          </a:xfrm>
          <a:prstGeom prst="leftBrace">
            <a:avLst>
              <a:gd name="adj1" fmla="val 8333"/>
              <a:gd name="adj2" fmla="val 4914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13F17F-38A8-0B67-996F-E7914C1BC61E}"/>
              </a:ext>
            </a:extLst>
          </p:cNvPr>
          <p:cNvSpPr txBox="1"/>
          <p:nvPr/>
        </p:nvSpPr>
        <p:spPr>
          <a:xfrm>
            <a:off x="9004836" y="5433020"/>
            <a:ext cx="195472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Each inner loop has a different range value.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65AA25-5D7A-A43E-106E-1562034FA29C}"/>
              </a:ext>
            </a:extLst>
          </p:cNvPr>
          <p:cNvSpPr txBox="1"/>
          <p:nvPr/>
        </p:nvSpPr>
        <p:spPr>
          <a:xfrm>
            <a:off x="287093" y="2551837"/>
            <a:ext cx="61740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CA" sz="3600" dirty="0"/>
          </a:p>
          <a:p>
            <a:r>
              <a:rPr lang="en-CA" sz="3600" dirty="0">
                <a:solidFill>
                  <a:srgbClr val="FF0000"/>
                </a:solidFill>
              </a:rPr>
              <a:t>*</a:t>
            </a:r>
          </a:p>
          <a:p>
            <a:r>
              <a:rPr lang="en-CA" sz="3600" dirty="0">
                <a:solidFill>
                  <a:srgbClr val="FF0000"/>
                </a:solidFill>
              </a:rPr>
              <a:t>**</a:t>
            </a:r>
          </a:p>
        </p:txBody>
      </p:sp>
    </p:spTree>
    <p:extLst>
      <p:ext uri="{BB962C8B-B14F-4D97-AF65-F5344CB8AC3E}">
        <p14:creationId xmlns:p14="http://schemas.microsoft.com/office/powerpoint/2010/main" val="2888718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C9C6-0194-A730-5135-8E24D2D9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Example: Multiplication Table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67787-D5EB-D296-A43B-EE6D0E70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49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1AF5C-AC56-38AE-4ED9-81EA0DA5D37E}"/>
              </a:ext>
            </a:extLst>
          </p:cNvPr>
          <p:cNvSpPr txBox="1"/>
          <p:nvPr/>
        </p:nvSpPr>
        <p:spPr>
          <a:xfrm>
            <a:off x="3302245" y="2169248"/>
            <a:ext cx="6097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Consolas" panose="020B0609020204030204" pitchFamily="49" charset="0"/>
              </a:rPr>
              <a:t>       1   2   3   4   5   6   7   8   9  10 </a:t>
            </a:r>
          </a:p>
          <a:p>
            <a:r>
              <a:rPr lang="en-AU" dirty="0">
                <a:latin typeface="Consolas" panose="020B0609020204030204" pitchFamily="49" charset="0"/>
              </a:rPr>
              <a:t>     ----------------------------------------</a:t>
            </a:r>
          </a:p>
          <a:p>
            <a:r>
              <a:rPr lang="en-AU" dirty="0">
                <a:latin typeface="Consolas" panose="020B0609020204030204" pitchFamily="49" charset="0"/>
              </a:rPr>
              <a:t>  1 |  1   2   3   4   5   6   7   8   9  10 </a:t>
            </a:r>
          </a:p>
          <a:p>
            <a:r>
              <a:rPr lang="en-AU" dirty="0">
                <a:latin typeface="Consolas" panose="020B0609020204030204" pitchFamily="49" charset="0"/>
              </a:rPr>
              <a:t>  2 |  2   4   6   8  10  12  14  16  18  20 </a:t>
            </a:r>
          </a:p>
          <a:p>
            <a:r>
              <a:rPr lang="en-AU" dirty="0">
                <a:latin typeface="Consolas" panose="020B0609020204030204" pitchFamily="49" charset="0"/>
              </a:rPr>
              <a:t>  3 |  3   6   9  12  15  18  21  24  27  30 </a:t>
            </a:r>
          </a:p>
          <a:p>
            <a:r>
              <a:rPr lang="en-AU" dirty="0">
                <a:latin typeface="Consolas" panose="020B0609020204030204" pitchFamily="49" charset="0"/>
              </a:rPr>
              <a:t>  4 |  4   8  12  16  20  24  28  32  36  40 </a:t>
            </a:r>
          </a:p>
          <a:p>
            <a:r>
              <a:rPr lang="en-AU" dirty="0">
                <a:latin typeface="Consolas" panose="020B0609020204030204" pitchFamily="49" charset="0"/>
              </a:rPr>
              <a:t>  5 |  5  10  15  20  25  30  35  40  45  50 </a:t>
            </a:r>
          </a:p>
          <a:p>
            <a:r>
              <a:rPr lang="en-AU" dirty="0">
                <a:latin typeface="Consolas" panose="020B0609020204030204" pitchFamily="49" charset="0"/>
              </a:rPr>
              <a:t>  6 |  6  12  18  24  30  36  42  48  54  60 </a:t>
            </a:r>
          </a:p>
          <a:p>
            <a:r>
              <a:rPr lang="en-AU" dirty="0">
                <a:latin typeface="Consolas" panose="020B0609020204030204" pitchFamily="49" charset="0"/>
              </a:rPr>
              <a:t>  7 |  7  14  21  28  35  42  49  56  63  70 </a:t>
            </a:r>
          </a:p>
          <a:p>
            <a:r>
              <a:rPr lang="en-AU" dirty="0">
                <a:latin typeface="Consolas" panose="020B0609020204030204" pitchFamily="49" charset="0"/>
              </a:rPr>
              <a:t>  8 |  8  16  24  32  40  48  56  64  72  80 </a:t>
            </a:r>
          </a:p>
          <a:p>
            <a:r>
              <a:rPr lang="en-AU" dirty="0">
                <a:latin typeface="Consolas" panose="020B0609020204030204" pitchFamily="49" charset="0"/>
              </a:rPr>
              <a:t>  9 |  9  18  27  36  45  54  63  72  81  90 </a:t>
            </a:r>
          </a:p>
          <a:p>
            <a:r>
              <a:rPr lang="en-AU" dirty="0">
                <a:latin typeface="Consolas" panose="020B0609020204030204" pitchFamily="49" charset="0"/>
              </a:rPr>
              <a:t> 10 | 10  20  30  40  50  60  70  80  90 100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4B63D5-E2DE-22B4-9A5D-F5B3861B5FD6}"/>
              </a:ext>
            </a:extLst>
          </p:cNvPr>
          <p:cNvSpPr txBox="1"/>
          <p:nvPr/>
        </p:nvSpPr>
        <p:spPr>
          <a:xfrm>
            <a:off x="472318" y="1542706"/>
            <a:ext cx="244672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As practice with for-loops, lets build a program that prints a multiplication table like this …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270752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5782</TotalTime>
  <Words>4420</Words>
  <Application>Microsoft Macintosh PowerPoint</Application>
  <PresentationFormat>Widescreen</PresentationFormat>
  <Paragraphs>626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Aptos</vt:lpstr>
      <vt:lpstr>Aptos Display</vt:lpstr>
      <vt:lpstr>Arial</vt:lpstr>
      <vt:lpstr>Consolas</vt:lpstr>
      <vt:lpstr>Office Theme</vt:lpstr>
      <vt:lpstr>Chapter 3 Functions (and simple loops)</vt:lpstr>
      <vt:lpstr>Functions </vt:lpstr>
      <vt:lpstr>Functions </vt:lpstr>
      <vt:lpstr>Functions </vt:lpstr>
      <vt:lpstr>Defining New Functions</vt:lpstr>
      <vt:lpstr>Defining New Functions</vt:lpstr>
      <vt:lpstr>Defining New Functions</vt:lpstr>
      <vt:lpstr>Defining New Functions</vt:lpstr>
      <vt:lpstr>Defining New Functions</vt:lpstr>
      <vt:lpstr>Defining New Functions</vt:lpstr>
      <vt:lpstr>Defining New Functions</vt:lpstr>
      <vt:lpstr>Defining New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Multiplication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2024-09-23T20:53:52Z</cp:lastPrinted>
  <dcterms:created xsi:type="dcterms:W3CDTF">2024-09-15T21:36:40Z</dcterms:created>
  <dcterms:modified xsi:type="dcterms:W3CDTF">2026-01-26T04:34:22Z</dcterms:modified>
</cp:coreProperties>
</file>