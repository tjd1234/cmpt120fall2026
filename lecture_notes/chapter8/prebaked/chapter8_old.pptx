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4"/>
  </p:notesMasterIdLst>
  <p:sldIdLst>
    <p:sldId id="298" r:id="rId2"/>
    <p:sldId id="297" r:id="rId3"/>
    <p:sldId id="367" r:id="rId4"/>
    <p:sldId id="368" r:id="rId5"/>
    <p:sldId id="366" r:id="rId6"/>
    <p:sldId id="352" r:id="rId7"/>
    <p:sldId id="300" r:id="rId8"/>
    <p:sldId id="302" r:id="rId9"/>
    <p:sldId id="303" r:id="rId10"/>
    <p:sldId id="304" r:id="rId11"/>
    <p:sldId id="305" r:id="rId12"/>
    <p:sldId id="307" r:id="rId13"/>
    <p:sldId id="369" r:id="rId14"/>
    <p:sldId id="370" r:id="rId15"/>
    <p:sldId id="308" r:id="rId16"/>
    <p:sldId id="301" r:id="rId17"/>
    <p:sldId id="310" r:id="rId18"/>
    <p:sldId id="309" r:id="rId19"/>
    <p:sldId id="311" r:id="rId20"/>
    <p:sldId id="312" r:id="rId21"/>
    <p:sldId id="313" r:id="rId22"/>
    <p:sldId id="315" r:id="rId23"/>
    <p:sldId id="314" r:id="rId24"/>
    <p:sldId id="316" r:id="rId25"/>
    <p:sldId id="317" r:id="rId26"/>
    <p:sldId id="318" r:id="rId27"/>
    <p:sldId id="319" r:id="rId28"/>
    <p:sldId id="320" r:id="rId29"/>
    <p:sldId id="327" r:id="rId30"/>
    <p:sldId id="328" r:id="rId31"/>
    <p:sldId id="330" r:id="rId32"/>
    <p:sldId id="331" r:id="rId33"/>
    <p:sldId id="332" r:id="rId34"/>
    <p:sldId id="299" r:id="rId35"/>
    <p:sldId id="353" r:id="rId36"/>
    <p:sldId id="354" r:id="rId37"/>
    <p:sldId id="355" r:id="rId38"/>
    <p:sldId id="335" r:id="rId39"/>
    <p:sldId id="337" r:id="rId40"/>
    <p:sldId id="336" r:id="rId41"/>
    <p:sldId id="333" r:id="rId42"/>
    <p:sldId id="356" r:id="rId43"/>
    <p:sldId id="339" r:id="rId44"/>
    <p:sldId id="341" r:id="rId45"/>
    <p:sldId id="342" r:id="rId46"/>
    <p:sldId id="338" r:id="rId47"/>
    <p:sldId id="359" r:id="rId48"/>
    <p:sldId id="360" r:id="rId49"/>
    <p:sldId id="358" r:id="rId50"/>
    <p:sldId id="357" r:id="rId51"/>
    <p:sldId id="344" r:id="rId52"/>
    <p:sldId id="345" r:id="rId53"/>
    <p:sldId id="346" r:id="rId54"/>
    <p:sldId id="347" r:id="rId55"/>
    <p:sldId id="348" r:id="rId56"/>
    <p:sldId id="343" r:id="rId57"/>
    <p:sldId id="350" r:id="rId58"/>
    <p:sldId id="351" r:id="rId59"/>
    <p:sldId id="361" r:id="rId60"/>
    <p:sldId id="363" r:id="rId61"/>
    <p:sldId id="364" r:id="rId62"/>
    <p:sldId id="365" r:id="rId6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2B4833-AA62-4C40-A7F5-4FBAE7BB0C34}">
          <p14:sldIdLst>
            <p14:sldId id="298"/>
          </p14:sldIdLst>
        </p14:section>
        <p14:section name="Strings" id="{0CC4E389-741B-4EE3-8E10-19599342F38C}">
          <p14:sldIdLst>
            <p14:sldId id="297"/>
            <p14:sldId id="367"/>
            <p14:sldId id="368"/>
            <p14:sldId id="366"/>
            <p14:sldId id="352"/>
            <p14:sldId id="300"/>
            <p14:sldId id="302"/>
            <p14:sldId id="303"/>
            <p14:sldId id="304"/>
            <p14:sldId id="305"/>
            <p14:sldId id="307"/>
            <p14:sldId id="369"/>
            <p14:sldId id="370"/>
            <p14:sldId id="308"/>
            <p14:sldId id="301"/>
            <p14:sldId id="310"/>
            <p14:sldId id="309"/>
            <p14:sldId id="311"/>
            <p14:sldId id="312"/>
            <p14:sldId id="313"/>
            <p14:sldId id="315"/>
            <p14:sldId id="314"/>
            <p14:sldId id="316"/>
            <p14:sldId id="317"/>
          </p14:sldIdLst>
        </p14:section>
        <p14:section name="Negative Indexing" id="{D2B769F5-99ED-4AE7-8414-ADEE9B29FA63}">
          <p14:sldIdLst>
            <p14:sldId id="318"/>
            <p14:sldId id="319"/>
            <p14:sldId id="320"/>
            <p14:sldId id="327"/>
            <p14:sldId id="328"/>
            <p14:sldId id="330"/>
            <p14:sldId id="331"/>
            <p14:sldId id="332"/>
          </p14:sldIdLst>
        </p14:section>
        <p14:section name="String Slices" id="{B64209AF-0794-42C6-BE0B-02AF7475655D}">
          <p14:sldIdLst>
            <p14:sldId id="299"/>
            <p14:sldId id="353"/>
            <p14:sldId id="354"/>
            <p14:sldId id="355"/>
            <p14:sldId id="335"/>
            <p14:sldId id="337"/>
            <p14:sldId id="336"/>
          </p14:sldIdLst>
        </p14:section>
        <p14:section name="Immutability" id="{B801EAF7-AB78-4CA9-8690-4CBFCE7B407C}">
          <p14:sldIdLst>
            <p14:sldId id="333"/>
            <p14:sldId id="356"/>
            <p14:sldId id="339"/>
            <p14:sldId id="341"/>
            <p14:sldId id="342"/>
            <p14:sldId id="338"/>
            <p14:sldId id="359"/>
            <p14:sldId id="360"/>
            <p14:sldId id="358"/>
          </p14:sldIdLst>
        </p14:section>
        <p14:section name="Comparing Strings" id="{395D4AA4-3A0C-420C-BFB2-02877431343A}">
          <p14:sldIdLst>
            <p14:sldId id="357"/>
            <p14:sldId id="344"/>
            <p14:sldId id="345"/>
            <p14:sldId id="346"/>
            <p14:sldId id="347"/>
            <p14:sldId id="348"/>
            <p14:sldId id="343"/>
            <p14:sldId id="350"/>
            <p14:sldId id="351"/>
          </p14:sldIdLst>
        </p14:section>
        <p14:section name="Writing to Text Files" id="{604C241A-07E9-4F04-BE23-4B16B0FCA923}">
          <p14:sldIdLst>
            <p14:sldId id="361"/>
            <p14:sldId id="363"/>
            <p14:sldId id="364"/>
            <p14:sldId id="3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991A7B-8234-5A4C-BEE5-B27F4A3AF727}" v="5" dt="2026-02-28T03:54:42.6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6278" autoAdjust="0"/>
  </p:normalViewPr>
  <p:slideViewPr>
    <p:cSldViewPr snapToGrid="0">
      <p:cViewPr varScale="1">
        <p:scale>
          <a:sx n="147" d="100"/>
          <a:sy n="147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modSection">
      <pc:chgData name="Toby Donaldson" userId="2e6e5431-bb17-4c41-9985-d39c50d83c73" providerId="ADAL" clId="{F31BC264-820E-54C4-A6D1-F92AF9CC222E}" dt="2026-02-28T19:47:38.480" v="271" actId="2696"/>
      <pc:docMkLst>
        <pc:docMk/>
      </pc:docMkLst>
      <pc:sldChg chg="addSp delSp modSp mod">
        <pc:chgData name="Toby Donaldson" userId="2e6e5431-bb17-4c41-9985-d39c50d83c73" providerId="ADAL" clId="{F31BC264-820E-54C4-A6D1-F92AF9CC222E}" dt="2026-02-28T03:47:08.445" v="48" actId="21"/>
        <pc:sldMkLst>
          <pc:docMk/>
          <pc:sldMk cId="3108921986" sldId="297"/>
        </pc:sldMkLst>
        <pc:spChg chg="add mod">
          <ac:chgData name="Toby Donaldson" userId="2e6e5431-bb17-4c41-9985-d39c50d83c73" providerId="ADAL" clId="{F31BC264-820E-54C4-A6D1-F92AF9CC222E}" dt="2026-02-28T03:46:52.832" v="45" actId="1076"/>
          <ac:spMkLst>
            <pc:docMk/>
            <pc:sldMk cId="3108921986" sldId="297"/>
            <ac:spMk id="2" creationId="{74120ACA-727E-B68B-CAE8-1823B5A2BAE1}"/>
          </ac:spMkLst>
        </pc:spChg>
        <pc:spChg chg="del">
          <ac:chgData name="Toby Donaldson" userId="2e6e5431-bb17-4c41-9985-d39c50d83c73" providerId="ADAL" clId="{F31BC264-820E-54C4-A6D1-F92AF9CC222E}" dt="2026-02-28T03:47:08.445" v="48" actId="21"/>
          <ac:spMkLst>
            <pc:docMk/>
            <pc:sldMk cId="3108921986" sldId="297"/>
            <ac:spMk id="10" creationId="{08005E07-6728-1669-553A-1D05E4709E6B}"/>
          </ac:spMkLst>
        </pc:spChg>
        <pc:spChg chg="del">
          <ac:chgData name="Toby Donaldson" userId="2e6e5431-bb17-4c41-9985-d39c50d83c73" providerId="ADAL" clId="{F31BC264-820E-54C4-A6D1-F92AF9CC222E}" dt="2026-02-28T03:47:08.445" v="48" actId="21"/>
          <ac:spMkLst>
            <pc:docMk/>
            <pc:sldMk cId="3108921986" sldId="297"/>
            <ac:spMk id="11" creationId="{6FE9185B-1DD9-E60F-60D4-326ACE64B77E}"/>
          </ac:spMkLst>
        </pc:spChg>
        <pc:spChg chg="del">
          <ac:chgData name="Toby Donaldson" userId="2e6e5431-bb17-4c41-9985-d39c50d83c73" providerId="ADAL" clId="{F31BC264-820E-54C4-A6D1-F92AF9CC222E}" dt="2026-02-28T03:46:23.881" v="15" actId="21"/>
          <ac:spMkLst>
            <pc:docMk/>
            <pc:sldMk cId="3108921986" sldId="297"/>
            <ac:spMk id="16" creationId="{0D472E8E-1529-AD09-DACE-002A79E6E2F3}"/>
          </ac:spMkLst>
        </pc:spChg>
        <pc:picChg chg="del">
          <ac:chgData name="Toby Donaldson" userId="2e6e5431-bb17-4c41-9985-d39c50d83c73" providerId="ADAL" clId="{F31BC264-820E-54C4-A6D1-F92AF9CC222E}" dt="2026-02-28T03:47:08.445" v="48" actId="21"/>
          <ac:picMkLst>
            <pc:docMk/>
            <pc:sldMk cId="3108921986" sldId="297"/>
            <ac:picMk id="1026" creationId="{9CE3234A-2E95-CBCC-2762-27882E629C29}"/>
          </ac:picMkLst>
        </pc:picChg>
        <pc:picChg chg="del">
          <ac:chgData name="Toby Donaldson" userId="2e6e5431-bb17-4c41-9985-d39c50d83c73" providerId="ADAL" clId="{F31BC264-820E-54C4-A6D1-F92AF9CC222E}" dt="2026-02-28T03:47:08.445" v="48" actId="21"/>
          <ac:picMkLst>
            <pc:docMk/>
            <pc:sldMk cId="3108921986" sldId="297"/>
            <ac:picMk id="1028" creationId="{FC260E1D-3B39-2036-CAB3-DE8ED9DD98B6}"/>
          </ac:picMkLst>
        </pc:picChg>
      </pc:sldChg>
      <pc:sldChg chg="modSp mod">
        <pc:chgData name="Toby Donaldson" userId="2e6e5431-bb17-4c41-9985-d39c50d83c73" providerId="ADAL" clId="{F31BC264-820E-54C4-A6D1-F92AF9CC222E}" dt="2026-02-28T03:48:30.070" v="58" actId="113"/>
        <pc:sldMkLst>
          <pc:docMk/>
          <pc:sldMk cId="1682139714" sldId="303"/>
        </pc:sldMkLst>
        <pc:spChg chg="mod">
          <ac:chgData name="Toby Donaldson" userId="2e6e5431-bb17-4c41-9985-d39c50d83c73" providerId="ADAL" clId="{F31BC264-820E-54C4-A6D1-F92AF9CC222E}" dt="2026-02-28T03:48:30.070" v="58" actId="113"/>
          <ac:spMkLst>
            <pc:docMk/>
            <pc:sldMk cId="1682139714" sldId="303"/>
            <ac:spMk id="6" creationId="{011295CF-3C01-2AA1-8991-F79A747E7C4A}"/>
          </ac:spMkLst>
        </pc:spChg>
      </pc:sldChg>
      <pc:sldChg chg="modSp mod">
        <pc:chgData name="Toby Donaldson" userId="2e6e5431-bb17-4c41-9985-d39c50d83c73" providerId="ADAL" clId="{F31BC264-820E-54C4-A6D1-F92AF9CC222E}" dt="2026-02-28T03:50:23.355" v="85" actId="20577"/>
        <pc:sldMkLst>
          <pc:docMk/>
          <pc:sldMk cId="747596697" sldId="305"/>
        </pc:sldMkLst>
        <pc:spChg chg="mod">
          <ac:chgData name="Toby Donaldson" userId="2e6e5431-bb17-4c41-9985-d39c50d83c73" providerId="ADAL" clId="{F31BC264-820E-54C4-A6D1-F92AF9CC222E}" dt="2026-02-28T03:50:04.946" v="69" actId="20577"/>
          <ac:spMkLst>
            <pc:docMk/>
            <pc:sldMk cId="747596697" sldId="305"/>
            <ac:spMk id="17" creationId="{3F1C5908-2F57-0F7D-EDE5-E2E8A868C436}"/>
          </ac:spMkLst>
        </pc:spChg>
        <pc:spChg chg="mod">
          <ac:chgData name="Toby Donaldson" userId="2e6e5431-bb17-4c41-9985-d39c50d83c73" providerId="ADAL" clId="{F31BC264-820E-54C4-A6D1-F92AF9CC222E}" dt="2026-02-28T03:50:15.391" v="78" actId="20577"/>
          <ac:spMkLst>
            <pc:docMk/>
            <pc:sldMk cId="747596697" sldId="305"/>
            <ac:spMk id="18" creationId="{A867A199-CFC4-7DC6-67F0-CD58CF8F658E}"/>
          </ac:spMkLst>
        </pc:spChg>
        <pc:spChg chg="mod">
          <ac:chgData name="Toby Donaldson" userId="2e6e5431-bb17-4c41-9985-d39c50d83c73" providerId="ADAL" clId="{F31BC264-820E-54C4-A6D1-F92AF9CC222E}" dt="2026-02-28T03:50:23.355" v="85" actId="20577"/>
          <ac:spMkLst>
            <pc:docMk/>
            <pc:sldMk cId="747596697" sldId="305"/>
            <ac:spMk id="19" creationId="{BCB64875-D7AF-B596-3FBE-7BC70FBCE6AD}"/>
          </ac:spMkLst>
        </pc:spChg>
        <pc:cxnChg chg="mod">
          <ac:chgData name="Toby Donaldson" userId="2e6e5431-bb17-4c41-9985-d39c50d83c73" providerId="ADAL" clId="{F31BC264-820E-54C4-A6D1-F92AF9CC222E}" dt="2026-02-28T03:49:30.825" v="60" actId="14100"/>
          <ac:cxnSpMkLst>
            <pc:docMk/>
            <pc:sldMk cId="747596697" sldId="305"/>
            <ac:cxnSpMk id="15" creationId="{9DF028CD-9905-DC70-3F90-9628825EDE75}"/>
          </ac:cxnSpMkLst>
        </pc:cxnChg>
      </pc:sldChg>
      <pc:sldChg chg="modSp mod">
        <pc:chgData name="Toby Donaldson" userId="2e6e5431-bb17-4c41-9985-d39c50d83c73" providerId="ADAL" clId="{F31BC264-820E-54C4-A6D1-F92AF9CC222E}" dt="2026-02-28T03:51:02.604" v="130" actId="20577"/>
        <pc:sldMkLst>
          <pc:docMk/>
          <pc:sldMk cId="1743394338" sldId="307"/>
        </pc:sldMkLst>
        <pc:spChg chg="mod">
          <ac:chgData name="Toby Donaldson" userId="2e6e5431-bb17-4c41-9985-d39c50d83c73" providerId="ADAL" clId="{F31BC264-820E-54C4-A6D1-F92AF9CC222E}" dt="2026-02-28T03:50:54.225" v="112" actId="20577"/>
          <ac:spMkLst>
            <pc:docMk/>
            <pc:sldMk cId="1743394338" sldId="307"/>
            <ac:spMk id="20" creationId="{1AB6F7A2-CFC6-389D-01A4-9B0D65E852BA}"/>
          </ac:spMkLst>
        </pc:spChg>
        <pc:spChg chg="mod">
          <ac:chgData name="Toby Donaldson" userId="2e6e5431-bb17-4c41-9985-d39c50d83c73" providerId="ADAL" clId="{F31BC264-820E-54C4-A6D1-F92AF9CC222E}" dt="2026-02-28T03:51:02.604" v="130" actId="20577"/>
          <ac:spMkLst>
            <pc:docMk/>
            <pc:sldMk cId="1743394338" sldId="307"/>
            <ac:spMk id="27" creationId="{54B6DA2C-81B1-229F-8007-9D27A0209845}"/>
          </ac:spMkLst>
        </pc:spChg>
      </pc:sldChg>
      <pc:sldChg chg="addSp modSp mod">
        <pc:chgData name="Toby Donaldson" userId="2e6e5431-bb17-4c41-9985-d39c50d83c73" providerId="ADAL" clId="{F31BC264-820E-54C4-A6D1-F92AF9CC222E}" dt="2026-02-28T03:54:01.981" v="159" actId="1076"/>
        <pc:sldMkLst>
          <pc:docMk/>
          <pc:sldMk cId="3716439672" sldId="318"/>
        </pc:sldMkLst>
        <pc:spChg chg="add mod">
          <ac:chgData name="Toby Donaldson" userId="2e6e5431-bb17-4c41-9985-d39c50d83c73" providerId="ADAL" clId="{F31BC264-820E-54C4-A6D1-F92AF9CC222E}" dt="2026-02-28T03:54:01.981" v="159" actId="1076"/>
          <ac:spMkLst>
            <pc:docMk/>
            <pc:sldMk cId="3716439672" sldId="318"/>
            <ac:spMk id="2" creationId="{5F1952C5-54CA-9834-7A2B-E2ACF78C70AF}"/>
          </ac:spMkLst>
        </pc:spChg>
      </pc:sldChg>
      <pc:sldChg chg="addSp modSp mod">
        <pc:chgData name="Toby Donaldson" userId="2e6e5431-bb17-4c41-9985-d39c50d83c73" providerId="ADAL" clId="{F31BC264-820E-54C4-A6D1-F92AF9CC222E}" dt="2026-02-28T03:54:53.317" v="162" actId="207"/>
        <pc:sldMkLst>
          <pc:docMk/>
          <pc:sldMk cId="3670977749" sldId="319"/>
        </pc:sldMkLst>
        <pc:spChg chg="mod">
          <ac:chgData name="Toby Donaldson" userId="2e6e5431-bb17-4c41-9985-d39c50d83c73" providerId="ADAL" clId="{F31BC264-820E-54C4-A6D1-F92AF9CC222E}" dt="2026-02-28T03:54:53.317" v="162" actId="207"/>
          <ac:spMkLst>
            <pc:docMk/>
            <pc:sldMk cId="3670977749" sldId="319"/>
            <ac:spMk id="2" creationId="{F541D5CC-09E8-F6E2-9564-3EC795FF9394}"/>
          </ac:spMkLst>
        </pc:spChg>
        <pc:spChg chg="add mod">
          <ac:chgData name="Toby Donaldson" userId="2e6e5431-bb17-4c41-9985-d39c50d83c73" providerId="ADAL" clId="{F31BC264-820E-54C4-A6D1-F92AF9CC222E}" dt="2026-02-28T03:54:22.464" v="160"/>
          <ac:spMkLst>
            <pc:docMk/>
            <pc:sldMk cId="3670977749" sldId="319"/>
            <ac:spMk id="5" creationId="{742292C6-7545-1176-A3F1-7BAE55D3276F}"/>
          </ac:spMkLst>
        </pc:spChg>
      </pc:sldChg>
      <pc:sldChg chg="addSp modSp">
        <pc:chgData name="Toby Donaldson" userId="2e6e5431-bb17-4c41-9985-d39c50d83c73" providerId="ADAL" clId="{F31BC264-820E-54C4-A6D1-F92AF9CC222E}" dt="2026-02-28T03:54:42.655" v="161"/>
        <pc:sldMkLst>
          <pc:docMk/>
          <pc:sldMk cId="1826297932" sldId="320"/>
        </pc:sldMkLst>
        <pc:spChg chg="add mod">
          <ac:chgData name="Toby Donaldson" userId="2e6e5431-bb17-4c41-9985-d39c50d83c73" providerId="ADAL" clId="{F31BC264-820E-54C4-A6D1-F92AF9CC222E}" dt="2026-02-28T03:54:42.655" v="161"/>
          <ac:spMkLst>
            <pc:docMk/>
            <pc:sldMk cId="1826297932" sldId="320"/>
            <ac:spMk id="8" creationId="{B6CDD983-0FDA-4256-A063-E1BDD34FE1E0}"/>
          </ac:spMkLst>
        </pc:spChg>
      </pc:sldChg>
      <pc:sldChg chg="modSp del mod">
        <pc:chgData name="Toby Donaldson" userId="2e6e5431-bb17-4c41-9985-d39c50d83c73" providerId="ADAL" clId="{F31BC264-820E-54C4-A6D1-F92AF9CC222E}" dt="2026-02-28T19:47:38.480" v="271" actId="2696"/>
        <pc:sldMkLst>
          <pc:docMk/>
          <pc:sldMk cId="508083452" sldId="340"/>
        </pc:sldMkLst>
        <pc:spChg chg="mod">
          <ac:chgData name="Toby Donaldson" userId="2e6e5431-bb17-4c41-9985-d39c50d83c73" providerId="ADAL" clId="{F31BC264-820E-54C4-A6D1-F92AF9CC222E}" dt="2026-02-28T03:58:12.676" v="166" actId="122"/>
          <ac:spMkLst>
            <pc:docMk/>
            <pc:sldMk cId="508083452" sldId="340"/>
            <ac:spMk id="6" creationId="{048B4DBB-8B88-A9D5-BB75-46E6B3AC2D3A}"/>
          </ac:spMkLst>
        </pc:spChg>
      </pc:sldChg>
      <pc:sldChg chg="modSp mod">
        <pc:chgData name="Toby Donaldson" userId="2e6e5431-bb17-4c41-9985-d39c50d83c73" providerId="ADAL" clId="{F31BC264-820E-54C4-A6D1-F92AF9CC222E}" dt="2026-02-28T03:57:58.597" v="164" actId="122"/>
        <pc:sldMkLst>
          <pc:docMk/>
          <pc:sldMk cId="1757061586" sldId="341"/>
        </pc:sldMkLst>
        <pc:spChg chg="mod">
          <ac:chgData name="Toby Donaldson" userId="2e6e5431-bb17-4c41-9985-d39c50d83c73" providerId="ADAL" clId="{F31BC264-820E-54C4-A6D1-F92AF9CC222E}" dt="2026-02-28T03:57:58.597" v="164" actId="122"/>
          <ac:spMkLst>
            <pc:docMk/>
            <pc:sldMk cId="1757061586" sldId="341"/>
            <ac:spMk id="6" creationId="{781827D1-D68E-2C3A-6154-9B0FD8F8F70B}"/>
          </ac:spMkLst>
        </pc:spChg>
      </pc:sldChg>
      <pc:sldChg chg="delSp modSp mod">
        <pc:chgData name="Toby Donaldson" userId="2e6e5431-bb17-4c41-9985-d39c50d83c73" providerId="ADAL" clId="{F31BC264-820E-54C4-A6D1-F92AF9CC222E}" dt="2026-02-28T03:59:14.517" v="257" actId="21"/>
        <pc:sldMkLst>
          <pc:docMk/>
          <pc:sldMk cId="1165086782" sldId="342"/>
        </pc:sldMkLst>
        <pc:spChg chg="mod">
          <ac:chgData name="Toby Donaldson" userId="2e6e5431-bb17-4c41-9985-d39c50d83c73" providerId="ADAL" clId="{F31BC264-820E-54C4-A6D1-F92AF9CC222E}" dt="2026-02-28T03:59:11.878" v="256" actId="20577"/>
          <ac:spMkLst>
            <pc:docMk/>
            <pc:sldMk cId="1165086782" sldId="342"/>
            <ac:spMk id="6" creationId="{EEBAED55-32F1-B350-899F-5ACB74E9F152}"/>
          </ac:spMkLst>
        </pc:spChg>
        <pc:spChg chg="del mod">
          <ac:chgData name="Toby Donaldson" userId="2e6e5431-bb17-4c41-9985-d39c50d83c73" providerId="ADAL" clId="{F31BC264-820E-54C4-A6D1-F92AF9CC222E}" dt="2026-02-28T03:59:14.517" v="257" actId="21"/>
          <ac:spMkLst>
            <pc:docMk/>
            <pc:sldMk cId="1165086782" sldId="342"/>
            <ac:spMk id="15" creationId="{16EB0202-E68E-978E-6099-AD8DAA7CC6EC}"/>
          </ac:spMkLst>
        </pc:spChg>
      </pc:sldChg>
      <pc:sldChg chg="modSp mod">
        <pc:chgData name="Toby Donaldson" userId="2e6e5431-bb17-4c41-9985-d39c50d83c73" providerId="ADAL" clId="{F31BC264-820E-54C4-A6D1-F92AF9CC222E}" dt="2026-02-28T03:47:51.562" v="57" actId="20577"/>
        <pc:sldMkLst>
          <pc:docMk/>
          <pc:sldMk cId="95739150" sldId="352"/>
        </pc:sldMkLst>
        <pc:spChg chg="mod">
          <ac:chgData name="Toby Donaldson" userId="2e6e5431-bb17-4c41-9985-d39c50d83c73" providerId="ADAL" clId="{F31BC264-820E-54C4-A6D1-F92AF9CC222E}" dt="2026-02-28T03:47:51.562" v="57" actId="20577"/>
          <ac:spMkLst>
            <pc:docMk/>
            <pc:sldMk cId="95739150" sldId="352"/>
            <ac:spMk id="11" creationId="{1625BB7B-2AC8-368A-CD57-578DB35D721D}"/>
          </ac:spMkLst>
        </pc:spChg>
      </pc:sldChg>
      <pc:sldChg chg="modSp mod">
        <pc:chgData name="Toby Donaldson" userId="2e6e5431-bb17-4c41-9985-d39c50d83c73" providerId="ADAL" clId="{F31BC264-820E-54C4-A6D1-F92AF9CC222E}" dt="2026-02-28T03:59:52.150" v="260" actId="20577"/>
        <pc:sldMkLst>
          <pc:docMk/>
          <pc:sldMk cId="2589050326" sldId="358"/>
        </pc:sldMkLst>
        <pc:spChg chg="mod">
          <ac:chgData name="Toby Donaldson" userId="2e6e5431-bb17-4c41-9985-d39c50d83c73" providerId="ADAL" clId="{F31BC264-820E-54C4-A6D1-F92AF9CC222E}" dt="2026-02-28T03:59:52.150" v="260" actId="20577"/>
          <ac:spMkLst>
            <pc:docMk/>
            <pc:sldMk cId="2589050326" sldId="358"/>
            <ac:spMk id="26" creationId="{398F7FF8-CEEC-F3C9-64FB-9CE485C30AC8}"/>
          </ac:spMkLst>
        </pc:spChg>
      </pc:sldChg>
      <pc:sldChg chg="modSp add mod">
        <pc:chgData name="Toby Donaldson" userId="2e6e5431-bb17-4c41-9985-d39c50d83c73" providerId="ADAL" clId="{F31BC264-820E-54C4-A6D1-F92AF9CC222E}" dt="2026-02-28T19:43:00.420" v="270" actId="20577"/>
        <pc:sldMkLst>
          <pc:docMk/>
          <pc:sldMk cId="979917830" sldId="366"/>
        </pc:sldMkLst>
        <pc:spChg chg="mod">
          <ac:chgData name="Toby Donaldson" userId="2e6e5431-bb17-4c41-9985-d39c50d83c73" providerId="ADAL" clId="{F31BC264-820E-54C4-A6D1-F92AF9CC222E}" dt="2026-02-28T19:43:00.420" v="270" actId="20577"/>
          <ac:spMkLst>
            <pc:docMk/>
            <pc:sldMk cId="979917830" sldId="366"/>
            <ac:spMk id="11" creationId="{AA62BDC9-775D-6667-B576-9FF1B1FFC7C8}"/>
          </ac:spMkLst>
        </pc:spChg>
      </pc:sldChg>
      <pc:sldChg chg="delSp add">
        <pc:chgData name="Toby Donaldson" userId="2e6e5431-bb17-4c41-9985-d39c50d83c73" providerId="ADAL" clId="{F31BC264-820E-54C4-A6D1-F92AF9CC222E}" dt="2026-02-28T03:47:13.040" v="49" actId="21"/>
        <pc:sldMkLst>
          <pc:docMk/>
          <pc:sldMk cId="1148638463" sldId="367"/>
        </pc:sldMkLst>
        <pc:spChg chg="del">
          <ac:chgData name="Toby Donaldson" userId="2e6e5431-bb17-4c41-9985-d39c50d83c73" providerId="ADAL" clId="{F31BC264-820E-54C4-A6D1-F92AF9CC222E}" dt="2026-02-28T03:47:13.040" v="49" actId="21"/>
          <ac:spMkLst>
            <pc:docMk/>
            <pc:sldMk cId="1148638463" sldId="367"/>
            <ac:spMk id="11" creationId="{8704488E-BCB6-E0BC-8BC6-B9A930BB2ED6}"/>
          </ac:spMkLst>
        </pc:spChg>
        <pc:picChg chg="del">
          <ac:chgData name="Toby Donaldson" userId="2e6e5431-bb17-4c41-9985-d39c50d83c73" providerId="ADAL" clId="{F31BC264-820E-54C4-A6D1-F92AF9CC222E}" dt="2026-02-28T03:47:13.040" v="49" actId="21"/>
          <ac:picMkLst>
            <pc:docMk/>
            <pc:sldMk cId="1148638463" sldId="367"/>
            <ac:picMk id="1028" creationId="{DCFFE4B4-57E2-34CE-C077-FA51D2C15E07}"/>
          </ac:picMkLst>
        </pc:picChg>
      </pc:sldChg>
      <pc:sldChg chg="modSp add mod">
        <pc:chgData name="Toby Donaldson" userId="2e6e5431-bb17-4c41-9985-d39c50d83c73" providerId="ADAL" clId="{F31BC264-820E-54C4-A6D1-F92AF9CC222E}" dt="2026-02-28T19:42:52.262" v="265" actId="20577"/>
        <pc:sldMkLst>
          <pc:docMk/>
          <pc:sldMk cId="2506308382" sldId="368"/>
        </pc:sldMkLst>
        <pc:spChg chg="mod">
          <ac:chgData name="Toby Donaldson" userId="2e6e5431-bb17-4c41-9985-d39c50d83c73" providerId="ADAL" clId="{F31BC264-820E-54C4-A6D1-F92AF9CC222E}" dt="2026-02-28T19:42:52.262" v="265" actId="20577"/>
          <ac:spMkLst>
            <pc:docMk/>
            <pc:sldMk cId="2506308382" sldId="368"/>
            <ac:spMk id="11" creationId="{3F7B3207-0BA3-14FB-4888-E423273D9F99}"/>
          </ac:spMkLst>
        </pc:spChg>
      </pc:sldChg>
      <pc:sldChg chg="modSp add mod">
        <pc:chgData name="Toby Donaldson" userId="2e6e5431-bb17-4c41-9985-d39c50d83c73" providerId="ADAL" clId="{F31BC264-820E-54C4-A6D1-F92AF9CC222E}" dt="2026-02-28T03:51:18.617" v="148" actId="20577"/>
        <pc:sldMkLst>
          <pc:docMk/>
          <pc:sldMk cId="899466982" sldId="369"/>
        </pc:sldMkLst>
        <pc:spChg chg="mod">
          <ac:chgData name="Toby Donaldson" userId="2e6e5431-bb17-4c41-9985-d39c50d83c73" providerId="ADAL" clId="{F31BC264-820E-54C4-A6D1-F92AF9CC222E}" dt="2026-02-28T03:51:18.617" v="148" actId="20577"/>
          <ac:spMkLst>
            <pc:docMk/>
            <pc:sldMk cId="899466982" sldId="369"/>
            <ac:spMk id="27" creationId="{98E90C5B-486E-A8EF-E5A5-63CB6CEC609E}"/>
          </ac:spMkLst>
        </pc:spChg>
      </pc:sldChg>
      <pc:sldChg chg="add">
        <pc:chgData name="Toby Donaldson" userId="2e6e5431-bb17-4c41-9985-d39c50d83c73" providerId="ADAL" clId="{F31BC264-820E-54C4-A6D1-F92AF9CC222E}" dt="2026-02-28T03:50:39.478" v="87" actId="2890"/>
        <pc:sldMkLst>
          <pc:docMk/>
          <pc:sldMk cId="915477830" sldId="3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27/2/2026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27/2/2026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27/2/2026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27/2/2026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27/2/2026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27/2/2026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27/2/2026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27/2/2026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570F83-8E57-E26A-C99C-D5EF564134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Chapter 8: Strings, Slices, </a:t>
            </a:r>
            <a:r>
              <a:rPr lang="en-CA"/>
              <a:t>and Writing to Files</a:t>
            </a:r>
            <a:endParaRPr lang="en-AU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F4D5479-D96B-1A4F-E8BD-BBBB7CC215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CMPT 120, Spring 2026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1978C-967C-20E4-35D0-B3C71602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2483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3A31D-E742-6EA2-3A66-E7EF7F21155E}"/>
              </a:ext>
            </a:extLst>
          </p:cNvPr>
          <p:cNvSpPr txBox="1"/>
          <p:nvPr/>
        </p:nvSpPr>
        <p:spPr>
          <a:xfrm>
            <a:off x="4011655" y="679964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Web pages </a:t>
            </a:r>
            <a:r>
              <a:rPr lang="en-CA" dirty="0"/>
              <a:t>are often “big strings” … type </a:t>
            </a:r>
            <a:r>
              <a:rPr lang="en-CA" b="1" dirty="0"/>
              <a:t>ctrl-U on Chrome</a:t>
            </a:r>
            <a:r>
              <a:rPr lang="en-CA" dirty="0"/>
              <a:t> to see the text of  page …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6864FD-F799-F82E-2670-19A5785BC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916" y="136525"/>
            <a:ext cx="4974829" cy="2426815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BF736B8-C93F-7669-F7AD-A834CC36A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120ACA-727E-B68B-CAE8-1823B5A2BAE1}"/>
              </a:ext>
            </a:extLst>
          </p:cNvPr>
          <p:cNvSpPr txBox="1"/>
          <p:nvPr/>
        </p:nvSpPr>
        <p:spPr>
          <a:xfrm>
            <a:off x="0" y="2563340"/>
            <a:ext cx="3148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Strings are everywhere</a:t>
            </a:r>
          </a:p>
        </p:txBody>
      </p: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B90D3-E155-AE97-9AF9-3911D964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E7D7E-86D5-17A6-C0D0-63AACE68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7FE7D5-EFEC-3517-6496-330BB1BFCD72}"/>
              </a:ext>
            </a:extLst>
          </p:cNvPr>
          <p:cNvSpPr txBox="1"/>
          <p:nvPr/>
        </p:nvSpPr>
        <p:spPr>
          <a:xfrm>
            <a:off x="4011655" y="679964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Web pages </a:t>
            </a:r>
            <a:r>
              <a:rPr lang="en-CA" dirty="0"/>
              <a:t>are often “big strings” … type </a:t>
            </a:r>
            <a:r>
              <a:rPr lang="en-CA" b="1" dirty="0"/>
              <a:t>ctrl-U on Chrome</a:t>
            </a:r>
            <a:r>
              <a:rPr lang="en-CA" dirty="0"/>
              <a:t> to see the text of  page …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99DE3D-80FD-3A28-1FDC-2C8727957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916" y="136525"/>
            <a:ext cx="4974829" cy="24268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ADE7B1-BED1-9188-DB78-A266B9BDFD52}"/>
              </a:ext>
            </a:extLst>
          </p:cNvPr>
          <p:cNvSpPr txBox="1"/>
          <p:nvPr/>
        </p:nvSpPr>
        <p:spPr>
          <a:xfrm>
            <a:off x="4011655" y="3404311"/>
            <a:ext cx="27431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Text files </a:t>
            </a:r>
            <a:r>
              <a:rPr lang="en-CA" dirty="0"/>
              <a:t>can be thought of as strings with names stored on a disk text file</a:t>
            </a:r>
            <a:r>
              <a:rPr lang="en-AU" dirty="0"/>
              <a:t> …</a:t>
            </a:r>
            <a:endParaRPr lang="en-CA" dirty="0"/>
          </a:p>
        </p:txBody>
      </p:sp>
      <p:pic>
        <p:nvPicPr>
          <p:cNvPr id="1026" name="Picture 2" descr="TXT File - Free computer icons">
            <a:extLst>
              <a:ext uri="{FF2B5EF4-FFF2-40B4-BE49-F238E27FC236}">
                <a16:creationId xmlns:a16="http://schemas.microsoft.com/office/drawing/2014/main" id="{FEBC0DB4-145E-4368-8EFF-21EF9AF56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916" y="2909610"/>
            <a:ext cx="1912733" cy="191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AE648C30-1866-59C0-2A48-55D51D7E4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B0C6CA-6438-082C-5958-754344ED7BD4}"/>
              </a:ext>
            </a:extLst>
          </p:cNvPr>
          <p:cNvSpPr txBox="1"/>
          <p:nvPr/>
        </p:nvSpPr>
        <p:spPr>
          <a:xfrm>
            <a:off x="0" y="2563340"/>
            <a:ext cx="3148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Strings are everywhere</a:t>
            </a:r>
          </a:p>
        </p:txBody>
      </p:sp>
    </p:spTree>
    <p:extLst>
      <p:ext uri="{BB962C8B-B14F-4D97-AF65-F5344CB8AC3E}">
        <p14:creationId xmlns:p14="http://schemas.microsoft.com/office/powerpoint/2010/main" val="114863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19C8B-13C5-168F-CB70-74BF5A3A8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D1302-A035-39DF-CD73-6E413D484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D3391-B000-315F-6384-C5FCF5E687DF}"/>
              </a:ext>
            </a:extLst>
          </p:cNvPr>
          <p:cNvSpPr txBox="1"/>
          <p:nvPr/>
        </p:nvSpPr>
        <p:spPr>
          <a:xfrm>
            <a:off x="4011655" y="679964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Web pages </a:t>
            </a:r>
            <a:r>
              <a:rPr lang="en-CA" dirty="0"/>
              <a:t>are often “big strings” … type </a:t>
            </a:r>
            <a:r>
              <a:rPr lang="en-CA" b="1" dirty="0"/>
              <a:t>ctrl-U on Chrome</a:t>
            </a:r>
            <a:r>
              <a:rPr lang="en-CA" dirty="0"/>
              <a:t> to see the text of  page …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5C7F26-EB90-DDBC-6E3D-46B63ADF8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916" y="136525"/>
            <a:ext cx="4974829" cy="24268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080FFC-B720-0FB2-227B-BFFA2FDD7D0A}"/>
              </a:ext>
            </a:extLst>
          </p:cNvPr>
          <p:cNvSpPr txBox="1"/>
          <p:nvPr/>
        </p:nvSpPr>
        <p:spPr>
          <a:xfrm>
            <a:off x="4011655" y="3404311"/>
            <a:ext cx="27431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Text files </a:t>
            </a:r>
            <a:r>
              <a:rPr lang="en-CA" dirty="0"/>
              <a:t>can be thought of as strings with names stored on a disk text file</a:t>
            </a:r>
            <a:r>
              <a:rPr lang="en-AU" dirty="0"/>
              <a:t> …</a:t>
            </a:r>
            <a:endParaRPr lang="en-CA" dirty="0"/>
          </a:p>
        </p:txBody>
      </p:sp>
      <p:pic>
        <p:nvPicPr>
          <p:cNvPr id="1026" name="Picture 2" descr="TXT File - Free computer icons">
            <a:extLst>
              <a:ext uri="{FF2B5EF4-FFF2-40B4-BE49-F238E27FC236}">
                <a16:creationId xmlns:a16="http://schemas.microsoft.com/office/drawing/2014/main" id="{D7A164B5-C12D-876F-EFC1-A2AD7F241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916" y="2909610"/>
            <a:ext cx="1912733" cy="191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 source code for extracting API calls (for API in entry.imports)... |  Download Scientific Diagram">
            <a:extLst>
              <a:ext uri="{FF2B5EF4-FFF2-40B4-BE49-F238E27FC236}">
                <a16:creationId xmlns:a16="http://schemas.microsoft.com/office/drawing/2014/main" id="{FC9FD86C-FD8F-0559-8765-6C9375F61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916" y="5264756"/>
            <a:ext cx="265747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7B3207-0BA3-14FB-4888-E423273D9F99}"/>
              </a:ext>
            </a:extLst>
          </p:cNvPr>
          <p:cNvSpPr txBox="1"/>
          <p:nvPr/>
        </p:nvSpPr>
        <p:spPr>
          <a:xfrm>
            <a:off x="4011655" y="5446507"/>
            <a:ext cx="274319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</a:t>
            </a:r>
            <a:r>
              <a:rPr lang="en-CA" b="1" dirty="0"/>
              <a:t>source code </a:t>
            </a:r>
            <a:r>
              <a:rPr lang="en-CA" dirty="0"/>
              <a:t>is stored as a string.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A414D8A-C1E6-EABC-CDFC-60CFBF95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872DE6-0D2F-A11A-AD34-0CDF5590E8F6}"/>
              </a:ext>
            </a:extLst>
          </p:cNvPr>
          <p:cNvSpPr txBox="1"/>
          <p:nvPr/>
        </p:nvSpPr>
        <p:spPr>
          <a:xfrm>
            <a:off x="0" y="2563340"/>
            <a:ext cx="31485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Strings are everywhere</a:t>
            </a:r>
          </a:p>
        </p:txBody>
      </p:sp>
    </p:spTree>
    <p:extLst>
      <p:ext uri="{BB962C8B-B14F-4D97-AF65-F5344CB8AC3E}">
        <p14:creationId xmlns:p14="http://schemas.microsoft.com/office/powerpoint/2010/main" val="250630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D216-C283-33B8-1724-3615D97A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44A06-EA23-C13D-8F84-38AE5C03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935D2-B79D-C748-3AAB-A318D176976E}"/>
              </a:ext>
            </a:extLst>
          </p:cNvPr>
          <p:cNvSpPr txBox="1"/>
          <p:nvPr/>
        </p:nvSpPr>
        <p:spPr>
          <a:xfrm>
            <a:off x="4011655" y="679964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Web pages </a:t>
            </a:r>
            <a:r>
              <a:rPr lang="en-CA" dirty="0"/>
              <a:t>are often “big strings” … type </a:t>
            </a:r>
            <a:r>
              <a:rPr lang="en-CA" b="1" dirty="0"/>
              <a:t>ctrl-U on Chrome</a:t>
            </a:r>
            <a:r>
              <a:rPr lang="en-CA" dirty="0"/>
              <a:t> to see the text of  page …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CD809A-A5E6-AAD1-D4E9-BD4E3552E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916" y="136525"/>
            <a:ext cx="4974829" cy="24268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2ADEA4-9218-04BB-878A-B4DD044F8E62}"/>
              </a:ext>
            </a:extLst>
          </p:cNvPr>
          <p:cNvSpPr txBox="1"/>
          <p:nvPr/>
        </p:nvSpPr>
        <p:spPr>
          <a:xfrm>
            <a:off x="4011655" y="3404311"/>
            <a:ext cx="27431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Text files </a:t>
            </a:r>
            <a:r>
              <a:rPr lang="en-CA" dirty="0"/>
              <a:t>can be thought of as strings with names stored on a disk text file</a:t>
            </a:r>
            <a:r>
              <a:rPr lang="en-AU" dirty="0"/>
              <a:t> …</a:t>
            </a:r>
            <a:endParaRPr lang="en-CA" dirty="0"/>
          </a:p>
        </p:txBody>
      </p:sp>
      <p:pic>
        <p:nvPicPr>
          <p:cNvPr id="1026" name="Picture 2" descr="TXT File - Free computer icons">
            <a:extLst>
              <a:ext uri="{FF2B5EF4-FFF2-40B4-BE49-F238E27FC236}">
                <a16:creationId xmlns:a16="http://schemas.microsoft.com/office/drawing/2014/main" id="{216E9934-B935-4968-F38C-CB4B8D8C47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916" y="2909610"/>
            <a:ext cx="1912733" cy="191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ython source code for extracting API calls (for API in entry.imports)... |  Download Scientific Diagram">
            <a:extLst>
              <a:ext uri="{FF2B5EF4-FFF2-40B4-BE49-F238E27FC236}">
                <a16:creationId xmlns:a16="http://schemas.microsoft.com/office/drawing/2014/main" id="{37256958-2C8C-DEFB-783A-30E7CA6CC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2916" y="5264756"/>
            <a:ext cx="2657475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62BDC9-775D-6667-B576-9FF1B1FFC7C8}"/>
              </a:ext>
            </a:extLst>
          </p:cNvPr>
          <p:cNvSpPr txBox="1"/>
          <p:nvPr/>
        </p:nvSpPr>
        <p:spPr>
          <a:xfrm>
            <a:off x="4011655" y="5446507"/>
            <a:ext cx="274319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</a:t>
            </a:r>
            <a:r>
              <a:rPr lang="en-CA" b="1" dirty="0"/>
              <a:t>source code </a:t>
            </a:r>
            <a:r>
              <a:rPr lang="en-CA" dirty="0"/>
              <a:t>is stored as a string.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780345B-D8E2-5356-8533-ABD42ACF2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BEF1C0-E493-6A17-9E9A-206AE4468C74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79917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522F7-AB58-AC5E-F964-CA1B5EBC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C9580-B149-98C4-893C-C9F6284F9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4437" y="376517"/>
            <a:ext cx="8708598" cy="52119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593831-C98F-5125-3FDE-D4BDB2DA75C5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Unicode</a:t>
            </a:r>
            <a:r>
              <a:rPr lang="en-CA" dirty="0"/>
              <a:t> is the standard encoding of characters that most of the world’s software uses. 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25BB7B-2AC8-368A-CD57-578DB35D721D}"/>
              </a:ext>
            </a:extLst>
          </p:cNvPr>
          <p:cNvSpPr txBox="1"/>
          <p:nvPr/>
        </p:nvSpPr>
        <p:spPr>
          <a:xfrm>
            <a:off x="113198" y="2618556"/>
            <a:ext cx="299522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Unicode</a:t>
            </a:r>
            <a:r>
              <a:rPr lang="en-CA" dirty="0"/>
              <a:t> assigns a code number to all the worlds letters, punctuation, and symbols.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5739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6A3D-4377-C1BC-B1C3-F51C9A39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5476D-E2DE-5252-BB34-0A5B7A9A3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EC29E-9280-093A-4B2B-9FA775C11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F8A92-4966-F38F-4362-3BC16EFD15F7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51DCB16-DFAB-6ACC-94F0-FB8C1529B198}"/>
              </a:ext>
            </a:extLst>
          </p:cNvPr>
          <p:cNvSpPr txBox="1"/>
          <p:nvPr/>
        </p:nvSpPr>
        <p:spPr>
          <a:xfrm>
            <a:off x="239212" y="3091192"/>
            <a:ext cx="27431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 literal</a:t>
            </a:r>
            <a:r>
              <a:rPr lang="en-CA" dirty="0"/>
              <a:t> begins and ends with quote marks, listing each character.</a:t>
            </a:r>
            <a:endParaRPr lang="en-A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1C4E36-8B2F-7A76-AB1A-5BD833082AEF}"/>
              </a:ext>
            </a:extLst>
          </p:cNvPr>
          <p:cNvSpPr txBox="1"/>
          <p:nvPr/>
        </p:nvSpPr>
        <p:spPr>
          <a:xfrm>
            <a:off x="4827339" y="2075529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"Paper!"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9175D58-16FD-33F2-C2DD-C08D0F8B0A93}"/>
              </a:ext>
            </a:extLst>
          </p:cNvPr>
          <p:cNvSpPr txBox="1"/>
          <p:nvPr/>
        </p:nvSpPr>
        <p:spPr>
          <a:xfrm>
            <a:off x="4827339" y="523952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'Paper!'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E42359B-B41B-FFEF-AA83-F793E91CF138}"/>
              </a:ext>
            </a:extLst>
          </p:cNvPr>
          <p:cNvSpPr txBox="1"/>
          <p:nvPr/>
        </p:nvSpPr>
        <p:spPr>
          <a:xfrm>
            <a:off x="4827339" y="3627106"/>
            <a:ext cx="5262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"""Paper!"""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8873D6-EDFE-721C-0358-D88BEDF978E3}"/>
              </a:ext>
            </a:extLst>
          </p:cNvPr>
          <p:cNvSpPr txBox="1"/>
          <p:nvPr/>
        </p:nvSpPr>
        <p:spPr>
          <a:xfrm>
            <a:off x="4827339" y="5178683"/>
            <a:ext cx="5262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'''Paper!'''</a:t>
            </a:r>
            <a:endParaRPr lang="en-AU" sz="6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251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FB5FA-32D5-A479-657F-69E8A475E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0F806-1A52-4E99-57FA-FA57F9CD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934AC-14F5-D917-A1CE-E6950770D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6C435B-B7E2-19E9-DF6D-8A72F9B4519C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914806-4E25-D565-7F86-10E89E1B7A69}"/>
              </a:ext>
            </a:extLst>
          </p:cNvPr>
          <p:cNvSpPr txBox="1"/>
          <p:nvPr/>
        </p:nvSpPr>
        <p:spPr>
          <a:xfrm>
            <a:off x="239212" y="3091192"/>
            <a:ext cx="27431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 literal</a:t>
            </a:r>
            <a:r>
              <a:rPr lang="en-CA" dirty="0"/>
              <a:t> begins and ends with quote marks, listing each character.</a:t>
            </a:r>
            <a:endParaRPr lang="en-A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34C6EEF-1CAA-7347-9A69-3C64967400BB}"/>
              </a:ext>
            </a:extLst>
          </p:cNvPr>
          <p:cNvSpPr txBox="1"/>
          <p:nvPr/>
        </p:nvSpPr>
        <p:spPr>
          <a:xfrm>
            <a:off x="4827339" y="2075529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CA" sz="6000" dirty="0">
                <a:latin typeface="Consolas" panose="020B0609020204030204" pitchFamily="49" charset="0"/>
              </a:rPr>
              <a:t>Paper!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endParaRPr lang="en-AU" sz="6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99A772-2BD4-63C0-D7FC-2810A5AA1753}"/>
              </a:ext>
            </a:extLst>
          </p:cNvPr>
          <p:cNvSpPr txBox="1"/>
          <p:nvPr/>
        </p:nvSpPr>
        <p:spPr>
          <a:xfrm>
            <a:off x="4827339" y="523952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CA" sz="6000" dirty="0">
                <a:latin typeface="Consolas" panose="020B0609020204030204" pitchFamily="49" charset="0"/>
              </a:rPr>
              <a:t>Paper!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n-AU" sz="6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88A60BF-0605-3DBA-8F33-EDEBBC1DFD90}"/>
              </a:ext>
            </a:extLst>
          </p:cNvPr>
          <p:cNvSpPr txBox="1"/>
          <p:nvPr/>
        </p:nvSpPr>
        <p:spPr>
          <a:xfrm>
            <a:off x="4827339" y="3627106"/>
            <a:ext cx="5262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</a:t>
            </a:r>
            <a:r>
              <a:rPr lang="en-CA" sz="6000" dirty="0">
                <a:latin typeface="Consolas" panose="020B0609020204030204" pitchFamily="49" charset="0"/>
              </a:rPr>
              <a:t>Paper!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</a:t>
            </a:r>
            <a:endParaRPr lang="en-AU" sz="6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41EFB7-EA01-BD36-A9F4-8FA4B918E0DA}"/>
              </a:ext>
            </a:extLst>
          </p:cNvPr>
          <p:cNvSpPr txBox="1"/>
          <p:nvPr/>
        </p:nvSpPr>
        <p:spPr>
          <a:xfrm>
            <a:off x="4827339" y="5178683"/>
            <a:ext cx="52629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'''</a:t>
            </a:r>
            <a:r>
              <a:rPr lang="en-CA" sz="6000" dirty="0">
                <a:latin typeface="Consolas" panose="020B0609020204030204" pitchFamily="49" charset="0"/>
              </a:rPr>
              <a:t>Paper!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'''</a:t>
            </a:r>
            <a:endParaRPr lang="en-AU" sz="60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ECABC-E3B9-D1C0-CB00-E0ECA3BCC201}"/>
              </a:ext>
            </a:extLst>
          </p:cNvPr>
          <p:cNvSpPr txBox="1"/>
          <p:nvPr/>
        </p:nvSpPr>
        <p:spPr>
          <a:xfrm>
            <a:off x="239211" y="4763184"/>
            <a:ext cx="27431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kind of quote marks are the start and end of a string literal must match.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2433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AD11-3667-415C-4DD1-ADD530B16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36A6-9452-EB1A-8BC6-8F05C667A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AF9B3-6FAD-7910-6471-C04698BA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10E1B-4FD4-1049-D256-8FC2F12D288B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7D829E-969A-F09D-B85E-7CEBE3C5CB40}"/>
              </a:ext>
            </a:extLst>
          </p:cNvPr>
          <p:cNvSpPr txBox="1"/>
          <p:nvPr/>
        </p:nvSpPr>
        <p:spPr>
          <a:xfrm>
            <a:off x="239212" y="3091192"/>
            <a:ext cx="27431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 literal</a:t>
            </a:r>
            <a:r>
              <a:rPr lang="en-CA" dirty="0"/>
              <a:t> begins and ends with quote marks, listing each character.</a:t>
            </a:r>
            <a:endParaRPr lang="en-A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B86C4A1-E384-0F15-36F1-134D77C28DFF}"/>
              </a:ext>
            </a:extLst>
          </p:cNvPr>
          <p:cNvSpPr txBox="1"/>
          <p:nvPr/>
        </p:nvSpPr>
        <p:spPr>
          <a:xfrm>
            <a:off x="4278699" y="1345122"/>
            <a:ext cx="272382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'a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\</a:t>
            </a:r>
            <a:r>
              <a:rPr lang="en-CA" sz="6000" dirty="0" err="1">
                <a:solidFill>
                  <a:srgbClr val="FF0000"/>
                </a:solidFill>
                <a:latin typeface="Consolas" panose="020B0609020204030204" pitchFamily="49" charset="0"/>
              </a:rPr>
              <a:t>n</a:t>
            </a:r>
            <a:r>
              <a:rPr lang="en-CA" sz="6000" dirty="0" err="1">
                <a:latin typeface="Consolas" panose="020B0609020204030204" pitchFamily="49" charset="0"/>
              </a:rPr>
              <a:t>b</a:t>
            </a:r>
            <a:r>
              <a:rPr lang="en-CA" sz="6000" dirty="0">
                <a:latin typeface="Consolas" panose="020B0609020204030204" pitchFamily="49" charset="0"/>
              </a:rPr>
              <a:t>'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6B8FC1-D2FC-D835-A1B4-48332D94BD97}"/>
              </a:ext>
            </a:extLst>
          </p:cNvPr>
          <p:cNvSpPr txBox="1"/>
          <p:nvPr/>
        </p:nvSpPr>
        <p:spPr>
          <a:xfrm>
            <a:off x="8621187" y="295374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Careful!</a:t>
            </a:r>
            <a:r>
              <a:rPr lang="en-CA" dirty="0"/>
              <a:t> </a:t>
            </a:r>
            <a:br>
              <a:rPr lang="en-CA" dirty="0"/>
            </a:br>
            <a:r>
              <a:rPr lang="en-CA" b="1" dirty="0"/>
              <a:t>Escape characters </a:t>
            </a:r>
            <a:r>
              <a:rPr lang="en-CA" dirty="0"/>
              <a:t>in a string literal start with a </a:t>
            </a:r>
            <a:r>
              <a:rPr lang="en-CA" dirty="0">
                <a:latin typeface="Consolas" panose="020B0609020204030204" pitchFamily="49" charset="0"/>
              </a:rPr>
              <a:t>\</a:t>
            </a:r>
            <a:r>
              <a:rPr lang="en-CA" dirty="0"/>
              <a:t> and a have a special meaning.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295CF-3C01-2AA1-8991-F79A747E7C4A}"/>
              </a:ext>
            </a:extLst>
          </p:cNvPr>
          <p:cNvSpPr txBox="1"/>
          <p:nvPr/>
        </p:nvSpPr>
        <p:spPr>
          <a:xfrm>
            <a:off x="8621187" y="1852954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\n</a:t>
            </a:r>
            <a:r>
              <a:rPr lang="en-CA" dirty="0"/>
              <a:t> is an escape character called </a:t>
            </a:r>
            <a:r>
              <a:rPr lang="en-CA" b="1" dirty="0"/>
              <a:t>newline</a:t>
            </a:r>
            <a:r>
              <a:rPr lang="en-CA" dirty="0"/>
              <a:t>. It is usually used to represent a new line in a string or file.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182108-2704-E68F-5F66-FC2E7364021B}"/>
              </a:ext>
            </a:extLst>
          </p:cNvPr>
          <p:cNvSpPr txBox="1"/>
          <p:nvPr/>
        </p:nvSpPr>
        <p:spPr>
          <a:xfrm>
            <a:off x="8621187" y="3410535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Even though it is written as a </a:t>
            </a:r>
            <a:r>
              <a:rPr lang="en-CA" dirty="0">
                <a:latin typeface="Consolas" panose="020B0609020204030204" pitchFamily="49" charset="0"/>
              </a:rPr>
              <a:t>\</a:t>
            </a:r>
            <a:r>
              <a:rPr lang="en-CA" dirty="0"/>
              <a:t> and an </a:t>
            </a:r>
            <a:r>
              <a:rPr lang="en-CA" dirty="0">
                <a:latin typeface="Consolas" panose="020B0609020204030204" pitchFamily="49" charset="0"/>
              </a:rPr>
              <a:t>n</a:t>
            </a:r>
            <a:r>
              <a:rPr lang="en-CA" dirty="0"/>
              <a:t>, in a string literal it is represents a single character, a newline.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1AE39-3A46-D4E1-347E-C50F54606799}"/>
              </a:ext>
            </a:extLst>
          </p:cNvPr>
          <p:cNvSpPr txBox="1"/>
          <p:nvPr/>
        </p:nvSpPr>
        <p:spPr>
          <a:xfrm>
            <a:off x="4755829" y="2591618"/>
            <a:ext cx="1897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\n </a:t>
            </a:r>
            <a:r>
              <a:rPr lang="en-CA" dirty="0"/>
              <a:t>is treated as one character in the string</a:t>
            </a:r>
            <a:endParaRPr lang="en-AU" dirty="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545E107-0219-2B85-3F94-D9CCF3AD95F5}"/>
              </a:ext>
            </a:extLst>
          </p:cNvPr>
          <p:cNvSpPr/>
          <p:nvPr/>
        </p:nvSpPr>
        <p:spPr>
          <a:xfrm rot="16200000">
            <a:off x="5554874" y="1902057"/>
            <a:ext cx="171472" cy="745984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213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A5BB-9A76-1672-F00F-F01447557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BB501-96AB-4634-875D-9107ADE1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05D03-0EE6-2AA4-B14E-74E955296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40509-117F-EBD1-4FAD-312CA6377C44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02C835-23E5-D531-8D92-4598EF6752EA}"/>
              </a:ext>
            </a:extLst>
          </p:cNvPr>
          <p:cNvSpPr txBox="1"/>
          <p:nvPr/>
        </p:nvSpPr>
        <p:spPr>
          <a:xfrm>
            <a:off x="239212" y="3091192"/>
            <a:ext cx="2743199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 literal</a:t>
            </a:r>
            <a:r>
              <a:rPr lang="en-CA" dirty="0"/>
              <a:t> begins and ends with quote marks, listing each character.</a:t>
            </a:r>
            <a:endParaRPr lang="en-A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D8E1C3-51FF-04CB-7707-4E64E6CB591D}"/>
              </a:ext>
            </a:extLst>
          </p:cNvPr>
          <p:cNvSpPr txBox="1"/>
          <p:nvPr/>
        </p:nvSpPr>
        <p:spPr>
          <a:xfrm>
            <a:off x="4016695" y="1345122"/>
            <a:ext cx="3570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\t\t\t</a:t>
            </a:r>
            <a:r>
              <a:rPr lang="en-CA" sz="6000" dirty="0">
                <a:latin typeface="Consolas" panose="020B0609020204030204" pitchFamily="49" charset="0"/>
              </a:rPr>
              <a:t>'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F0180-99E7-B5C6-8229-8D3817F1269F}"/>
              </a:ext>
            </a:extLst>
          </p:cNvPr>
          <p:cNvSpPr txBox="1"/>
          <p:nvPr/>
        </p:nvSpPr>
        <p:spPr>
          <a:xfrm>
            <a:off x="8614819" y="295374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Careful!</a:t>
            </a:r>
            <a:r>
              <a:rPr lang="en-CA" dirty="0"/>
              <a:t> </a:t>
            </a:r>
            <a:br>
              <a:rPr lang="en-CA" dirty="0"/>
            </a:br>
            <a:r>
              <a:rPr lang="en-CA" b="1" dirty="0"/>
              <a:t>Escape characters </a:t>
            </a:r>
            <a:r>
              <a:rPr lang="en-CA" dirty="0"/>
              <a:t>in a string literal start with a </a:t>
            </a:r>
            <a:r>
              <a:rPr lang="en-CA" dirty="0">
                <a:latin typeface="Consolas" panose="020B0609020204030204" pitchFamily="49" charset="0"/>
              </a:rPr>
              <a:t>\</a:t>
            </a:r>
            <a:r>
              <a:rPr lang="en-CA" dirty="0"/>
              <a:t> and a have a special meaning.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11766-3903-7EB7-57AD-66720E899025}"/>
              </a:ext>
            </a:extLst>
          </p:cNvPr>
          <p:cNvSpPr txBox="1"/>
          <p:nvPr/>
        </p:nvSpPr>
        <p:spPr>
          <a:xfrm>
            <a:off x="8373022" y="1951830"/>
            <a:ext cx="357976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</a:rPr>
              <a:t>\n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newline</a:t>
            </a:r>
            <a:r>
              <a:rPr lang="en-CA" dirty="0"/>
              <a:t> character</a:t>
            </a:r>
            <a:endParaRPr lang="en-AU" dirty="0"/>
          </a:p>
          <a:p>
            <a:r>
              <a:rPr lang="en-CA" b="1" dirty="0">
                <a:latin typeface="Consolas" panose="020B0609020204030204" pitchFamily="49" charset="0"/>
              </a:rPr>
              <a:t>\t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tab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\\</a:t>
            </a:r>
            <a:r>
              <a:rPr lang="en-CA" dirty="0"/>
              <a:t> represents a </a:t>
            </a:r>
            <a:r>
              <a:rPr lang="en-CA" b="1" dirty="0"/>
              <a:t>\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\'</a:t>
            </a:r>
            <a:r>
              <a:rPr lang="en-CA" dirty="0"/>
              <a:t> represents a </a:t>
            </a:r>
            <a:r>
              <a:rPr lang="en-CA" b="1" dirty="0"/>
              <a:t>'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\"</a:t>
            </a:r>
            <a:r>
              <a:rPr lang="en-CA" dirty="0"/>
              <a:t> represents a </a:t>
            </a:r>
            <a:r>
              <a:rPr lang="en-CA" b="1" dirty="0"/>
              <a:t>"</a:t>
            </a:r>
            <a:r>
              <a:rPr lang="en-CA" dirty="0"/>
              <a:t> character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5F6878-68FE-151C-5336-E0DFF0337F1A}"/>
              </a:ext>
            </a:extLst>
          </p:cNvPr>
          <p:cNvSpPr txBox="1"/>
          <p:nvPr/>
        </p:nvSpPr>
        <p:spPr>
          <a:xfrm>
            <a:off x="8614819" y="3885285"/>
            <a:ext cx="309617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Remember</a:t>
            </a:r>
            <a:r>
              <a:rPr lang="en-CA" dirty="0"/>
              <a:t>: an escape character represents </a:t>
            </a:r>
            <a:r>
              <a:rPr lang="en-CA" b="1" dirty="0"/>
              <a:t>one character </a:t>
            </a:r>
            <a:r>
              <a:rPr lang="en-CA" dirty="0"/>
              <a:t>in the string, despite being written with two characters.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7F795-E009-1577-00AC-98FC2CF5A7D1}"/>
              </a:ext>
            </a:extLst>
          </p:cNvPr>
          <p:cNvSpPr txBox="1"/>
          <p:nvPr/>
        </p:nvSpPr>
        <p:spPr>
          <a:xfrm>
            <a:off x="4728956" y="2505670"/>
            <a:ext cx="18975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string consists of </a:t>
            </a:r>
            <a:r>
              <a:rPr lang="en-CA" b="1" dirty="0"/>
              <a:t>three</a:t>
            </a:r>
            <a:r>
              <a:rPr lang="en-CA" dirty="0"/>
              <a:t> tab characters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6750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00BF8-C217-D87C-24CA-DB282A24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FF091-3DD0-EC59-EDB1-2DD1A1CE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8F619-557E-32A6-A3EB-03AA87FA3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469FF4-D556-1040-17D7-8466995E735B}"/>
              </a:ext>
            </a:extLst>
          </p:cNvPr>
          <p:cNvSpPr txBox="1"/>
          <p:nvPr/>
        </p:nvSpPr>
        <p:spPr>
          <a:xfrm>
            <a:off x="3351543" y="46614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2AEC9-0BEE-DF72-E6EC-881217193BD3}"/>
              </a:ext>
            </a:extLst>
          </p:cNvPr>
          <p:cNvSpPr txBox="1"/>
          <p:nvPr/>
        </p:nvSpPr>
        <p:spPr>
          <a:xfrm>
            <a:off x="8614819" y="295374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Careful!</a:t>
            </a:r>
            <a:r>
              <a:rPr lang="en-CA" dirty="0"/>
              <a:t> </a:t>
            </a:r>
            <a:br>
              <a:rPr lang="en-CA" dirty="0"/>
            </a:br>
            <a:r>
              <a:rPr lang="en-CA" b="1" dirty="0"/>
              <a:t>Escape characters </a:t>
            </a:r>
            <a:r>
              <a:rPr lang="en-CA" dirty="0"/>
              <a:t>in a string literal start with a </a:t>
            </a:r>
            <a:r>
              <a:rPr lang="en-CA" dirty="0">
                <a:latin typeface="Consolas" panose="020B0609020204030204" pitchFamily="49" charset="0"/>
              </a:rPr>
              <a:t>\</a:t>
            </a:r>
            <a:r>
              <a:rPr lang="en-CA" dirty="0"/>
              <a:t> and a have a special meaning.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422B3A-8459-7C9B-E9AD-F40D4124F990}"/>
              </a:ext>
            </a:extLst>
          </p:cNvPr>
          <p:cNvSpPr txBox="1"/>
          <p:nvPr/>
        </p:nvSpPr>
        <p:spPr>
          <a:xfrm>
            <a:off x="8373022" y="1951830"/>
            <a:ext cx="357976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</a:rPr>
              <a:t>\n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newline</a:t>
            </a:r>
            <a:r>
              <a:rPr lang="en-CA" dirty="0"/>
              <a:t> character</a:t>
            </a:r>
            <a:endParaRPr lang="en-AU" dirty="0"/>
          </a:p>
          <a:p>
            <a:r>
              <a:rPr lang="en-CA" b="1" dirty="0">
                <a:latin typeface="Consolas" panose="020B0609020204030204" pitchFamily="49" charset="0"/>
              </a:rPr>
              <a:t>\t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tab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\\</a:t>
            </a:r>
            <a:r>
              <a:rPr lang="en-CA" dirty="0"/>
              <a:t> represents a </a:t>
            </a:r>
            <a:r>
              <a:rPr lang="en-CA" b="1" dirty="0"/>
              <a:t>\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\'</a:t>
            </a:r>
            <a:r>
              <a:rPr lang="en-CA" dirty="0"/>
              <a:t> represents a </a:t>
            </a:r>
            <a:r>
              <a:rPr lang="en-CA" b="1" dirty="0"/>
              <a:t>'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\"</a:t>
            </a:r>
            <a:r>
              <a:rPr lang="en-CA" dirty="0"/>
              <a:t> represents a </a:t>
            </a:r>
            <a:r>
              <a:rPr lang="en-CA" b="1" dirty="0"/>
              <a:t>"</a:t>
            </a:r>
            <a:r>
              <a:rPr lang="en-CA" dirty="0"/>
              <a:t> character</a:t>
            </a:r>
            <a:endParaRPr lang="en-AU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29DDAB-A146-6782-AFE5-ABB7BB067534}"/>
              </a:ext>
            </a:extLst>
          </p:cNvPr>
          <p:cNvGrpSpPr/>
          <p:nvPr/>
        </p:nvGrpSpPr>
        <p:grpSpPr>
          <a:xfrm>
            <a:off x="3351543" y="1688782"/>
            <a:ext cx="3147015" cy="1177120"/>
            <a:chOff x="4010327" y="155391"/>
            <a:chExt cx="3147015" cy="11771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BF31D8-F219-CD2F-A6B8-095123A81978}"/>
                </a:ext>
              </a:extLst>
            </p:cNvPr>
            <p:cNvSpPr txBox="1"/>
            <p:nvPr/>
          </p:nvSpPr>
          <p:spPr>
            <a:xfrm>
              <a:off x="4010327" y="255797"/>
              <a:ext cx="314701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6000" dirty="0">
                  <a:latin typeface="Consolas" panose="020B0609020204030204" pitchFamily="49" charset="0"/>
                </a:rPr>
                <a:t>"a"\'b'</a:t>
              </a:r>
              <a:endParaRPr lang="en-AU" sz="6000" dirty="0">
                <a:latin typeface="Consolas" panose="020B0609020204030204" pitchFamily="49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6D57719D-A960-E1D7-2744-D8630D2A76B1}"/>
                </a:ext>
              </a:extLst>
            </p:cNvPr>
            <p:cNvSpPr/>
            <p:nvPr/>
          </p:nvSpPr>
          <p:spPr>
            <a:xfrm>
              <a:off x="4010327" y="155391"/>
              <a:ext cx="3147015" cy="117712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C631948-2DE5-5E21-72D1-1888D160DD09}"/>
              </a:ext>
            </a:extLst>
          </p:cNvPr>
          <p:cNvSpPr txBox="1"/>
          <p:nvPr/>
        </p:nvSpPr>
        <p:spPr>
          <a:xfrm>
            <a:off x="0" y="795867"/>
            <a:ext cx="3147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What string literal can replace </a:t>
            </a:r>
            <a:r>
              <a:rPr lang="en-CA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print</a:t>
            </a:r>
            <a:r>
              <a:rPr lang="en-CA" sz="2400" dirty="0"/>
              <a:t> so it prints this?</a:t>
            </a:r>
            <a:endParaRPr lang="en-AU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F028CD-9905-DC70-3F90-9628825EDE75}"/>
              </a:ext>
            </a:extLst>
          </p:cNvPr>
          <p:cNvCxnSpPr>
            <a:cxnSpLocks/>
          </p:cNvCxnSpPr>
          <p:nvPr/>
        </p:nvCxnSpPr>
        <p:spPr>
          <a:xfrm>
            <a:off x="2473234" y="1789188"/>
            <a:ext cx="748937" cy="318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F1C5908-2F57-0F7D-EDE5-E2E8A868C436}"/>
              </a:ext>
            </a:extLst>
          </p:cNvPr>
          <p:cNvSpPr txBox="1"/>
          <p:nvPr/>
        </p:nvSpPr>
        <p:spPr>
          <a:xfrm>
            <a:off x="177596" y="3431085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          '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67A199-CFC4-7DC6-67F0-CD58CF8F658E}"/>
              </a:ext>
            </a:extLst>
          </p:cNvPr>
          <p:cNvSpPr txBox="1"/>
          <p:nvPr/>
        </p:nvSpPr>
        <p:spPr>
          <a:xfrm>
            <a:off x="177596" y="4483344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          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CB64875-D7AF-B596-3FBE-7BC70FBCE6AD}"/>
              </a:ext>
            </a:extLst>
          </p:cNvPr>
          <p:cNvSpPr txBox="1"/>
          <p:nvPr/>
        </p:nvSpPr>
        <p:spPr>
          <a:xfrm>
            <a:off x="177596" y="5429089"/>
            <a:ext cx="90717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        """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596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47D20-B92F-1967-710A-8C883805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2012-3F88-2BE7-533A-B00649352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C1FD2-9CFE-FF9A-FD54-C68376B9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7AB14F-075D-D619-85AB-29C5E5CD16D1}"/>
              </a:ext>
            </a:extLst>
          </p:cNvPr>
          <p:cNvSpPr txBox="1"/>
          <p:nvPr/>
        </p:nvSpPr>
        <p:spPr>
          <a:xfrm>
            <a:off x="3351543" y="46614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6FAF7-B55E-0B6E-B9C6-966AED40E830}"/>
              </a:ext>
            </a:extLst>
          </p:cNvPr>
          <p:cNvSpPr txBox="1"/>
          <p:nvPr/>
        </p:nvSpPr>
        <p:spPr>
          <a:xfrm>
            <a:off x="8614819" y="295374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Careful!</a:t>
            </a:r>
            <a:r>
              <a:rPr lang="en-CA" dirty="0"/>
              <a:t> </a:t>
            </a:r>
            <a:br>
              <a:rPr lang="en-CA" dirty="0"/>
            </a:br>
            <a:r>
              <a:rPr lang="en-CA" b="1" dirty="0"/>
              <a:t>Escape characters </a:t>
            </a:r>
            <a:r>
              <a:rPr lang="en-CA" dirty="0"/>
              <a:t>in a string literal start with a </a:t>
            </a:r>
            <a:r>
              <a:rPr lang="en-CA" dirty="0">
                <a:latin typeface="Consolas" panose="020B0609020204030204" pitchFamily="49" charset="0"/>
              </a:rPr>
              <a:t>\</a:t>
            </a:r>
            <a:r>
              <a:rPr lang="en-CA" dirty="0"/>
              <a:t> and a have a special meaning.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ABB89-7AB9-89DB-873D-E6A9BC2F95E8}"/>
              </a:ext>
            </a:extLst>
          </p:cNvPr>
          <p:cNvSpPr txBox="1"/>
          <p:nvPr/>
        </p:nvSpPr>
        <p:spPr>
          <a:xfrm>
            <a:off x="8373022" y="1951830"/>
            <a:ext cx="357976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</a:rPr>
              <a:t>\n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newline</a:t>
            </a:r>
            <a:r>
              <a:rPr lang="en-CA" dirty="0"/>
              <a:t> character</a:t>
            </a:r>
            <a:endParaRPr lang="en-AU" dirty="0"/>
          </a:p>
          <a:p>
            <a:r>
              <a:rPr lang="en-CA" b="1" dirty="0">
                <a:latin typeface="Consolas" panose="020B0609020204030204" pitchFamily="49" charset="0"/>
              </a:rPr>
              <a:t>\t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tab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\\</a:t>
            </a:r>
            <a:r>
              <a:rPr lang="en-CA" dirty="0"/>
              <a:t> represents a </a:t>
            </a:r>
            <a:r>
              <a:rPr lang="en-CA" b="1" dirty="0"/>
              <a:t>\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\'</a:t>
            </a:r>
            <a:r>
              <a:rPr lang="en-CA" dirty="0"/>
              <a:t> represents a </a:t>
            </a:r>
            <a:r>
              <a:rPr lang="en-CA" b="1" dirty="0"/>
              <a:t>'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\"</a:t>
            </a:r>
            <a:r>
              <a:rPr lang="en-CA" dirty="0"/>
              <a:t> represents a </a:t>
            </a:r>
            <a:r>
              <a:rPr lang="en-CA" b="1" dirty="0"/>
              <a:t>"</a:t>
            </a:r>
            <a:r>
              <a:rPr lang="en-CA" dirty="0"/>
              <a:t> character</a:t>
            </a:r>
            <a:endParaRPr lang="en-AU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9E1EBA7-15E0-2FC9-6B22-17E37C1CF496}"/>
              </a:ext>
            </a:extLst>
          </p:cNvPr>
          <p:cNvGrpSpPr/>
          <p:nvPr/>
        </p:nvGrpSpPr>
        <p:grpSpPr>
          <a:xfrm>
            <a:off x="3351543" y="1688782"/>
            <a:ext cx="3147015" cy="1177120"/>
            <a:chOff x="4010327" y="155391"/>
            <a:chExt cx="3147015" cy="11771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54F05EA-36F6-DD75-495C-827741830655}"/>
                </a:ext>
              </a:extLst>
            </p:cNvPr>
            <p:cNvSpPr txBox="1"/>
            <p:nvPr/>
          </p:nvSpPr>
          <p:spPr>
            <a:xfrm>
              <a:off x="4010327" y="255797"/>
              <a:ext cx="314701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6000" dirty="0">
                  <a:latin typeface="Consolas" panose="020B0609020204030204" pitchFamily="49" charset="0"/>
                </a:rPr>
                <a:t>"a"\'b'</a:t>
              </a:r>
              <a:endParaRPr lang="en-AU" sz="6000" dirty="0">
                <a:latin typeface="Consolas" panose="020B0609020204030204" pitchFamily="49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7664B2A-89E2-DE0A-FD93-45FF7F517963}"/>
                </a:ext>
              </a:extLst>
            </p:cNvPr>
            <p:cNvSpPr/>
            <p:nvPr/>
          </p:nvSpPr>
          <p:spPr>
            <a:xfrm>
              <a:off x="4010327" y="155391"/>
              <a:ext cx="3147015" cy="117712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36B0717-732C-FF9D-7223-6D8D7F740E57}"/>
              </a:ext>
            </a:extLst>
          </p:cNvPr>
          <p:cNvSpPr txBox="1"/>
          <p:nvPr/>
        </p:nvSpPr>
        <p:spPr>
          <a:xfrm>
            <a:off x="0" y="795867"/>
            <a:ext cx="3147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What string literal can replace </a:t>
            </a:r>
            <a:r>
              <a:rPr lang="en-CA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print</a:t>
            </a:r>
            <a:r>
              <a:rPr lang="en-CA" sz="2400" dirty="0"/>
              <a:t> so it prints this?</a:t>
            </a:r>
            <a:endParaRPr lang="en-AU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2BA036-1259-D308-FCA8-459225D5FBD2}"/>
              </a:ext>
            </a:extLst>
          </p:cNvPr>
          <p:cNvCxnSpPr>
            <a:cxnSpLocks/>
          </p:cNvCxnSpPr>
          <p:nvPr/>
        </p:nvCxnSpPr>
        <p:spPr>
          <a:xfrm>
            <a:off x="2473234" y="1789188"/>
            <a:ext cx="748937" cy="318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140927-4863-98DE-7BDC-022980B60340}"/>
              </a:ext>
            </a:extLst>
          </p:cNvPr>
          <p:cNvSpPr txBox="1"/>
          <p:nvPr/>
        </p:nvSpPr>
        <p:spPr>
          <a:xfrm>
            <a:off x="353147" y="3645060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CA" sz="6000" dirty="0">
                <a:latin typeface="Consolas" panose="020B0609020204030204" pitchFamily="49" charset="0"/>
              </a:rPr>
              <a:t>"a"\\\'b\'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B6F7A2-CFC6-389D-01A4-9B0D65E852BA}"/>
              </a:ext>
            </a:extLst>
          </p:cNvPr>
          <p:cNvSpPr txBox="1"/>
          <p:nvPr/>
        </p:nvSpPr>
        <p:spPr>
          <a:xfrm>
            <a:off x="338951" y="4587655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          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B6DA2C-81B1-229F-8007-9D27A0209845}"/>
              </a:ext>
            </a:extLst>
          </p:cNvPr>
          <p:cNvSpPr txBox="1"/>
          <p:nvPr/>
        </p:nvSpPr>
        <p:spPr>
          <a:xfrm>
            <a:off x="324755" y="5463047"/>
            <a:ext cx="90717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        """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39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8634-9937-4DC0-9B0F-94EF3EDCE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21077-DEF4-6D8D-AE39-3D8A3B4D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6F816-E8B6-F653-69DE-1ECE9F81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3FAFBE-5309-A07A-BECB-6156D66E606E}"/>
              </a:ext>
            </a:extLst>
          </p:cNvPr>
          <p:cNvSpPr txBox="1"/>
          <p:nvPr/>
        </p:nvSpPr>
        <p:spPr>
          <a:xfrm>
            <a:off x="3351543" y="46614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3AF39-7826-7B3B-4F5F-3779A01BF733}"/>
              </a:ext>
            </a:extLst>
          </p:cNvPr>
          <p:cNvSpPr txBox="1"/>
          <p:nvPr/>
        </p:nvSpPr>
        <p:spPr>
          <a:xfrm>
            <a:off x="8614819" y="295374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Careful!</a:t>
            </a:r>
            <a:r>
              <a:rPr lang="en-CA" dirty="0"/>
              <a:t> </a:t>
            </a:r>
            <a:br>
              <a:rPr lang="en-CA" dirty="0"/>
            </a:br>
            <a:r>
              <a:rPr lang="en-CA" b="1" dirty="0"/>
              <a:t>Escape characters </a:t>
            </a:r>
            <a:r>
              <a:rPr lang="en-CA" dirty="0"/>
              <a:t>in a string literal start with a </a:t>
            </a:r>
            <a:r>
              <a:rPr lang="en-CA" dirty="0">
                <a:latin typeface="Consolas" panose="020B0609020204030204" pitchFamily="49" charset="0"/>
              </a:rPr>
              <a:t>\</a:t>
            </a:r>
            <a:r>
              <a:rPr lang="en-CA" dirty="0"/>
              <a:t> and a have a special meaning.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AF8EA8-6D88-8C97-0CBB-9AC15BD6B584}"/>
              </a:ext>
            </a:extLst>
          </p:cNvPr>
          <p:cNvSpPr txBox="1"/>
          <p:nvPr/>
        </p:nvSpPr>
        <p:spPr>
          <a:xfrm>
            <a:off x="8373022" y="1951830"/>
            <a:ext cx="357976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</a:rPr>
              <a:t>\n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newline</a:t>
            </a:r>
            <a:r>
              <a:rPr lang="en-CA" dirty="0"/>
              <a:t> character</a:t>
            </a:r>
            <a:endParaRPr lang="en-AU" dirty="0"/>
          </a:p>
          <a:p>
            <a:r>
              <a:rPr lang="en-CA" b="1" dirty="0">
                <a:latin typeface="Consolas" panose="020B0609020204030204" pitchFamily="49" charset="0"/>
              </a:rPr>
              <a:t>\t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tab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\\</a:t>
            </a:r>
            <a:r>
              <a:rPr lang="en-CA" dirty="0"/>
              <a:t> represents a </a:t>
            </a:r>
            <a:r>
              <a:rPr lang="en-CA" b="1" dirty="0"/>
              <a:t>\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\'</a:t>
            </a:r>
            <a:r>
              <a:rPr lang="en-CA" dirty="0"/>
              <a:t> represents a </a:t>
            </a:r>
            <a:r>
              <a:rPr lang="en-CA" b="1" dirty="0"/>
              <a:t>'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\"</a:t>
            </a:r>
            <a:r>
              <a:rPr lang="en-CA" dirty="0"/>
              <a:t> represents a </a:t>
            </a:r>
            <a:r>
              <a:rPr lang="en-CA" b="1" dirty="0"/>
              <a:t>"</a:t>
            </a:r>
            <a:r>
              <a:rPr lang="en-CA" dirty="0"/>
              <a:t> character</a:t>
            </a:r>
            <a:endParaRPr lang="en-AU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BEAD06-9EA9-B1C2-F9B0-EDD4155D0CFD}"/>
              </a:ext>
            </a:extLst>
          </p:cNvPr>
          <p:cNvGrpSpPr/>
          <p:nvPr/>
        </p:nvGrpSpPr>
        <p:grpSpPr>
          <a:xfrm>
            <a:off x="3351543" y="1688782"/>
            <a:ext cx="3147015" cy="1177120"/>
            <a:chOff x="4010327" y="155391"/>
            <a:chExt cx="3147015" cy="11771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2232E9-BE09-6A0D-D4A3-A8660B1482A3}"/>
                </a:ext>
              </a:extLst>
            </p:cNvPr>
            <p:cNvSpPr txBox="1"/>
            <p:nvPr/>
          </p:nvSpPr>
          <p:spPr>
            <a:xfrm>
              <a:off x="4010327" y="255797"/>
              <a:ext cx="314701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6000" dirty="0">
                  <a:latin typeface="Consolas" panose="020B0609020204030204" pitchFamily="49" charset="0"/>
                </a:rPr>
                <a:t>"a"\'b'</a:t>
              </a:r>
              <a:endParaRPr lang="en-AU" sz="6000" dirty="0">
                <a:latin typeface="Consolas" panose="020B0609020204030204" pitchFamily="49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24D736EC-081F-D402-1957-F291E4186787}"/>
                </a:ext>
              </a:extLst>
            </p:cNvPr>
            <p:cNvSpPr/>
            <p:nvPr/>
          </p:nvSpPr>
          <p:spPr>
            <a:xfrm>
              <a:off x="4010327" y="155391"/>
              <a:ext cx="3147015" cy="117712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57936B5-EADC-4D9A-5C4B-C028B7D253FF}"/>
              </a:ext>
            </a:extLst>
          </p:cNvPr>
          <p:cNvSpPr txBox="1"/>
          <p:nvPr/>
        </p:nvSpPr>
        <p:spPr>
          <a:xfrm>
            <a:off x="0" y="795867"/>
            <a:ext cx="3147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What string literal can replace </a:t>
            </a:r>
            <a:r>
              <a:rPr lang="en-CA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print</a:t>
            </a:r>
            <a:r>
              <a:rPr lang="en-CA" sz="2400" dirty="0"/>
              <a:t> so it prints this?</a:t>
            </a:r>
            <a:endParaRPr lang="en-AU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D18106-0B64-F06D-EE1D-373464B8602A}"/>
              </a:ext>
            </a:extLst>
          </p:cNvPr>
          <p:cNvCxnSpPr>
            <a:cxnSpLocks/>
          </p:cNvCxnSpPr>
          <p:nvPr/>
        </p:nvCxnSpPr>
        <p:spPr>
          <a:xfrm>
            <a:off x="2473234" y="1789188"/>
            <a:ext cx="748937" cy="318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03C8BFD-B5DB-7267-03F3-CC9B875430B7}"/>
              </a:ext>
            </a:extLst>
          </p:cNvPr>
          <p:cNvSpPr txBox="1"/>
          <p:nvPr/>
        </p:nvSpPr>
        <p:spPr>
          <a:xfrm>
            <a:off x="353147" y="3645060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CA" sz="6000" dirty="0">
                <a:latin typeface="Consolas" panose="020B0609020204030204" pitchFamily="49" charset="0"/>
              </a:rPr>
              <a:t>"a"\\\'b\'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D75E75-39FF-645A-40C6-9EF76E9156B3}"/>
              </a:ext>
            </a:extLst>
          </p:cNvPr>
          <p:cNvSpPr txBox="1"/>
          <p:nvPr/>
        </p:nvSpPr>
        <p:spPr>
          <a:xfrm>
            <a:off x="338951" y="4587655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CA" sz="6000" dirty="0">
                <a:latin typeface="Consolas" panose="020B0609020204030204" pitchFamily="49" charset="0"/>
              </a:rPr>
              <a:t>\"a\"\\'b'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E90C5B-486E-A8EF-E5A5-63CB6CEC609E}"/>
              </a:ext>
            </a:extLst>
          </p:cNvPr>
          <p:cNvSpPr txBox="1"/>
          <p:nvPr/>
        </p:nvSpPr>
        <p:spPr>
          <a:xfrm>
            <a:off x="324755" y="5463047"/>
            <a:ext cx="90717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        """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466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54988-0B17-4F36-D9A3-C85160ED9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BC779-B9C4-F6AB-57BA-601CD740E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ADE42-A37A-ECD9-0287-6DA23EB0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97CC23-26FD-CAC6-4108-0A6379E4D006}"/>
              </a:ext>
            </a:extLst>
          </p:cNvPr>
          <p:cNvSpPr txBox="1"/>
          <p:nvPr/>
        </p:nvSpPr>
        <p:spPr>
          <a:xfrm>
            <a:off x="3351543" y="46614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A5F32-A069-7F4D-9109-56FCD56E8839}"/>
              </a:ext>
            </a:extLst>
          </p:cNvPr>
          <p:cNvSpPr txBox="1"/>
          <p:nvPr/>
        </p:nvSpPr>
        <p:spPr>
          <a:xfrm>
            <a:off x="8614819" y="295374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Careful!</a:t>
            </a:r>
            <a:r>
              <a:rPr lang="en-CA" dirty="0"/>
              <a:t> </a:t>
            </a:r>
            <a:br>
              <a:rPr lang="en-CA" dirty="0"/>
            </a:br>
            <a:r>
              <a:rPr lang="en-CA" b="1" dirty="0"/>
              <a:t>Escape characters </a:t>
            </a:r>
            <a:r>
              <a:rPr lang="en-CA" dirty="0"/>
              <a:t>in a string literal start with a </a:t>
            </a:r>
            <a:r>
              <a:rPr lang="en-CA" dirty="0">
                <a:latin typeface="Consolas" panose="020B0609020204030204" pitchFamily="49" charset="0"/>
              </a:rPr>
              <a:t>\</a:t>
            </a:r>
            <a:r>
              <a:rPr lang="en-CA" dirty="0"/>
              <a:t> and a have a special meaning.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C95316-C9C1-07F0-288E-AEC6F70AB4C8}"/>
              </a:ext>
            </a:extLst>
          </p:cNvPr>
          <p:cNvSpPr txBox="1"/>
          <p:nvPr/>
        </p:nvSpPr>
        <p:spPr>
          <a:xfrm>
            <a:off x="8373022" y="1951830"/>
            <a:ext cx="357976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</a:rPr>
              <a:t>\n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newline</a:t>
            </a:r>
            <a:r>
              <a:rPr lang="en-CA" dirty="0"/>
              <a:t> character</a:t>
            </a:r>
            <a:endParaRPr lang="en-AU" dirty="0"/>
          </a:p>
          <a:p>
            <a:r>
              <a:rPr lang="en-CA" b="1" dirty="0">
                <a:latin typeface="Consolas" panose="020B0609020204030204" pitchFamily="49" charset="0"/>
              </a:rPr>
              <a:t>\t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tab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\\</a:t>
            </a:r>
            <a:r>
              <a:rPr lang="en-CA" dirty="0"/>
              <a:t> represents a </a:t>
            </a:r>
            <a:r>
              <a:rPr lang="en-CA" b="1" dirty="0"/>
              <a:t>\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\'</a:t>
            </a:r>
            <a:r>
              <a:rPr lang="en-CA" dirty="0"/>
              <a:t> represents a </a:t>
            </a:r>
            <a:r>
              <a:rPr lang="en-CA" b="1" dirty="0"/>
              <a:t>'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\"</a:t>
            </a:r>
            <a:r>
              <a:rPr lang="en-CA" dirty="0"/>
              <a:t> represents a </a:t>
            </a:r>
            <a:r>
              <a:rPr lang="en-CA" b="1" dirty="0"/>
              <a:t>"</a:t>
            </a:r>
            <a:r>
              <a:rPr lang="en-CA" dirty="0"/>
              <a:t> character</a:t>
            </a:r>
            <a:endParaRPr lang="en-AU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485213-472E-6E22-13B8-0CCFAECD6A22}"/>
              </a:ext>
            </a:extLst>
          </p:cNvPr>
          <p:cNvGrpSpPr/>
          <p:nvPr/>
        </p:nvGrpSpPr>
        <p:grpSpPr>
          <a:xfrm>
            <a:off x="3351543" y="1688782"/>
            <a:ext cx="3147015" cy="1177120"/>
            <a:chOff x="4010327" y="155391"/>
            <a:chExt cx="3147015" cy="11771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18B9002-E18B-CD23-14E1-3D1F57512CED}"/>
                </a:ext>
              </a:extLst>
            </p:cNvPr>
            <p:cNvSpPr txBox="1"/>
            <p:nvPr/>
          </p:nvSpPr>
          <p:spPr>
            <a:xfrm>
              <a:off x="4010327" y="255797"/>
              <a:ext cx="314701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6000" dirty="0">
                  <a:latin typeface="Consolas" panose="020B0609020204030204" pitchFamily="49" charset="0"/>
                </a:rPr>
                <a:t>"a"\'b'</a:t>
              </a:r>
              <a:endParaRPr lang="en-AU" sz="6000" dirty="0">
                <a:latin typeface="Consolas" panose="020B0609020204030204" pitchFamily="49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AB956B9-EDE0-A224-0665-7717AC7DD4DB}"/>
                </a:ext>
              </a:extLst>
            </p:cNvPr>
            <p:cNvSpPr/>
            <p:nvPr/>
          </p:nvSpPr>
          <p:spPr>
            <a:xfrm>
              <a:off x="4010327" y="155391"/>
              <a:ext cx="3147015" cy="117712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1CFCE2A-F2CA-BF6C-6682-3349CA03A12C}"/>
              </a:ext>
            </a:extLst>
          </p:cNvPr>
          <p:cNvSpPr txBox="1"/>
          <p:nvPr/>
        </p:nvSpPr>
        <p:spPr>
          <a:xfrm>
            <a:off x="0" y="795867"/>
            <a:ext cx="3147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What string literal can replace </a:t>
            </a:r>
            <a:r>
              <a:rPr lang="en-CA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print</a:t>
            </a:r>
            <a:r>
              <a:rPr lang="en-CA" sz="2400" dirty="0"/>
              <a:t> so it prints this?</a:t>
            </a:r>
            <a:endParaRPr lang="en-AU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B854C7-7109-A82B-9999-088FB2736625}"/>
              </a:ext>
            </a:extLst>
          </p:cNvPr>
          <p:cNvCxnSpPr>
            <a:cxnSpLocks/>
          </p:cNvCxnSpPr>
          <p:nvPr/>
        </p:nvCxnSpPr>
        <p:spPr>
          <a:xfrm>
            <a:off x="2473234" y="1789188"/>
            <a:ext cx="748937" cy="318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3B70F26-E7D1-1AA4-8BB5-A6ACA7CA4C6B}"/>
              </a:ext>
            </a:extLst>
          </p:cNvPr>
          <p:cNvSpPr txBox="1"/>
          <p:nvPr/>
        </p:nvSpPr>
        <p:spPr>
          <a:xfrm>
            <a:off x="353147" y="3645060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CA" sz="6000" dirty="0">
                <a:latin typeface="Consolas" panose="020B0609020204030204" pitchFamily="49" charset="0"/>
              </a:rPr>
              <a:t>"a"\\\'b\'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9BA4C2-2BD3-5B2C-95E8-D4C47EFB5112}"/>
              </a:ext>
            </a:extLst>
          </p:cNvPr>
          <p:cNvSpPr txBox="1"/>
          <p:nvPr/>
        </p:nvSpPr>
        <p:spPr>
          <a:xfrm>
            <a:off x="338951" y="4587655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CA" sz="6000" dirty="0">
                <a:latin typeface="Consolas" panose="020B0609020204030204" pitchFamily="49" charset="0"/>
              </a:rPr>
              <a:t>\"a\"\\'b'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05169E-7731-49BB-C91A-58C73BDFC145}"/>
              </a:ext>
            </a:extLst>
          </p:cNvPr>
          <p:cNvSpPr txBox="1"/>
          <p:nvPr/>
        </p:nvSpPr>
        <p:spPr>
          <a:xfrm>
            <a:off x="324755" y="5463047"/>
            <a:ext cx="90717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</a:t>
            </a:r>
            <a:r>
              <a:rPr lang="en-CA" sz="6000" dirty="0">
                <a:latin typeface="Consolas" panose="020B0609020204030204" pitchFamily="49" charset="0"/>
              </a:rPr>
              <a:t>"a"\\'b'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477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82C6-660B-3605-A4D2-E718D5279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D37F-0374-F5F4-7AF4-42B99039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A3BC9-487C-7293-170A-C95222B3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F66B3E3-347F-CC4E-9913-5908064939D7}"/>
              </a:ext>
            </a:extLst>
          </p:cNvPr>
          <p:cNvSpPr txBox="1"/>
          <p:nvPr/>
        </p:nvSpPr>
        <p:spPr>
          <a:xfrm>
            <a:off x="3351543" y="466141"/>
            <a:ext cx="441659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56B6-0BCC-E554-7BE4-5EE4E520AFA8}"/>
              </a:ext>
            </a:extLst>
          </p:cNvPr>
          <p:cNvSpPr txBox="1"/>
          <p:nvPr/>
        </p:nvSpPr>
        <p:spPr>
          <a:xfrm>
            <a:off x="8614819" y="295374"/>
            <a:ext cx="309617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Careful!</a:t>
            </a:r>
            <a:r>
              <a:rPr lang="en-CA" dirty="0"/>
              <a:t> </a:t>
            </a:r>
            <a:br>
              <a:rPr lang="en-CA" dirty="0"/>
            </a:br>
            <a:r>
              <a:rPr lang="en-CA" b="1" dirty="0"/>
              <a:t>Escape characters </a:t>
            </a:r>
            <a:r>
              <a:rPr lang="en-CA" dirty="0"/>
              <a:t>in a string literal start with a </a:t>
            </a:r>
            <a:r>
              <a:rPr lang="en-CA" dirty="0">
                <a:latin typeface="Consolas" panose="020B0609020204030204" pitchFamily="49" charset="0"/>
              </a:rPr>
              <a:t>\</a:t>
            </a:r>
            <a:r>
              <a:rPr lang="en-CA" dirty="0"/>
              <a:t> and a have a special meaning.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CC74E-1650-FCB8-B47E-007C7EA405A1}"/>
              </a:ext>
            </a:extLst>
          </p:cNvPr>
          <p:cNvSpPr txBox="1"/>
          <p:nvPr/>
        </p:nvSpPr>
        <p:spPr>
          <a:xfrm>
            <a:off x="8373022" y="1951830"/>
            <a:ext cx="3579766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b="1" dirty="0">
                <a:latin typeface="Consolas" panose="020B0609020204030204" pitchFamily="49" charset="0"/>
              </a:rPr>
              <a:t>\n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newline</a:t>
            </a:r>
            <a:r>
              <a:rPr lang="en-CA" dirty="0"/>
              <a:t> character</a:t>
            </a:r>
            <a:endParaRPr lang="en-AU" dirty="0"/>
          </a:p>
          <a:p>
            <a:r>
              <a:rPr lang="en-CA" b="1" dirty="0">
                <a:latin typeface="Consolas" panose="020B0609020204030204" pitchFamily="49" charset="0"/>
              </a:rPr>
              <a:t>\t</a:t>
            </a:r>
            <a:r>
              <a:rPr lang="en-CA" b="1" dirty="0"/>
              <a:t> </a:t>
            </a:r>
            <a:r>
              <a:rPr lang="en-CA" dirty="0"/>
              <a:t>represents a </a:t>
            </a:r>
            <a:r>
              <a:rPr lang="en-CA" b="1" dirty="0"/>
              <a:t>tab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\\</a:t>
            </a:r>
            <a:r>
              <a:rPr lang="en-CA" dirty="0"/>
              <a:t> represents a </a:t>
            </a:r>
            <a:r>
              <a:rPr lang="en-CA" b="1" dirty="0"/>
              <a:t>\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\'</a:t>
            </a:r>
            <a:r>
              <a:rPr lang="en-CA" dirty="0"/>
              <a:t> represents a </a:t>
            </a:r>
            <a:r>
              <a:rPr lang="en-CA" b="1" dirty="0"/>
              <a:t>'</a:t>
            </a:r>
            <a:r>
              <a:rPr lang="en-CA" dirty="0"/>
              <a:t> character</a:t>
            </a:r>
            <a:br>
              <a:rPr lang="en-CA" dirty="0"/>
            </a:br>
            <a:r>
              <a:rPr lang="en-CA" b="1" dirty="0"/>
              <a:t>\"</a:t>
            </a:r>
            <a:r>
              <a:rPr lang="en-CA" dirty="0"/>
              <a:t> represents a </a:t>
            </a:r>
            <a:r>
              <a:rPr lang="en-CA" b="1" dirty="0"/>
              <a:t>"</a:t>
            </a:r>
            <a:r>
              <a:rPr lang="en-CA" dirty="0"/>
              <a:t> character</a:t>
            </a:r>
            <a:endParaRPr lang="en-AU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034FF7A-D1F1-53B9-4A68-43FCD6C52B76}"/>
              </a:ext>
            </a:extLst>
          </p:cNvPr>
          <p:cNvGrpSpPr/>
          <p:nvPr/>
        </p:nvGrpSpPr>
        <p:grpSpPr>
          <a:xfrm>
            <a:off x="3351543" y="1688782"/>
            <a:ext cx="3147015" cy="1177120"/>
            <a:chOff x="4010327" y="155391"/>
            <a:chExt cx="3147015" cy="117712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A5B2EF-8254-26F7-C0A6-B45FCC1F761A}"/>
                </a:ext>
              </a:extLst>
            </p:cNvPr>
            <p:cNvSpPr txBox="1"/>
            <p:nvPr/>
          </p:nvSpPr>
          <p:spPr>
            <a:xfrm>
              <a:off x="4010327" y="255797"/>
              <a:ext cx="314701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6000" dirty="0">
                  <a:latin typeface="Consolas" panose="020B0609020204030204" pitchFamily="49" charset="0"/>
                </a:rPr>
                <a:t>"a"\'b'</a:t>
              </a:r>
              <a:endParaRPr lang="en-AU" sz="6000" dirty="0">
                <a:latin typeface="Consolas" panose="020B0609020204030204" pitchFamily="49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E80E6946-1EC5-5101-92E4-2AFF51F195F9}"/>
                </a:ext>
              </a:extLst>
            </p:cNvPr>
            <p:cNvSpPr/>
            <p:nvPr/>
          </p:nvSpPr>
          <p:spPr>
            <a:xfrm>
              <a:off x="4010327" y="155391"/>
              <a:ext cx="3147015" cy="117712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ACD3D29-6A6A-758D-1114-DC0EC381DE4B}"/>
              </a:ext>
            </a:extLst>
          </p:cNvPr>
          <p:cNvSpPr txBox="1"/>
          <p:nvPr/>
        </p:nvSpPr>
        <p:spPr>
          <a:xfrm>
            <a:off x="0" y="795867"/>
            <a:ext cx="31470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What string literal can replace </a:t>
            </a:r>
            <a:r>
              <a:rPr lang="en-CA" sz="2400" b="1" dirty="0">
                <a:solidFill>
                  <a:srgbClr val="FF0000"/>
                </a:solidFill>
                <a:latin typeface="Consolas" panose="020B0609020204030204" pitchFamily="49" charset="0"/>
              </a:rPr>
              <a:t>???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print</a:t>
            </a:r>
            <a:r>
              <a:rPr lang="en-CA" sz="2400" dirty="0"/>
              <a:t> so it prints this?</a:t>
            </a:r>
            <a:endParaRPr lang="en-AU" sz="24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84509B-75C8-3B54-0F4F-A27082D79A66}"/>
              </a:ext>
            </a:extLst>
          </p:cNvPr>
          <p:cNvCxnSpPr>
            <a:cxnSpLocks/>
          </p:cNvCxnSpPr>
          <p:nvPr/>
        </p:nvCxnSpPr>
        <p:spPr>
          <a:xfrm>
            <a:off x="2473234" y="1789188"/>
            <a:ext cx="748937" cy="318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F314B6A7-17C2-7305-FA61-4FE047655185}"/>
              </a:ext>
            </a:extLst>
          </p:cNvPr>
          <p:cNvGrpSpPr/>
          <p:nvPr/>
        </p:nvGrpSpPr>
        <p:grpSpPr>
          <a:xfrm>
            <a:off x="353147" y="3645060"/>
            <a:ext cx="8225329" cy="1015663"/>
            <a:chOff x="3653724" y="3684994"/>
            <a:chExt cx="8225329" cy="1015663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75075B7-32A7-863E-5A62-4AD24EAAD598}"/>
                </a:ext>
              </a:extLst>
            </p:cNvPr>
            <p:cNvSpPr txBox="1"/>
            <p:nvPr/>
          </p:nvSpPr>
          <p:spPr>
            <a:xfrm>
              <a:off x="3653724" y="3684994"/>
              <a:ext cx="8225329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6000" dirty="0">
                  <a:latin typeface="Consolas" panose="020B0609020204030204" pitchFamily="49" charset="0"/>
                </a:rPr>
                <a:t>print(</a:t>
              </a:r>
              <a:r>
                <a:rPr lang="en-CA" sz="6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'</a:t>
              </a:r>
              <a:r>
                <a:rPr lang="en-CA" sz="6000" dirty="0">
                  <a:latin typeface="Consolas" panose="020B0609020204030204" pitchFamily="49" charset="0"/>
                </a:rPr>
                <a:t>"a"\\\'b\'</a:t>
              </a:r>
              <a:r>
                <a:rPr lang="en-CA" sz="6000" dirty="0">
                  <a:solidFill>
                    <a:srgbClr val="FF0000"/>
                  </a:solidFill>
                  <a:latin typeface="Consolas" panose="020B0609020204030204" pitchFamily="49" charset="0"/>
                </a:rPr>
                <a:t>'</a:t>
              </a:r>
              <a:r>
                <a:rPr lang="en-CA" sz="6000" dirty="0">
                  <a:latin typeface="Consolas" panose="020B0609020204030204" pitchFamily="49" charset="0"/>
                </a:rPr>
                <a:t>)</a:t>
              </a:r>
              <a:endParaRPr lang="en-AU" sz="6000" dirty="0">
                <a:latin typeface="Consolas" panose="020B0609020204030204" pitchFamily="49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24E98B0-1186-F0A5-4CFB-34BEC58D2315}"/>
                </a:ext>
              </a:extLst>
            </p:cNvPr>
            <p:cNvSpPr/>
            <p:nvPr/>
          </p:nvSpPr>
          <p:spPr>
            <a:xfrm>
              <a:off x="7968342" y="3818355"/>
              <a:ext cx="775063" cy="748937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5D94A21-2725-16E6-EDB5-2C9BE6F9ED0E}"/>
                </a:ext>
              </a:extLst>
            </p:cNvPr>
            <p:cNvSpPr/>
            <p:nvPr/>
          </p:nvSpPr>
          <p:spPr>
            <a:xfrm>
              <a:off x="8799948" y="3818355"/>
              <a:ext cx="775063" cy="748937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B1252F3-7A0F-77E3-BDD7-DC04AE20F7C7}"/>
                </a:ext>
              </a:extLst>
            </p:cNvPr>
            <p:cNvSpPr/>
            <p:nvPr/>
          </p:nvSpPr>
          <p:spPr>
            <a:xfrm>
              <a:off x="10080171" y="3818355"/>
              <a:ext cx="775063" cy="748937"/>
            </a:xfrm>
            <a:prstGeom prst="rect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E37A870-1275-4C46-A852-7A59B81DC9B2}"/>
              </a:ext>
            </a:extLst>
          </p:cNvPr>
          <p:cNvSpPr txBox="1"/>
          <p:nvPr/>
        </p:nvSpPr>
        <p:spPr>
          <a:xfrm>
            <a:off x="338951" y="4587655"/>
            <a:ext cx="82253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CA" sz="6000" dirty="0">
                <a:latin typeface="Consolas" panose="020B0609020204030204" pitchFamily="49" charset="0"/>
              </a:rPr>
              <a:t>\"a\"\\'b'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D1688E-A341-9616-A3E8-E7DF8C46DA3F}"/>
              </a:ext>
            </a:extLst>
          </p:cNvPr>
          <p:cNvSpPr/>
          <p:nvPr/>
        </p:nvSpPr>
        <p:spPr>
          <a:xfrm>
            <a:off x="3399470" y="4751994"/>
            <a:ext cx="775063" cy="74893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BDCC86-427E-CB06-64E3-FE5E290BABDE}"/>
              </a:ext>
            </a:extLst>
          </p:cNvPr>
          <p:cNvSpPr/>
          <p:nvPr/>
        </p:nvSpPr>
        <p:spPr>
          <a:xfrm>
            <a:off x="4667765" y="4751994"/>
            <a:ext cx="775063" cy="74893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BE8F1B-723A-804D-A3BA-CEC0A460D8A8}"/>
              </a:ext>
            </a:extLst>
          </p:cNvPr>
          <p:cNvSpPr/>
          <p:nvPr/>
        </p:nvSpPr>
        <p:spPr>
          <a:xfrm>
            <a:off x="5499370" y="4751994"/>
            <a:ext cx="775063" cy="74893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1AB609-0A18-8624-8446-9CD92251D3E3}"/>
              </a:ext>
            </a:extLst>
          </p:cNvPr>
          <p:cNvSpPr txBox="1"/>
          <p:nvPr/>
        </p:nvSpPr>
        <p:spPr>
          <a:xfrm>
            <a:off x="324755" y="5463047"/>
            <a:ext cx="90717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latin typeface="Consolas" panose="020B0609020204030204" pitchFamily="49" charset="0"/>
              </a:rPr>
              <a:t>print(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</a:t>
            </a:r>
            <a:r>
              <a:rPr lang="en-CA" sz="6000" dirty="0">
                <a:latin typeface="Consolas" panose="020B0609020204030204" pitchFamily="49" charset="0"/>
              </a:rPr>
              <a:t>"a"\\'b'</a:t>
            </a:r>
            <a:r>
              <a:rPr lang="en-CA" sz="6000" dirty="0">
                <a:solidFill>
                  <a:srgbClr val="FF0000"/>
                </a:solidFill>
                <a:latin typeface="Consolas" panose="020B0609020204030204" pitchFamily="49" charset="0"/>
              </a:rPr>
              <a:t>"""</a:t>
            </a:r>
            <a:r>
              <a:rPr lang="en-CA" sz="6000" dirty="0">
                <a:latin typeface="Consolas" panose="020B0609020204030204" pitchFamily="49" charset="0"/>
              </a:rPr>
              <a:t>)</a:t>
            </a:r>
            <a:endParaRPr lang="en-AU" sz="6000" dirty="0">
              <a:latin typeface="Consolas" panose="020B0609020204030204" pitchFamily="49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DFE855-2B83-0EE8-2ECE-B08F0EFD6354}"/>
              </a:ext>
            </a:extLst>
          </p:cNvPr>
          <p:cNvSpPr/>
          <p:nvPr/>
        </p:nvSpPr>
        <p:spPr>
          <a:xfrm>
            <a:off x="5499369" y="5642922"/>
            <a:ext cx="775063" cy="748937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9074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2C8BA-44A8-97C3-1169-1D708685A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57F89-71FE-6569-5F46-36C1B5D8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D1EB41-CC4A-A9BE-3204-58C7D3BE8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A7A0FC-0B3D-9135-947D-8709D84E764B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21291C-3890-70DA-E603-7EAD2A32E261}"/>
              </a:ext>
            </a:extLst>
          </p:cNvPr>
          <p:cNvSpPr txBox="1"/>
          <p:nvPr/>
        </p:nvSpPr>
        <p:spPr>
          <a:xfrm>
            <a:off x="225255" y="255300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represent a string in memory as a sequence of numbered boxes as shown.</a:t>
            </a:r>
            <a:endParaRPr lang="en-A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35DA40E-1188-90E4-3328-6E8E7153147E}"/>
              </a:ext>
            </a:extLst>
          </p:cNvPr>
          <p:cNvGrpSpPr/>
          <p:nvPr/>
        </p:nvGrpSpPr>
        <p:grpSpPr>
          <a:xfrm>
            <a:off x="3971108" y="2325864"/>
            <a:ext cx="914033" cy="1752122"/>
            <a:chOff x="5225143" y="1529556"/>
            <a:chExt cx="914033" cy="1752122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907060A-94AF-3E53-BF48-8E9895DDADEF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39DF0A-60E9-EA34-AFFA-90338EC3524A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42AA45-9AF8-D99B-37CD-6504EADA335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CE159A0-3EF6-2290-984E-95F8A82E1071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030DD2D-C572-1E96-A876-75A415CB7962}"/>
              </a:ext>
            </a:extLst>
          </p:cNvPr>
          <p:cNvGrpSpPr/>
          <p:nvPr/>
        </p:nvGrpSpPr>
        <p:grpSpPr>
          <a:xfrm>
            <a:off x="5107576" y="2325864"/>
            <a:ext cx="914033" cy="1752122"/>
            <a:chOff x="5225143" y="1529556"/>
            <a:chExt cx="914033" cy="175212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FC706C0-ABA0-11E8-83E3-5C8FD252C338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F71ACBC-FA77-B08B-C03D-E152276AE1A9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2D491AC-F423-0EA4-972C-B098D92D590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33D5E0E-73B7-F802-02DD-3C74BA9F4B67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9B9AF00-FDBE-9B84-1289-4C53B3178677}"/>
              </a:ext>
            </a:extLst>
          </p:cNvPr>
          <p:cNvGrpSpPr/>
          <p:nvPr/>
        </p:nvGrpSpPr>
        <p:grpSpPr>
          <a:xfrm>
            <a:off x="6249876" y="2325864"/>
            <a:ext cx="914033" cy="1752122"/>
            <a:chOff x="5225143" y="1529556"/>
            <a:chExt cx="914033" cy="175212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D214C5-3150-19D2-819A-915F2B959632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AF19539-3BA5-1C14-5162-A1DD65FF0B91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0BDE6F7-0ABA-C672-A1E1-32A8DAC4EFB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BEA343A-B282-F5C1-0BB8-53314774788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3AD5B54-3725-2AD4-98A5-4A16E80FFBE1}"/>
              </a:ext>
            </a:extLst>
          </p:cNvPr>
          <p:cNvGrpSpPr/>
          <p:nvPr/>
        </p:nvGrpSpPr>
        <p:grpSpPr>
          <a:xfrm>
            <a:off x="7388647" y="2325864"/>
            <a:ext cx="914033" cy="1752122"/>
            <a:chOff x="5225143" y="1529556"/>
            <a:chExt cx="914033" cy="1752122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08419B7-2671-56C7-3C58-F251A3C31607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5BD2F29-2013-39D3-A40F-7D70A3A441A0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5711E1F-5118-1321-587B-1A160DE3537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AA63318-C290-711B-84F3-EACFEA8F5EE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A8C73F30-5A50-600B-669B-A5B76F5D1E96}"/>
              </a:ext>
            </a:extLst>
          </p:cNvPr>
          <p:cNvGrpSpPr/>
          <p:nvPr/>
        </p:nvGrpSpPr>
        <p:grpSpPr>
          <a:xfrm>
            <a:off x="8527418" y="2325864"/>
            <a:ext cx="914033" cy="1752122"/>
            <a:chOff x="5225143" y="1529556"/>
            <a:chExt cx="914033" cy="175212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EE449DE-9EAA-E819-62E3-370F20517886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366056D-2085-4D34-3F2D-C43F90CB6974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F48C05-EE21-CE91-CAE8-00F7E4B832D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D1E03440-7CA0-86C0-AAFA-ED2D010446FE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C80C790-129C-4A8B-EE0E-15A87AC940DC}"/>
              </a:ext>
            </a:extLst>
          </p:cNvPr>
          <p:cNvGrpSpPr/>
          <p:nvPr/>
        </p:nvGrpSpPr>
        <p:grpSpPr>
          <a:xfrm>
            <a:off x="9641911" y="2325864"/>
            <a:ext cx="914033" cy="1752122"/>
            <a:chOff x="5225143" y="1529556"/>
            <a:chExt cx="914033" cy="1752122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8620418A-95BC-7317-17AA-425F7020496E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FCAA4F7-6340-E7FC-5BE7-1E0353903B03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20634D50-6F64-51DD-35ED-7D34197FD3F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90DC791-2CFD-C477-88C7-0D86CA86EA8A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310511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2F78E-4833-A74E-72BC-6B3414EEB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FA4E8-8712-3AB9-3EB7-A77EB6DE4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D783734-31CA-F18A-3CBF-162DF7014E4B}"/>
              </a:ext>
            </a:extLst>
          </p:cNvPr>
          <p:cNvGrpSpPr/>
          <p:nvPr/>
        </p:nvGrpSpPr>
        <p:grpSpPr>
          <a:xfrm>
            <a:off x="3971108" y="2325864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D946EA1-46EA-E789-21BF-0B2CFE42115A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EF82502-D552-9654-0417-9BE0C0058EDF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554996-EFEE-4E69-4B5C-477A0A06665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D8C2CA-AEFE-C909-EAB2-78D47A09C79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7C59DDA-DC9A-8D2A-5E3D-0B02FC2159DC}"/>
              </a:ext>
            </a:extLst>
          </p:cNvPr>
          <p:cNvGrpSpPr/>
          <p:nvPr/>
        </p:nvGrpSpPr>
        <p:grpSpPr>
          <a:xfrm>
            <a:off x="5107576" y="2325864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B763275-AC34-1107-0950-F46399C61F4C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F810A3-D147-72EF-0643-69E3CECE9C2E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19A3798-C845-CB32-E5F2-D59D62790A9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01DB73E-6307-ACFA-1782-904D5CBC841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B2CD687-45D0-E388-649C-506362C3FA54}"/>
              </a:ext>
            </a:extLst>
          </p:cNvPr>
          <p:cNvGrpSpPr/>
          <p:nvPr/>
        </p:nvGrpSpPr>
        <p:grpSpPr>
          <a:xfrm>
            <a:off x="6249876" y="2325864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5FE90D2-935C-C67E-A4EC-3D0FE203BD09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6C6806F-77DB-7E7C-B7F6-D930EE9DC2FC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ABAD687-DE88-E783-10F8-C86A057F5DA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9DD97CF-9DFE-11DD-9779-6150B61C08CC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385FD12-E315-C9C3-C2B2-C25B6077F8E8}"/>
              </a:ext>
            </a:extLst>
          </p:cNvPr>
          <p:cNvGrpSpPr/>
          <p:nvPr/>
        </p:nvGrpSpPr>
        <p:grpSpPr>
          <a:xfrm>
            <a:off x="7388647" y="2325864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D273E66-CE1E-3062-A408-76E5A3A81C7A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3A3890-4DE5-EDE6-A254-A8BB240DA8AF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B84BE96-6FC8-B636-AB6E-451DE33A7BB4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FF987CC8-8CE7-D158-9491-C3667864859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A25BF27-A3E6-864B-D8FF-416E07860997}"/>
              </a:ext>
            </a:extLst>
          </p:cNvPr>
          <p:cNvGrpSpPr/>
          <p:nvPr/>
        </p:nvGrpSpPr>
        <p:grpSpPr>
          <a:xfrm>
            <a:off x="8527418" y="2325864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EA8F2DF-B5A0-C916-8B0C-87906FFEE4A5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77F9E51-CD62-90F1-62FB-397E3CCCB2E8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1E255BB-B952-AF79-D24E-28F897F346F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AC275F5-8606-AAA4-65C9-95AE1305102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71BC95-368E-03C2-1E8B-54773EAF7ACA}"/>
              </a:ext>
            </a:extLst>
          </p:cNvPr>
          <p:cNvGrpSpPr/>
          <p:nvPr/>
        </p:nvGrpSpPr>
        <p:grpSpPr>
          <a:xfrm>
            <a:off x="9641911" y="2325864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63AED61-F300-AAF2-9B4D-48F92F1A6200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DF007C6-F1D4-9E3D-FDF7-DBBCEB53A4B9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5D3F50-B5FC-D944-9F5C-9C924CA1FFD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050E33A-202F-123F-634F-F44B3D8E6DE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B4F2C273-ACEE-8E16-CA6B-1FE509D6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051D4-A87B-ABDC-7E48-E329D874350B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366F62-31F9-D0F8-D4C3-E14C15DD300E}"/>
              </a:ext>
            </a:extLst>
          </p:cNvPr>
          <p:cNvSpPr txBox="1"/>
          <p:nvPr/>
        </p:nvSpPr>
        <p:spPr>
          <a:xfrm>
            <a:off x="225255" y="255300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represent a string in memory as a sequence of numbered boxes as shown.</a:t>
            </a:r>
            <a:endParaRPr lang="en-A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E98685-A776-0048-9E95-1E92F409B7DE}"/>
              </a:ext>
            </a:extLst>
          </p:cNvPr>
          <p:cNvSpPr/>
          <p:nvPr/>
        </p:nvSpPr>
        <p:spPr>
          <a:xfrm>
            <a:off x="4212360" y="2394856"/>
            <a:ext cx="6102331" cy="44816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5283A-8C48-62CC-B5F3-A0D27A649FE8}"/>
              </a:ext>
            </a:extLst>
          </p:cNvPr>
          <p:cNvSpPr txBox="1"/>
          <p:nvPr/>
        </p:nvSpPr>
        <p:spPr>
          <a:xfrm>
            <a:off x="5902185" y="291391"/>
            <a:ext cx="296314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are the </a:t>
            </a:r>
            <a:r>
              <a:rPr lang="en-CA" b="1" dirty="0"/>
              <a:t>index values</a:t>
            </a:r>
            <a:r>
              <a:rPr lang="en-CA" dirty="0"/>
              <a:t>, or </a:t>
            </a:r>
            <a:r>
              <a:rPr lang="en-CA" b="1" dirty="0"/>
              <a:t>indices</a:t>
            </a:r>
            <a:r>
              <a:rPr lang="en-CA" dirty="0"/>
              <a:t>, of the characters of the string.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650372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8E47C-C5BE-6397-C752-474737065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4D974-EE86-7DEA-FE78-9888FF6F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990EF9E-760C-DC30-31CB-947333E2EBDD}"/>
              </a:ext>
            </a:extLst>
          </p:cNvPr>
          <p:cNvGrpSpPr/>
          <p:nvPr/>
        </p:nvGrpSpPr>
        <p:grpSpPr>
          <a:xfrm>
            <a:off x="3971108" y="2325864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2F949B9-77D9-1022-A7AE-60C02C7BC722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31491F0-5184-310F-EB47-1EE3D1FA328D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4660ED-3988-04B8-9D16-39487B63088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A7E63A1-5EBB-36A5-4F36-30C3089310C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391E38A-1671-F395-886A-81F316C1753B}"/>
              </a:ext>
            </a:extLst>
          </p:cNvPr>
          <p:cNvGrpSpPr/>
          <p:nvPr/>
        </p:nvGrpSpPr>
        <p:grpSpPr>
          <a:xfrm>
            <a:off x="5107576" y="2325864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C95F546-7D02-3E0B-E35C-A5A7090FBB25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9DBD85-7ACF-899C-28F5-2D8FDADCF2D3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F390D14-4A75-CC6B-2EA1-82DC4301676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FA5ED96-44B6-0ED0-9965-050F8A59115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23755F-8D73-13F4-BC62-FC577761F7A6}"/>
              </a:ext>
            </a:extLst>
          </p:cNvPr>
          <p:cNvGrpSpPr/>
          <p:nvPr/>
        </p:nvGrpSpPr>
        <p:grpSpPr>
          <a:xfrm>
            <a:off x="6249876" y="2325864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5B09B81-AD2A-7FC2-D21A-21C1F4B87709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E8CE895-524B-925E-F0BD-DC081B28FE09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4D3591E-E563-EBD2-DE70-C69667AEE7C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623EAE6-69BE-4C95-26F0-F4C8C8FA9848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BDCF84E-7D71-B6EE-12F3-ED7A8B21588E}"/>
              </a:ext>
            </a:extLst>
          </p:cNvPr>
          <p:cNvGrpSpPr/>
          <p:nvPr/>
        </p:nvGrpSpPr>
        <p:grpSpPr>
          <a:xfrm>
            <a:off x="7388647" y="2325864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C764C1A-EFAB-A289-A60E-753CE940C27F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E94E02B-42DD-DF33-7292-6DAD0C62D4CE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661A0DA-62F3-A539-0FD0-08A5FC2ED0C8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32BC7FA-5C21-A344-7A8D-07F7E9C6328C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C17B83A-F4F3-0787-7616-54347366C20A}"/>
              </a:ext>
            </a:extLst>
          </p:cNvPr>
          <p:cNvGrpSpPr/>
          <p:nvPr/>
        </p:nvGrpSpPr>
        <p:grpSpPr>
          <a:xfrm>
            <a:off x="8527418" y="2325864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1E331DE-CE90-4353-D1CE-E9D9DECDD58E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61237DB-66BB-3BE5-F61C-99846E20A831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2A9EF6-84CE-4CFF-4D26-CDE45933DB6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17C5665-4F74-77C2-B3BB-40373CEF118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79E8BF2-AD62-74CE-27BF-9B487798CB06}"/>
              </a:ext>
            </a:extLst>
          </p:cNvPr>
          <p:cNvGrpSpPr/>
          <p:nvPr/>
        </p:nvGrpSpPr>
        <p:grpSpPr>
          <a:xfrm>
            <a:off x="9641911" y="2325864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E05F9C8-A727-FAEC-2BB4-8EFA41885FDD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5F7A519-0400-2DDA-8B7E-DCD3706A7F3C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46EB531-86A6-EE71-A724-1D0B5E35FDC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6EE68E1-6B71-3207-574E-810BFC94BC30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4E846F2C-0EBD-2C93-807A-3EE0B4FB0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FB260-C18B-3E3A-B6A4-F6415942DA32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B7FDEA-5567-5A54-8A13-0615C2B4D32A}"/>
              </a:ext>
            </a:extLst>
          </p:cNvPr>
          <p:cNvSpPr txBox="1"/>
          <p:nvPr/>
        </p:nvSpPr>
        <p:spPr>
          <a:xfrm>
            <a:off x="225255" y="255300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We can represent a string in memory as a sequence of numbered boxes as shown.</a:t>
            </a:r>
            <a:endParaRPr lang="en-AU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6BB1864-1290-5BFB-A744-B8F37914F0D5}"/>
              </a:ext>
            </a:extLst>
          </p:cNvPr>
          <p:cNvSpPr/>
          <p:nvPr/>
        </p:nvSpPr>
        <p:spPr>
          <a:xfrm>
            <a:off x="4212360" y="2394856"/>
            <a:ext cx="6102331" cy="448163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FD085D-53D3-666B-03B7-8B9377A3AA04}"/>
              </a:ext>
            </a:extLst>
          </p:cNvPr>
          <p:cNvSpPr txBox="1"/>
          <p:nvPr/>
        </p:nvSpPr>
        <p:spPr>
          <a:xfrm>
            <a:off x="5902185" y="291391"/>
            <a:ext cx="296314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are the </a:t>
            </a:r>
            <a:r>
              <a:rPr lang="en-CA" b="1" dirty="0"/>
              <a:t>index values</a:t>
            </a:r>
            <a:r>
              <a:rPr lang="en-CA" dirty="0"/>
              <a:t>, or </a:t>
            </a:r>
            <a:r>
              <a:rPr lang="en-CA" b="1" dirty="0"/>
              <a:t>indices</a:t>
            </a:r>
            <a:r>
              <a:rPr lang="en-CA" dirty="0"/>
              <a:t>, of the characters of the string.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BDB00-6AB3-69D2-A706-B8E74BD67FBD}"/>
              </a:ext>
            </a:extLst>
          </p:cNvPr>
          <p:cNvSpPr txBox="1"/>
          <p:nvPr/>
        </p:nvSpPr>
        <p:spPr>
          <a:xfrm>
            <a:off x="3653724" y="1638579"/>
            <a:ext cx="161285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/>
              <a:t>first index </a:t>
            </a:r>
            <a:r>
              <a:rPr lang="en-CA" dirty="0"/>
              <a:t>is always 0.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CCAF13-D48E-71C8-119A-3399088EEE8C}"/>
              </a:ext>
            </a:extLst>
          </p:cNvPr>
          <p:cNvSpPr txBox="1"/>
          <p:nvPr/>
        </p:nvSpPr>
        <p:spPr>
          <a:xfrm>
            <a:off x="9441451" y="1392604"/>
            <a:ext cx="230926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</a:t>
            </a:r>
            <a:r>
              <a:rPr lang="en-CA" b="1" dirty="0"/>
              <a:t>last index </a:t>
            </a:r>
            <a:r>
              <a:rPr lang="en-CA" dirty="0"/>
              <a:t>is always 1 less than the string’s length.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6958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D388B-49A6-CFD2-0104-1A0E4942A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85B35E-0C42-6C02-BE43-00B2BAF2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C982897-FF10-F371-6714-7FFB9A4AB8E4}"/>
              </a:ext>
            </a:extLst>
          </p:cNvPr>
          <p:cNvGrpSpPr/>
          <p:nvPr/>
        </p:nvGrpSpPr>
        <p:grpSpPr>
          <a:xfrm>
            <a:off x="4180114" y="189703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A51305A-B7BA-0687-429E-44BCD4E758CB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A140848-4583-6FE9-F07A-B62604DC545E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5E0743D-29B8-BA81-94E0-29870383C08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229A8A-2F69-AC44-3B5F-D82D3547B068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290D0C-7897-A331-F22E-53F5582362B1}"/>
              </a:ext>
            </a:extLst>
          </p:cNvPr>
          <p:cNvGrpSpPr/>
          <p:nvPr/>
        </p:nvGrpSpPr>
        <p:grpSpPr>
          <a:xfrm>
            <a:off x="5316582" y="189703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9C6145C-0C7F-2BC5-56C1-E1BF9EE95286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6E1F97F-97B9-696F-BCDB-7E0118BEB2BA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B4373B1-3354-096A-62F0-052A4EFBD0A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A96DEB5-4E35-7F43-13F1-1DD020BE313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0F11603-5F38-E9D2-F343-3ED9E6691FAE}"/>
              </a:ext>
            </a:extLst>
          </p:cNvPr>
          <p:cNvGrpSpPr/>
          <p:nvPr/>
        </p:nvGrpSpPr>
        <p:grpSpPr>
          <a:xfrm>
            <a:off x="6458882" y="189703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7DCC25A-0413-4A73-6CEF-3D6A590182AA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43F5D31-C097-7AEE-DB82-AE8DC0620DE6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665C50E-DAE6-13AE-19B7-67CC394C962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7D95238-338E-8758-A34E-54FCBE4DF76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A1A9DA-50B5-4DFD-BAF2-829D04D190A2}"/>
              </a:ext>
            </a:extLst>
          </p:cNvPr>
          <p:cNvGrpSpPr/>
          <p:nvPr/>
        </p:nvGrpSpPr>
        <p:grpSpPr>
          <a:xfrm>
            <a:off x="7597653" y="189703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A03E87C-73F0-6552-F2F1-9CCD2AF6B927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919927C-A27D-B2D9-D5BF-F19A4DB06786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3CAE5F3-2453-C208-4203-B4F8F6BDA0A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3CAED47-F65A-17FE-17D3-65F1A7F423F3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2581040-5362-CE82-BAD1-3C408376A69E}"/>
              </a:ext>
            </a:extLst>
          </p:cNvPr>
          <p:cNvGrpSpPr/>
          <p:nvPr/>
        </p:nvGrpSpPr>
        <p:grpSpPr>
          <a:xfrm>
            <a:off x="8736424" y="189703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68D16B0-B574-9333-F48D-D86F5AFDFA3F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9E25D86-4450-496C-A558-26BF5C0EDA90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DD8AB2C-DB18-D8A0-373A-060AB17744E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13A10DA-5E58-1203-B0F0-67A8CB4984B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45CAE08-D117-3D8C-47D0-3CB81E446FEA}"/>
              </a:ext>
            </a:extLst>
          </p:cNvPr>
          <p:cNvGrpSpPr/>
          <p:nvPr/>
        </p:nvGrpSpPr>
        <p:grpSpPr>
          <a:xfrm>
            <a:off x="9850917" y="189703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A68010C-6E0F-EF2B-A435-73C7BC9C4029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5179913-067F-3A8C-9257-6FC912E824FF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FF2901E-55DD-8FFD-B482-96B1BBDA74A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D7EDCD3-97E4-2013-0F4D-7826A58C52E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ED1E3C73-4396-D2BB-9A67-153F6DA3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1AE489-6694-BD7B-4FD6-CB3DAD20BA36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5DD9D9-5351-BA73-EE19-EF48C36FEABF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609A4E-8A15-803C-A985-75C53E390E66}"/>
              </a:ext>
            </a:extLst>
          </p:cNvPr>
          <p:cNvSpPr txBox="1"/>
          <p:nvPr/>
        </p:nvSpPr>
        <p:spPr>
          <a:xfrm>
            <a:off x="3200808" y="249610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7961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71CE5-BB2B-3EFF-92F0-98412627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5FD11-0A38-2501-E775-EDFC33169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A3BDF99-FC24-FBC2-3413-231CE66CFC75}"/>
              </a:ext>
            </a:extLst>
          </p:cNvPr>
          <p:cNvGrpSpPr/>
          <p:nvPr/>
        </p:nvGrpSpPr>
        <p:grpSpPr>
          <a:xfrm>
            <a:off x="4180114" y="189703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3033957-D0A9-03E1-3701-6A0679358FD7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D6BB8-A8BB-25C5-6DD4-D3441D6BD27C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2BC176C-43C3-58E1-5496-92440649736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CBBA0C1-8E1A-3896-E71D-DD6FB136E5D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69925D-0FB5-2F2B-F4EF-36C9535AF93F}"/>
              </a:ext>
            </a:extLst>
          </p:cNvPr>
          <p:cNvGrpSpPr/>
          <p:nvPr/>
        </p:nvGrpSpPr>
        <p:grpSpPr>
          <a:xfrm>
            <a:off x="5316582" y="189703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2770ADF-F35A-3CFC-AAA0-F7F575C5029F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7F1F6C0-4863-6538-E315-4E252AA5FE89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0440C74-7C27-1B37-A8FC-9922DAA5B1F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8FABC8-3D25-ADBE-1B0F-D5875F361E3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F81D63F-F627-C1A7-803F-B91E82D870AB}"/>
              </a:ext>
            </a:extLst>
          </p:cNvPr>
          <p:cNvGrpSpPr/>
          <p:nvPr/>
        </p:nvGrpSpPr>
        <p:grpSpPr>
          <a:xfrm>
            <a:off x="6458882" y="189703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5E57C25-B025-6A15-2CCC-FEA0F3EBD4A8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6D7B708-5816-8840-C2E8-51FF443AF7EC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FF77423-F1DC-0B3B-9B0C-60A3A4629E0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3631EE0-6031-F7E8-0351-27F5A209B02A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8DF00B7-CBFB-D0B7-6C34-D1774302DFF6}"/>
              </a:ext>
            </a:extLst>
          </p:cNvPr>
          <p:cNvGrpSpPr/>
          <p:nvPr/>
        </p:nvGrpSpPr>
        <p:grpSpPr>
          <a:xfrm>
            <a:off x="7597653" y="189703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9F96EFEF-D951-6326-C7FF-B4A251F35C1B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A5EA472-C8BA-261D-5776-824DAD87BC96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2583E1-26A2-08C0-2226-E11CB9E7DD0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1C27F0A-DA5F-88DF-D2B7-01941BD972E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4A09CD9-0017-0EE4-2E82-5989FD02190B}"/>
              </a:ext>
            </a:extLst>
          </p:cNvPr>
          <p:cNvGrpSpPr/>
          <p:nvPr/>
        </p:nvGrpSpPr>
        <p:grpSpPr>
          <a:xfrm>
            <a:off x="8736424" y="189703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1AE4607-DEDF-266B-D27A-ABF5BAD2D7EF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E1F94AC-85A2-EA3E-3ED1-4B2B91CA7DC2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0D17273-1AE0-7B19-2C8D-FB52D58AA70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18B6D92-3904-6FA9-4898-E51E8FAA314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873B34F-EE90-7142-B553-F5D98C2152E3}"/>
              </a:ext>
            </a:extLst>
          </p:cNvPr>
          <p:cNvGrpSpPr/>
          <p:nvPr/>
        </p:nvGrpSpPr>
        <p:grpSpPr>
          <a:xfrm>
            <a:off x="9850917" y="189703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FABFC97-FBF5-D36E-E5DE-BE903DDCF5AA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8DE00C2-DB8C-8EE8-5379-66363481F9E6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27DB207-E6D4-9A41-C951-B8E16525D56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F0EA557-2CB7-B9D4-8EF7-2641878DE58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33DF8CFB-3448-33E0-3552-B3FB49EF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9C8F7B-09E8-4DF8-E796-67418B2D7F4C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8FB6F3-94E0-5CF5-E626-C0D8C0E29E9B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7C51C4-5EF8-5566-8BFA-62B8D276505C}"/>
              </a:ext>
            </a:extLst>
          </p:cNvPr>
          <p:cNvSpPr txBox="1"/>
          <p:nvPr/>
        </p:nvSpPr>
        <p:spPr>
          <a:xfrm>
            <a:off x="3200808" y="249610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9A8294-22A0-D7D2-0492-0471C664FC43}"/>
              </a:ext>
            </a:extLst>
          </p:cNvPr>
          <p:cNvSpPr txBox="1"/>
          <p:nvPr/>
        </p:nvSpPr>
        <p:spPr>
          <a:xfrm>
            <a:off x="4027753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E7DFB-857E-97FC-DC91-1DBF56D297ED}"/>
              </a:ext>
            </a:extLst>
          </p:cNvPr>
          <p:cNvSpPr txBox="1"/>
          <p:nvPr/>
        </p:nvSpPr>
        <p:spPr>
          <a:xfrm>
            <a:off x="5155954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A4267C-DF71-EC02-5570-85B15C7900D0}"/>
              </a:ext>
            </a:extLst>
          </p:cNvPr>
          <p:cNvSpPr txBox="1"/>
          <p:nvPr/>
        </p:nvSpPr>
        <p:spPr>
          <a:xfrm>
            <a:off x="6284155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B81877-F012-D8B0-C84D-117311F57466}"/>
              </a:ext>
            </a:extLst>
          </p:cNvPr>
          <p:cNvSpPr txBox="1"/>
          <p:nvPr/>
        </p:nvSpPr>
        <p:spPr>
          <a:xfrm>
            <a:off x="7412356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9DBFF7-CC71-BAF6-38CC-341894351E40}"/>
              </a:ext>
            </a:extLst>
          </p:cNvPr>
          <p:cNvSpPr txBox="1"/>
          <p:nvPr/>
        </p:nvSpPr>
        <p:spPr>
          <a:xfrm>
            <a:off x="8540557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613390-3153-8F54-74CF-A52470A946BA}"/>
              </a:ext>
            </a:extLst>
          </p:cNvPr>
          <p:cNvSpPr txBox="1"/>
          <p:nvPr/>
        </p:nvSpPr>
        <p:spPr>
          <a:xfrm>
            <a:off x="9668759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80092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D59BD-072C-CCE5-32EA-A0689D18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1FD99-287B-D02B-3B5E-6BEBBAD07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54B3F7-01B4-3615-2666-2CEE01BED75F}"/>
              </a:ext>
            </a:extLst>
          </p:cNvPr>
          <p:cNvGrpSpPr/>
          <p:nvPr/>
        </p:nvGrpSpPr>
        <p:grpSpPr>
          <a:xfrm>
            <a:off x="4180114" y="189703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86BBED7-F611-9A89-0476-353B6499FE2F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CCDD8F-105C-E188-C8F7-FB33C5F47AD4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F38865-0E15-F4BF-E0D9-F1A7336EE63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1DCBC35-DFFB-F7EB-6308-CF6ADE59DE4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B1F7807-4794-330D-B4B7-E5155637652F}"/>
              </a:ext>
            </a:extLst>
          </p:cNvPr>
          <p:cNvGrpSpPr/>
          <p:nvPr/>
        </p:nvGrpSpPr>
        <p:grpSpPr>
          <a:xfrm>
            <a:off x="5316582" y="189703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3D45F2F-1273-BB44-79AD-4018C32C98E5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B84C47D-BEA6-5E62-3A31-A545A31C0B08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B92E3DF-D9E7-F199-FB6F-4A08CD2AD2E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750BBDD-B013-25A5-2C54-48AEFCB03771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72F11BD-3E12-6EAC-B888-110BD7994FB1}"/>
              </a:ext>
            </a:extLst>
          </p:cNvPr>
          <p:cNvGrpSpPr/>
          <p:nvPr/>
        </p:nvGrpSpPr>
        <p:grpSpPr>
          <a:xfrm>
            <a:off x="6458882" y="189703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5E0F8417-E07A-8A3D-76D1-74AA0DCB6AF3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36F9DC3-EB41-EC35-DEB9-81378966FFF8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3237783A-C5E3-73D0-6FF2-090C45C6BEA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C21170B-D8B6-F3D7-A66C-6F5B730916D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363BA7-2A22-32EA-6D44-3979F751C1C7}"/>
              </a:ext>
            </a:extLst>
          </p:cNvPr>
          <p:cNvGrpSpPr/>
          <p:nvPr/>
        </p:nvGrpSpPr>
        <p:grpSpPr>
          <a:xfrm>
            <a:off x="7597653" y="189703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3C7376C-EC47-56E7-DAA1-744FDD69FF09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FB55723-E4D7-5ADF-DB89-0C8B9A054439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B0D2B7F-6666-8940-3382-A12D2CD2A9D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F98C7A8-046F-7949-CFC1-84D2B0EED67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DB75C07-02C9-0450-3ED9-868C48AFB321}"/>
              </a:ext>
            </a:extLst>
          </p:cNvPr>
          <p:cNvGrpSpPr/>
          <p:nvPr/>
        </p:nvGrpSpPr>
        <p:grpSpPr>
          <a:xfrm>
            <a:off x="8736424" y="189703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43D0DED-6AF4-7005-73D9-E9DD9F7B2AFB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DB16BDB-C72B-71A6-254D-4D0F69846739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053B90D-C59C-DF42-1A6C-3C7C7E341D4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EFA7B38-8551-D257-E110-C984369C2128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C7BB066-F451-580B-D8CA-A810F9DDA45F}"/>
              </a:ext>
            </a:extLst>
          </p:cNvPr>
          <p:cNvGrpSpPr/>
          <p:nvPr/>
        </p:nvGrpSpPr>
        <p:grpSpPr>
          <a:xfrm>
            <a:off x="9850917" y="189703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7522264-E56D-00C1-3759-5C91A87C4A04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6534E4A-4BF3-F95F-D0F7-6663BEDE1F4A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9947CDE-3DEE-089B-1C68-D0F0B07AFE5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C2AB745-76E1-EE1C-AD03-C19EFE489FC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9672069-6632-4D05-5028-742146A5A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D000F-CC77-1961-43C6-543D245A8E3B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3210FD-3B66-97F3-BA79-ACD65CBFD87E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B81E6-B3F4-D6CA-5D93-654D3349C237}"/>
              </a:ext>
            </a:extLst>
          </p:cNvPr>
          <p:cNvSpPr txBox="1"/>
          <p:nvPr/>
        </p:nvSpPr>
        <p:spPr>
          <a:xfrm>
            <a:off x="3200808" y="249610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55C184-170B-D94C-B4BB-A80C3C847079}"/>
              </a:ext>
            </a:extLst>
          </p:cNvPr>
          <p:cNvSpPr txBox="1"/>
          <p:nvPr/>
        </p:nvSpPr>
        <p:spPr>
          <a:xfrm>
            <a:off x="4027753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9287F8-EEE3-E956-1499-E8484AED6187}"/>
              </a:ext>
            </a:extLst>
          </p:cNvPr>
          <p:cNvSpPr txBox="1"/>
          <p:nvPr/>
        </p:nvSpPr>
        <p:spPr>
          <a:xfrm>
            <a:off x="5155954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EE4E4F-F160-CC64-F02F-DB840C570CDE}"/>
              </a:ext>
            </a:extLst>
          </p:cNvPr>
          <p:cNvSpPr txBox="1"/>
          <p:nvPr/>
        </p:nvSpPr>
        <p:spPr>
          <a:xfrm>
            <a:off x="6284155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4648DB-B490-B7FB-2CB8-49D7BEA6AB2C}"/>
              </a:ext>
            </a:extLst>
          </p:cNvPr>
          <p:cNvSpPr txBox="1"/>
          <p:nvPr/>
        </p:nvSpPr>
        <p:spPr>
          <a:xfrm>
            <a:off x="7412356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166A85-CE92-182A-52DD-9D32DF040680}"/>
              </a:ext>
            </a:extLst>
          </p:cNvPr>
          <p:cNvSpPr txBox="1"/>
          <p:nvPr/>
        </p:nvSpPr>
        <p:spPr>
          <a:xfrm>
            <a:off x="8540557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37ECC6-2C1A-4DF1-A3A9-6D2A96F2E58E}"/>
              </a:ext>
            </a:extLst>
          </p:cNvPr>
          <p:cNvSpPr txBox="1"/>
          <p:nvPr/>
        </p:nvSpPr>
        <p:spPr>
          <a:xfrm>
            <a:off x="9668759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8AF74E-C649-1BFE-5282-F33E861F3561}"/>
              </a:ext>
            </a:extLst>
          </p:cNvPr>
          <p:cNvSpPr txBox="1"/>
          <p:nvPr/>
        </p:nvSpPr>
        <p:spPr>
          <a:xfrm>
            <a:off x="4852894" y="4515268"/>
            <a:ext cx="6061275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print(s[0])  # P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print(s[3])  # e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print(s[5])  # !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print(s[6])  # </a:t>
            </a:r>
            <a:r>
              <a:rPr lang="en-CA" sz="3200" dirty="0" err="1">
                <a:latin typeface="Consolas" panose="020B0609020204030204" pitchFamily="49" charset="0"/>
              </a:rPr>
              <a:t>IndexError</a:t>
            </a:r>
            <a:r>
              <a:rPr lang="en-CA" sz="3200" dirty="0">
                <a:latin typeface="Consolas" panose="020B0609020204030204" pitchFamily="49" charset="0"/>
              </a:rPr>
              <a:t> </a:t>
            </a:r>
            <a:endParaRPr lang="en-AU" sz="32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103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105B-2DBC-1D4C-E5CE-4A7F602D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6CB15-A478-3C7F-87F4-D0B373D2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78D6FC9-D6ED-0295-77B7-4EC36349878C}"/>
              </a:ext>
            </a:extLst>
          </p:cNvPr>
          <p:cNvGrpSpPr/>
          <p:nvPr/>
        </p:nvGrpSpPr>
        <p:grpSpPr>
          <a:xfrm>
            <a:off x="4180114" y="189703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2112941-FA3B-002D-EEFF-74BFA7EA9C8E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87EAFD8-AAEB-D33E-898E-654E0BD90A1F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A92FE6-960B-EEF8-A30A-BA71E0ACCD9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4CEC701-F1C5-7B4D-4667-EAA519D3810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FC8D2CC-0781-5CFD-79D1-BD0F418AA493}"/>
              </a:ext>
            </a:extLst>
          </p:cNvPr>
          <p:cNvGrpSpPr/>
          <p:nvPr/>
        </p:nvGrpSpPr>
        <p:grpSpPr>
          <a:xfrm>
            <a:off x="5316582" y="189703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A5459BD-71AA-B803-5426-DF5A1035F03A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B345E4-543F-7AC9-49FC-68E1E24202C2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D8DA42D-69F4-636B-3AC7-931BFD828AB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CF8E5ED-10B2-3CAC-23CF-6B5C742C9BA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BE1331F-774C-162A-C3CE-9B7E23F83A38}"/>
              </a:ext>
            </a:extLst>
          </p:cNvPr>
          <p:cNvGrpSpPr/>
          <p:nvPr/>
        </p:nvGrpSpPr>
        <p:grpSpPr>
          <a:xfrm>
            <a:off x="6458882" y="189703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668ED38-24D5-5B72-E883-E2FA4E9A1674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D77AFE6-C767-F7D1-5D08-8B0D8CA68142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254898B-DBB2-B83F-910A-BDE2B57E753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7067C2E-1E69-9CE2-11DE-749CCA9F9417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A40FEE-56D2-7AE4-DFE0-B0226AE78DA9}"/>
              </a:ext>
            </a:extLst>
          </p:cNvPr>
          <p:cNvGrpSpPr/>
          <p:nvPr/>
        </p:nvGrpSpPr>
        <p:grpSpPr>
          <a:xfrm>
            <a:off x="7597653" y="189703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2536517-F6B2-4870-A8C1-DE18633EA257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0DA12E9-344D-5083-8C41-308A8A6DA8CF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0309B4C-2951-2F62-B132-6093BC25E77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E92E0D7-F905-9DD6-2F79-D9D761AB129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8CD6D0C-F887-134C-5F33-491ECFD05305}"/>
              </a:ext>
            </a:extLst>
          </p:cNvPr>
          <p:cNvGrpSpPr/>
          <p:nvPr/>
        </p:nvGrpSpPr>
        <p:grpSpPr>
          <a:xfrm>
            <a:off x="8736424" y="189703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E8AA669-14FB-7132-CE43-0731603CA23D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2F635B1-BFA9-5C89-B9FA-3DDD54457AA4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66627B-EDF5-DD46-8C11-6EEE2C2C932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3DC4364-FEF9-F8D3-BAC8-C62182F5093E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F84E7FB-8171-DC87-48EA-1BC8276799EC}"/>
              </a:ext>
            </a:extLst>
          </p:cNvPr>
          <p:cNvGrpSpPr/>
          <p:nvPr/>
        </p:nvGrpSpPr>
        <p:grpSpPr>
          <a:xfrm>
            <a:off x="9850917" y="189703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6AF3958-D475-D639-D377-B343D7630781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D67C35A-1ABD-22D8-83B2-D0B53F600F4B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097F160-6034-F14E-C938-C17F911037E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192EC5EE-2372-842A-8876-27E9C09A5D2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808669EA-EA0A-ACA2-F8F4-643EA0D8A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09BF44-2C73-0FF1-E0CB-3D31B652CB89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701C7A-349B-B59D-6C3B-D58B5DE63D42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BF2DB-3B78-71BE-050B-345F9F0144DB}"/>
              </a:ext>
            </a:extLst>
          </p:cNvPr>
          <p:cNvSpPr txBox="1"/>
          <p:nvPr/>
        </p:nvSpPr>
        <p:spPr>
          <a:xfrm>
            <a:off x="3200808" y="249610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BD34F1-A782-09F8-2EA2-7D8820C3591E}"/>
              </a:ext>
            </a:extLst>
          </p:cNvPr>
          <p:cNvSpPr txBox="1"/>
          <p:nvPr/>
        </p:nvSpPr>
        <p:spPr>
          <a:xfrm>
            <a:off x="4027753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D9A953-A02B-9A18-2B7C-838A6CBD6D1F}"/>
              </a:ext>
            </a:extLst>
          </p:cNvPr>
          <p:cNvSpPr txBox="1"/>
          <p:nvPr/>
        </p:nvSpPr>
        <p:spPr>
          <a:xfrm>
            <a:off x="5155954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2E0DFF-D79E-3F09-620B-2A6B80B4B614}"/>
              </a:ext>
            </a:extLst>
          </p:cNvPr>
          <p:cNvSpPr txBox="1"/>
          <p:nvPr/>
        </p:nvSpPr>
        <p:spPr>
          <a:xfrm>
            <a:off x="6284155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5C5FF1-73B2-DB84-9268-FEBEA88F0B8D}"/>
              </a:ext>
            </a:extLst>
          </p:cNvPr>
          <p:cNvSpPr txBox="1"/>
          <p:nvPr/>
        </p:nvSpPr>
        <p:spPr>
          <a:xfrm>
            <a:off x="7412356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A02934-01DA-E8A3-1787-833D02BCEE35}"/>
              </a:ext>
            </a:extLst>
          </p:cNvPr>
          <p:cNvSpPr txBox="1"/>
          <p:nvPr/>
        </p:nvSpPr>
        <p:spPr>
          <a:xfrm>
            <a:off x="8540557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1B247-FC6B-EB75-2F81-B3AE371319E0}"/>
              </a:ext>
            </a:extLst>
          </p:cNvPr>
          <p:cNvSpPr txBox="1"/>
          <p:nvPr/>
        </p:nvSpPr>
        <p:spPr>
          <a:xfrm>
            <a:off x="9668759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9EA813-E59C-BC22-DBEA-D46052B73B2A}"/>
              </a:ext>
            </a:extLst>
          </p:cNvPr>
          <p:cNvSpPr txBox="1"/>
          <p:nvPr/>
        </p:nvSpPr>
        <p:spPr>
          <a:xfrm>
            <a:off x="97815" y="4659372"/>
            <a:ext cx="28969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for c in s: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   print(c) </a:t>
            </a:r>
            <a:endParaRPr lang="en-AU" sz="3200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C06DD64-92EC-56D1-C7C1-CD546C08C757}"/>
              </a:ext>
            </a:extLst>
          </p:cNvPr>
          <p:cNvGrpSpPr/>
          <p:nvPr/>
        </p:nvGrpSpPr>
        <p:grpSpPr>
          <a:xfrm>
            <a:off x="870495" y="2170965"/>
            <a:ext cx="1347113" cy="2413309"/>
            <a:chOff x="8946418" y="4308166"/>
            <a:chExt cx="1347113" cy="241330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F2BDF4D-CDAE-8073-E204-2A9B629E88FA}"/>
                </a:ext>
              </a:extLst>
            </p:cNvPr>
            <p:cNvSpPr txBox="1"/>
            <p:nvPr/>
          </p:nvSpPr>
          <p:spPr>
            <a:xfrm>
              <a:off x="9085879" y="4413151"/>
              <a:ext cx="354584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>
                  <a:latin typeface="Consolas" panose="020B0609020204030204" pitchFamily="49" charset="0"/>
                </a:rPr>
                <a:t>P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a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p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e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r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!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C03D123-199C-5408-164B-B9FB203553A8}"/>
                </a:ext>
              </a:extLst>
            </p:cNvPr>
            <p:cNvSpPr/>
            <p:nvPr/>
          </p:nvSpPr>
          <p:spPr>
            <a:xfrm>
              <a:off x="8946418" y="4308166"/>
              <a:ext cx="1347113" cy="24133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417CC506-F040-454E-57EB-C361C5214DF1}"/>
              </a:ext>
            </a:extLst>
          </p:cNvPr>
          <p:cNvSpPr/>
          <p:nvPr/>
        </p:nvSpPr>
        <p:spPr>
          <a:xfrm>
            <a:off x="3136358" y="5147077"/>
            <a:ext cx="826945" cy="39188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4715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A7D5F-8D82-E97E-7B9D-D15CCD91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E5709-A4FF-3E74-9EE3-AA2405026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1109CF-8289-446C-B5ED-C33B564583B5}"/>
              </a:ext>
            </a:extLst>
          </p:cNvPr>
          <p:cNvGrpSpPr/>
          <p:nvPr/>
        </p:nvGrpSpPr>
        <p:grpSpPr>
          <a:xfrm>
            <a:off x="4180114" y="189703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CB23197-60FD-2C2E-5215-145D29379453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D89054-3C80-A799-9373-121422325553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BA5449-03C4-BB00-8280-A533F7CDA88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A383563-3127-2A77-D175-7377FFD0D2D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D115531-69A1-8B95-FF51-5752AE3B6D02}"/>
              </a:ext>
            </a:extLst>
          </p:cNvPr>
          <p:cNvGrpSpPr/>
          <p:nvPr/>
        </p:nvGrpSpPr>
        <p:grpSpPr>
          <a:xfrm>
            <a:off x="5316582" y="189703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0374AA5-6B99-22B2-5AC3-D3324444D9AE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F6A107-1900-24CB-0277-03EE0AE77DE4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97C47CB-769E-9273-8985-FC5398C5756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E861E23-9941-885F-005D-5A86F5324B1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C4145D0-D18F-E403-2444-FC3326C41A3C}"/>
              </a:ext>
            </a:extLst>
          </p:cNvPr>
          <p:cNvGrpSpPr/>
          <p:nvPr/>
        </p:nvGrpSpPr>
        <p:grpSpPr>
          <a:xfrm>
            <a:off x="6458882" y="189703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0E1940E-C85B-3FDA-904E-01E550A3F6F5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6BA3B1-7044-67BD-22EC-A20E265D94DF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029BC5D-6197-5A40-8CEE-BFB4B15257D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2E15113-F5B5-E9C2-79FD-8DD05E17F1C0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5AD74FC-3F35-1355-F5C4-A989DD2DBE40}"/>
              </a:ext>
            </a:extLst>
          </p:cNvPr>
          <p:cNvGrpSpPr/>
          <p:nvPr/>
        </p:nvGrpSpPr>
        <p:grpSpPr>
          <a:xfrm>
            <a:off x="7597653" y="189703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22127E3-1117-BBA8-AEA0-FC5728F72BA4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4DCA6DB-4957-FDB9-1455-58A23E483E35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B5F3E7B-4073-751A-1A8B-5A1CC0C4E6A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90B9965-8117-3D63-5A1D-D8ABD85DE69E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B79DB7A-56B5-CA90-0B57-9B5FE41CCFBA}"/>
              </a:ext>
            </a:extLst>
          </p:cNvPr>
          <p:cNvGrpSpPr/>
          <p:nvPr/>
        </p:nvGrpSpPr>
        <p:grpSpPr>
          <a:xfrm>
            <a:off x="8736424" y="189703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E16211B-024A-87F6-E1DC-EF73BEC70026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8CF2F43-272D-138E-8167-3889B6AF5BEF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D877F8D-50F4-F27C-4CFC-8D163A063B8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46620CC-5AD5-2D62-F84E-AEA998274ED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A6D6997-8732-2F43-3930-EF62C0753A29}"/>
              </a:ext>
            </a:extLst>
          </p:cNvPr>
          <p:cNvGrpSpPr/>
          <p:nvPr/>
        </p:nvGrpSpPr>
        <p:grpSpPr>
          <a:xfrm>
            <a:off x="9850917" y="189703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E084B95-3A98-2C0A-E27B-AD6CC16D0FC6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855CF50-9151-962C-4EE5-38E5AB07AB60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8CB476A-A162-05A8-B7A5-73B32A9BD9B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78A04EF-E2A8-52EC-C096-399DDC2FAF4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68D03BEF-EC20-8D11-A939-02D616DB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1C879-88F7-22E9-2828-AB7BEA602344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7625EA-9D13-8199-62E8-B97F2A4068FB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7B2900-E373-23AB-7FB5-9653EBB24402}"/>
              </a:ext>
            </a:extLst>
          </p:cNvPr>
          <p:cNvSpPr txBox="1"/>
          <p:nvPr/>
        </p:nvSpPr>
        <p:spPr>
          <a:xfrm>
            <a:off x="3200808" y="249610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FD354A-4F4C-4E26-74EB-B6AD71AAA243}"/>
              </a:ext>
            </a:extLst>
          </p:cNvPr>
          <p:cNvSpPr txBox="1"/>
          <p:nvPr/>
        </p:nvSpPr>
        <p:spPr>
          <a:xfrm>
            <a:off x="4027753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A9FE08-2033-2C11-9535-0F98DBA186EA}"/>
              </a:ext>
            </a:extLst>
          </p:cNvPr>
          <p:cNvSpPr txBox="1"/>
          <p:nvPr/>
        </p:nvSpPr>
        <p:spPr>
          <a:xfrm>
            <a:off x="5155954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006BE7-0D3C-C9CE-9965-0387B1EF68EC}"/>
              </a:ext>
            </a:extLst>
          </p:cNvPr>
          <p:cNvSpPr txBox="1"/>
          <p:nvPr/>
        </p:nvSpPr>
        <p:spPr>
          <a:xfrm>
            <a:off x="6284155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570C2F-C9F7-0E41-5146-332D3E91E29F}"/>
              </a:ext>
            </a:extLst>
          </p:cNvPr>
          <p:cNvSpPr txBox="1"/>
          <p:nvPr/>
        </p:nvSpPr>
        <p:spPr>
          <a:xfrm>
            <a:off x="7412356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C3645-BBEC-8A29-D056-B709E1A7EC59}"/>
              </a:ext>
            </a:extLst>
          </p:cNvPr>
          <p:cNvSpPr txBox="1"/>
          <p:nvPr/>
        </p:nvSpPr>
        <p:spPr>
          <a:xfrm>
            <a:off x="8540557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27330A-1E2D-B458-6A5B-5BF78A1AFC92}"/>
              </a:ext>
            </a:extLst>
          </p:cNvPr>
          <p:cNvSpPr txBox="1"/>
          <p:nvPr/>
        </p:nvSpPr>
        <p:spPr>
          <a:xfrm>
            <a:off x="9668759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0D0BCD-8C53-1A79-9525-44FC2E8B58F3}"/>
              </a:ext>
            </a:extLst>
          </p:cNvPr>
          <p:cNvSpPr txBox="1"/>
          <p:nvPr/>
        </p:nvSpPr>
        <p:spPr>
          <a:xfrm>
            <a:off x="97815" y="4659372"/>
            <a:ext cx="289694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for c in s: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   print(c) 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C72202-DCC6-F0A8-DE9A-A7D8FB6AF39A}"/>
              </a:ext>
            </a:extLst>
          </p:cNvPr>
          <p:cNvSpPr txBox="1"/>
          <p:nvPr/>
        </p:nvSpPr>
        <p:spPr>
          <a:xfrm>
            <a:off x="4474052" y="4659372"/>
            <a:ext cx="402706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 err="1">
                <a:latin typeface="Consolas" panose="020B0609020204030204" pitchFamily="49" charset="0"/>
              </a:rPr>
              <a:t>i</a:t>
            </a:r>
            <a:r>
              <a:rPr lang="en-CA" sz="3200" dirty="0">
                <a:latin typeface="Consolas" panose="020B0609020204030204" pitchFamily="49" charset="0"/>
              </a:rPr>
              <a:t> = 0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while </a:t>
            </a:r>
            <a:r>
              <a:rPr lang="en-CA" sz="3200" dirty="0" err="1">
                <a:latin typeface="Consolas" panose="020B0609020204030204" pitchFamily="49" charset="0"/>
              </a:rPr>
              <a:t>i</a:t>
            </a:r>
            <a:r>
              <a:rPr lang="en-CA" sz="3200" dirty="0">
                <a:latin typeface="Consolas" panose="020B0609020204030204" pitchFamily="49" charset="0"/>
              </a:rPr>
              <a:t> &lt; </a:t>
            </a:r>
            <a:r>
              <a:rPr lang="en-CA" sz="3200" dirty="0" err="1">
                <a:latin typeface="Consolas" panose="020B0609020204030204" pitchFamily="49" charset="0"/>
              </a:rPr>
              <a:t>len</a:t>
            </a:r>
            <a:r>
              <a:rPr lang="en-CA" sz="3200" dirty="0">
                <a:latin typeface="Consolas" panose="020B0609020204030204" pitchFamily="49" charset="0"/>
              </a:rPr>
              <a:t>(s):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   print(s[</a:t>
            </a:r>
            <a:r>
              <a:rPr lang="en-CA" sz="3200" dirty="0" err="1">
                <a:latin typeface="Consolas" panose="020B0609020204030204" pitchFamily="49" charset="0"/>
              </a:rPr>
              <a:t>i</a:t>
            </a:r>
            <a:r>
              <a:rPr lang="en-CA" sz="3200" dirty="0">
                <a:latin typeface="Consolas" panose="020B0609020204030204" pitchFamily="49" charset="0"/>
              </a:rPr>
              <a:t>])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   </a:t>
            </a:r>
            <a:r>
              <a:rPr lang="en-CA" sz="3200" dirty="0" err="1">
                <a:latin typeface="Consolas" panose="020B0609020204030204" pitchFamily="49" charset="0"/>
              </a:rPr>
              <a:t>i</a:t>
            </a:r>
            <a:r>
              <a:rPr lang="en-CA" sz="3200" dirty="0">
                <a:latin typeface="Consolas" panose="020B0609020204030204" pitchFamily="49" charset="0"/>
              </a:rPr>
              <a:t> += 1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EF63A4DD-6FB0-F7E7-845A-41BE122D2612}"/>
              </a:ext>
            </a:extLst>
          </p:cNvPr>
          <p:cNvSpPr/>
          <p:nvPr/>
        </p:nvSpPr>
        <p:spPr>
          <a:xfrm>
            <a:off x="3136358" y="5147077"/>
            <a:ext cx="826945" cy="39188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E9896C2-B554-E2D3-49EE-766B9A0EE5BB}"/>
              </a:ext>
            </a:extLst>
          </p:cNvPr>
          <p:cNvGrpSpPr/>
          <p:nvPr/>
        </p:nvGrpSpPr>
        <p:grpSpPr>
          <a:xfrm>
            <a:off x="870495" y="2170965"/>
            <a:ext cx="1347113" cy="2413309"/>
            <a:chOff x="8946418" y="4308166"/>
            <a:chExt cx="1347113" cy="24133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4261D0-D13F-9D15-E53C-4FAD05E23E49}"/>
                </a:ext>
              </a:extLst>
            </p:cNvPr>
            <p:cNvSpPr txBox="1"/>
            <p:nvPr/>
          </p:nvSpPr>
          <p:spPr>
            <a:xfrm>
              <a:off x="9085879" y="4413151"/>
              <a:ext cx="354584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>
                  <a:latin typeface="Consolas" panose="020B0609020204030204" pitchFamily="49" charset="0"/>
                </a:rPr>
                <a:t>P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a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p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e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r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!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44218774-8D76-3A07-9ED9-2C9A74019116}"/>
                </a:ext>
              </a:extLst>
            </p:cNvPr>
            <p:cNvSpPr/>
            <p:nvPr/>
          </p:nvSpPr>
          <p:spPr>
            <a:xfrm>
              <a:off x="8946418" y="4308166"/>
              <a:ext cx="1347113" cy="24133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594522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2744A-B142-587C-AC05-E79F09B88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2F8A5-0F4F-194F-398D-C77743BC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CEF04B-D03B-0B74-78B5-8816CE831C4E}"/>
              </a:ext>
            </a:extLst>
          </p:cNvPr>
          <p:cNvGrpSpPr/>
          <p:nvPr/>
        </p:nvGrpSpPr>
        <p:grpSpPr>
          <a:xfrm>
            <a:off x="4180114" y="189703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04BE125-8305-2029-4C97-F206294791E7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3D31A42-6654-D2C6-5B0F-E2750909C623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D153C-E964-D1FA-7F8A-774185D5C79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6D1A790-78C3-F6BC-88DB-A5C6D8338B38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56BF07F-AF44-9F83-4C82-88597B698E87}"/>
              </a:ext>
            </a:extLst>
          </p:cNvPr>
          <p:cNvGrpSpPr/>
          <p:nvPr/>
        </p:nvGrpSpPr>
        <p:grpSpPr>
          <a:xfrm>
            <a:off x="5316582" y="189703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0CC5C73-34D1-F066-4616-64BE50E2FEB4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9A38059-AE60-4F3E-ED8F-667FF7EBA29B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535D5F-559C-F119-39AF-00AE2CF60EF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BECE10-807A-7968-4C9C-A5F673F5715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BF8A6A9-13B2-1585-9D8C-0C2CD338652C}"/>
              </a:ext>
            </a:extLst>
          </p:cNvPr>
          <p:cNvGrpSpPr/>
          <p:nvPr/>
        </p:nvGrpSpPr>
        <p:grpSpPr>
          <a:xfrm>
            <a:off x="6458882" y="189703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188541B-31AA-AF5D-F0D4-04395AAB30C1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5D18DFB-9E4E-B3E4-6473-CC4711ACCC60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6FDF188-67E0-3C9F-2ACD-4DF87285307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86F0E31-5987-1682-E053-A6CD99E3BC3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055EEB8-3A27-2AED-F26B-E87BCE070915}"/>
              </a:ext>
            </a:extLst>
          </p:cNvPr>
          <p:cNvGrpSpPr/>
          <p:nvPr/>
        </p:nvGrpSpPr>
        <p:grpSpPr>
          <a:xfrm>
            <a:off x="7597653" y="189703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5654DB1-501A-1202-7DF1-35DE63DE2302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075AE3-5BAA-257B-3B7B-8D0209E77447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381471B-2A40-8F70-75B9-7B8CE088A64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7CE20D69-6E89-C5C4-F8C9-377C4DCFB71D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002C8D-7574-E682-693B-419A8FEA7475}"/>
              </a:ext>
            </a:extLst>
          </p:cNvPr>
          <p:cNvGrpSpPr/>
          <p:nvPr/>
        </p:nvGrpSpPr>
        <p:grpSpPr>
          <a:xfrm>
            <a:off x="8736424" y="189703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811899EE-14E9-C6A5-FD16-B9191D6E7EE6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634A80F-ADDF-1770-33AF-99E872F7DACE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4BCA274-4393-D3B5-400E-A118E70CA37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9C03BDD-EEE8-C445-DB60-DBBE49257D7A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41A89F6-0124-7586-B65D-972E8DC0548E}"/>
              </a:ext>
            </a:extLst>
          </p:cNvPr>
          <p:cNvGrpSpPr/>
          <p:nvPr/>
        </p:nvGrpSpPr>
        <p:grpSpPr>
          <a:xfrm>
            <a:off x="9850917" y="189703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801A4AD-508B-8663-D428-999E8F0E549D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59773F9-C2FB-03C5-CBF5-3B623C1AE206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B3CE37A-C2AB-DF42-8C29-7C3C63BBBCE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9BC19D4-DAB8-B81F-8543-B49B48C7C1B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249F9EB1-20DB-7E59-231A-F566F5672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FFCD95-5FAD-7515-8AB9-9D7AC575F398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160C45-994D-68E8-D1AE-7A36B2C80CF7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B9E9F-5F64-89BE-4341-D684CD2904BC}"/>
              </a:ext>
            </a:extLst>
          </p:cNvPr>
          <p:cNvSpPr txBox="1"/>
          <p:nvPr/>
        </p:nvSpPr>
        <p:spPr>
          <a:xfrm>
            <a:off x="3200808" y="249610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FF3EE-42F9-EF5D-F700-61F317AC53E9}"/>
              </a:ext>
            </a:extLst>
          </p:cNvPr>
          <p:cNvSpPr txBox="1"/>
          <p:nvPr/>
        </p:nvSpPr>
        <p:spPr>
          <a:xfrm>
            <a:off x="4027753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755F6D-9E47-E1AE-CB4A-83D9508C5A21}"/>
              </a:ext>
            </a:extLst>
          </p:cNvPr>
          <p:cNvSpPr txBox="1"/>
          <p:nvPr/>
        </p:nvSpPr>
        <p:spPr>
          <a:xfrm>
            <a:off x="5155954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28B0A-BF15-814B-E2BC-FF83D3844F8B}"/>
              </a:ext>
            </a:extLst>
          </p:cNvPr>
          <p:cNvSpPr txBox="1"/>
          <p:nvPr/>
        </p:nvSpPr>
        <p:spPr>
          <a:xfrm>
            <a:off x="6284155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4B6A93-24EA-9488-7379-1D8C0C37FE3F}"/>
              </a:ext>
            </a:extLst>
          </p:cNvPr>
          <p:cNvSpPr txBox="1"/>
          <p:nvPr/>
        </p:nvSpPr>
        <p:spPr>
          <a:xfrm>
            <a:off x="7412356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B71652-27AD-196C-AC2C-983DC80F7AE1}"/>
              </a:ext>
            </a:extLst>
          </p:cNvPr>
          <p:cNvSpPr txBox="1"/>
          <p:nvPr/>
        </p:nvSpPr>
        <p:spPr>
          <a:xfrm>
            <a:off x="8540557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3D8D4E-7ABF-21D7-C5B6-E45A1213BF04}"/>
              </a:ext>
            </a:extLst>
          </p:cNvPr>
          <p:cNvSpPr txBox="1"/>
          <p:nvPr/>
        </p:nvSpPr>
        <p:spPr>
          <a:xfrm>
            <a:off x="9668759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164466-574B-C9CD-3738-8FBBD8D37BF8}"/>
              </a:ext>
            </a:extLst>
          </p:cNvPr>
          <p:cNvSpPr txBox="1"/>
          <p:nvPr/>
        </p:nvSpPr>
        <p:spPr>
          <a:xfrm>
            <a:off x="33403" y="4689259"/>
            <a:ext cx="30960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dirty="0"/>
              <a:t>Print letters</a:t>
            </a:r>
            <a:br>
              <a:rPr lang="en-CA" sz="3200" dirty="0"/>
            </a:br>
            <a:r>
              <a:rPr lang="en-CA" sz="3200" dirty="0"/>
              <a:t>in </a:t>
            </a:r>
            <a:r>
              <a:rPr lang="en-CA" sz="3200" b="1" dirty="0"/>
              <a:t>reverse</a:t>
            </a:r>
            <a:r>
              <a:rPr lang="en-CA" sz="3200" dirty="0"/>
              <a:t> using </a:t>
            </a:r>
            <a:br>
              <a:rPr lang="en-CA" sz="3200" dirty="0"/>
            </a:br>
            <a:r>
              <a:rPr lang="en-CA" sz="3200" dirty="0"/>
              <a:t>a while loop?</a:t>
            </a:r>
            <a:endParaRPr lang="en-AU" sz="320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FD2DD07-CE0C-B7C3-69CA-F5081345755B}"/>
              </a:ext>
            </a:extLst>
          </p:cNvPr>
          <p:cNvGrpSpPr/>
          <p:nvPr/>
        </p:nvGrpSpPr>
        <p:grpSpPr>
          <a:xfrm>
            <a:off x="870495" y="2170965"/>
            <a:ext cx="1347113" cy="2413309"/>
            <a:chOff x="8946418" y="4308166"/>
            <a:chExt cx="1347113" cy="24133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17B8E23-7E2B-7906-FA21-056B407BBF61}"/>
                </a:ext>
              </a:extLst>
            </p:cNvPr>
            <p:cNvSpPr txBox="1"/>
            <p:nvPr/>
          </p:nvSpPr>
          <p:spPr>
            <a:xfrm>
              <a:off x="9085879" y="4413151"/>
              <a:ext cx="354584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>
                  <a:latin typeface="Consolas" panose="020B0609020204030204" pitchFamily="49" charset="0"/>
                </a:rPr>
                <a:t>!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r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e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P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a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P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AD2A8E04-07A0-D632-57E7-D518C5397BFE}"/>
                </a:ext>
              </a:extLst>
            </p:cNvPr>
            <p:cNvSpPr/>
            <p:nvPr/>
          </p:nvSpPr>
          <p:spPr>
            <a:xfrm>
              <a:off x="8946418" y="4308166"/>
              <a:ext cx="1347113" cy="24133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492D7E60-5DBD-63A9-F58D-EBBB0B1B29C1}"/>
              </a:ext>
            </a:extLst>
          </p:cNvPr>
          <p:cNvSpPr/>
          <p:nvPr/>
        </p:nvSpPr>
        <p:spPr>
          <a:xfrm>
            <a:off x="3351646" y="4981466"/>
            <a:ext cx="944919" cy="5399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6560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B84B8-FFEC-E5C8-3B01-32B2E6D8E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CDFE5-0860-05EA-6C46-28D48CA6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4839A36-663C-A931-C5F8-2D1F938F953D}"/>
              </a:ext>
            </a:extLst>
          </p:cNvPr>
          <p:cNvGrpSpPr/>
          <p:nvPr/>
        </p:nvGrpSpPr>
        <p:grpSpPr>
          <a:xfrm>
            <a:off x="4180114" y="189703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D8A956E-A478-E270-09AB-137FB917E99A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8F2E6D1-E375-2A1D-F83D-C6D9ED6D8568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25D900-86D3-25B8-BF72-ACCCD65548A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93C1A7-AD41-AD94-B209-4FF69BBED03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828BC0-AA77-F44A-67EC-74157AB24208}"/>
              </a:ext>
            </a:extLst>
          </p:cNvPr>
          <p:cNvGrpSpPr/>
          <p:nvPr/>
        </p:nvGrpSpPr>
        <p:grpSpPr>
          <a:xfrm>
            <a:off x="5316582" y="189703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C2A76AF-7406-90F0-690B-3A5F341B1BC2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10FD635-74AD-5FDF-00D8-4EA8D8D8C4D9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F57FCAD-DB00-769E-8F43-4DBB077214B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0D4D776-128E-C6FA-17B4-B1360612D60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5EFCB9-1E95-DAB4-AEFD-2828CBA35A40}"/>
              </a:ext>
            </a:extLst>
          </p:cNvPr>
          <p:cNvGrpSpPr/>
          <p:nvPr/>
        </p:nvGrpSpPr>
        <p:grpSpPr>
          <a:xfrm>
            <a:off x="6458882" y="189703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D0C93AE-A318-F3E5-2B4D-086D144BD6D2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04B7083-3B09-B239-9CC2-6CF50BAEA542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BA9819F-07BE-F546-F5F9-60AE9EEBF4A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E9F11AE-9DD4-D51D-DDA4-8CE01705A54D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F8240AB-7B19-87B5-1627-1F4DEAFC3CC5}"/>
              </a:ext>
            </a:extLst>
          </p:cNvPr>
          <p:cNvGrpSpPr/>
          <p:nvPr/>
        </p:nvGrpSpPr>
        <p:grpSpPr>
          <a:xfrm>
            <a:off x="7597653" y="189703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E833ECF-7E98-0F71-E98C-BB2B77547CB7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4E91CD2-6B07-0A58-B757-1808654C4359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C101E57-84FD-5761-E7F5-DA2C11F3808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12CAD4E-D544-D110-52D1-1715B3FF5320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9F4BD0E-248D-7963-7F84-11C39795C051}"/>
              </a:ext>
            </a:extLst>
          </p:cNvPr>
          <p:cNvGrpSpPr/>
          <p:nvPr/>
        </p:nvGrpSpPr>
        <p:grpSpPr>
          <a:xfrm>
            <a:off x="8736424" y="189703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19328F4-5A2D-B019-59CA-7301B49E38D9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F09A221-7C04-6F9D-56A0-0528B8C5E097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3BDF27F-AE50-5A29-21CF-76D69EF19134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64C921CB-2E89-28BB-BB06-3AE53127310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F4B5FCF-A02F-4527-8C57-90DE2010096C}"/>
              </a:ext>
            </a:extLst>
          </p:cNvPr>
          <p:cNvGrpSpPr/>
          <p:nvPr/>
        </p:nvGrpSpPr>
        <p:grpSpPr>
          <a:xfrm>
            <a:off x="9850917" y="189703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6E06213-E9DB-675E-5798-C6D9F94B9F7E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918AF54-80A6-F6CC-A0BD-758EE8D196B4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D94472D-2F4F-7B55-E8AA-B1C25080D02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F70BC99-0B99-0C22-ECB4-6161E6B4485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85CDBE0E-EC02-BFA7-A777-9D9729B24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F717C0-44F8-A6A8-39A5-BEC309497537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7CD01C-C2F4-0E1F-AAFD-D1DAA610E0AC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CE66DE-C96C-1F5D-DC14-D71C78C89EC8}"/>
              </a:ext>
            </a:extLst>
          </p:cNvPr>
          <p:cNvSpPr txBox="1"/>
          <p:nvPr/>
        </p:nvSpPr>
        <p:spPr>
          <a:xfrm>
            <a:off x="3200808" y="249610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C3E965-392B-18BA-9729-9ABAD7784375}"/>
              </a:ext>
            </a:extLst>
          </p:cNvPr>
          <p:cNvSpPr txBox="1"/>
          <p:nvPr/>
        </p:nvSpPr>
        <p:spPr>
          <a:xfrm>
            <a:off x="4027753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1E1C5D-DD88-1090-71B5-69DDA7B4ECFA}"/>
              </a:ext>
            </a:extLst>
          </p:cNvPr>
          <p:cNvSpPr txBox="1"/>
          <p:nvPr/>
        </p:nvSpPr>
        <p:spPr>
          <a:xfrm>
            <a:off x="5155954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BCF7396-9DE2-3DA2-BD00-12FB2BF7FC49}"/>
              </a:ext>
            </a:extLst>
          </p:cNvPr>
          <p:cNvSpPr txBox="1"/>
          <p:nvPr/>
        </p:nvSpPr>
        <p:spPr>
          <a:xfrm>
            <a:off x="6284155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EDD38D-7ACB-5245-1330-E1051F13AACD}"/>
              </a:ext>
            </a:extLst>
          </p:cNvPr>
          <p:cNvSpPr txBox="1"/>
          <p:nvPr/>
        </p:nvSpPr>
        <p:spPr>
          <a:xfrm>
            <a:off x="7412356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885615-57E5-D415-FE92-3CBC0D1F6842}"/>
              </a:ext>
            </a:extLst>
          </p:cNvPr>
          <p:cNvSpPr txBox="1"/>
          <p:nvPr/>
        </p:nvSpPr>
        <p:spPr>
          <a:xfrm>
            <a:off x="8540557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993844-86D1-F506-50D4-87BF0DF783AF}"/>
              </a:ext>
            </a:extLst>
          </p:cNvPr>
          <p:cNvSpPr txBox="1"/>
          <p:nvPr/>
        </p:nvSpPr>
        <p:spPr>
          <a:xfrm>
            <a:off x="9668759" y="364532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DD02D4-A9A6-92DE-7804-A1CE37FE007B}"/>
              </a:ext>
            </a:extLst>
          </p:cNvPr>
          <p:cNvSpPr txBox="1"/>
          <p:nvPr/>
        </p:nvSpPr>
        <p:spPr>
          <a:xfrm>
            <a:off x="33403" y="4689259"/>
            <a:ext cx="309604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3200" dirty="0"/>
              <a:t>Print letters</a:t>
            </a:r>
            <a:br>
              <a:rPr lang="en-CA" sz="3200" dirty="0"/>
            </a:br>
            <a:r>
              <a:rPr lang="en-CA" sz="3200" dirty="0"/>
              <a:t>in </a:t>
            </a:r>
            <a:r>
              <a:rPr lang="en-CA" sz="3200" b="1" dirty="0"/>
              <a:t>reverse</a:t>
            </a:r>
            <a:r>
              <a:rPr lang="en-CA" sz="3200" dirty="0"/>
              <a:t> using </a:t>
            </a:r>
            <a:br>
              <a:rPr lang="en-CA" sz="3200" dirty="0"/>
            </a:br>
            <a:r>
              <a:rPr lang="en-CA" sz="3200" dirty="0"/>
              <a:t>a while loop?</a:t>
            </a:r>
            <a:endParaRPr lang="en-AU" sz="3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996ABE-0E3C-5ED2-9BF5-23F5F28C3C7B}"/>
              </a:ext>
            </a:extLst>
          </p:cNvPr>
          <p:cNvSpPr txBox="1"/>
          <p:nvPr/>
        </p:nvSpPr>
        <p:spPr>
          <a:xfrm>
            <a:off x="4474052" y="4659372"/>
            <a:ext cx="334899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 err="1">
                <a:latin typeface="Consolas" panose="020B0609020204030204" pitchFamily="49" charset="0"/>
              </a:rPr>
              <a:t>i</a:t>
            </a:r>
            <a:r>
              <a:rPr lang="en-CA" sz="3200" dirty="0">
                <a:latin typeface="Consolas" panose="020B0609020204030204" pitchFamily="49" charset="0"/>
              </a:rPr>
              <a:t> = </a:t>
            </a:r>
            <a:r>
              <a:rPr lang="en-CA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len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(s) - 1</a:t>
            </a:r>
            <a:b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while </a:t>
            </a:r>
            <a:r>
              <a:rPr lang="en-CA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i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 &gt;= 0</a:t>
            </a:r>
            <a:r>
              <a:rPr lang="en-CA" sz="3200" dirty="0">
                <a:latin typeface="Consolas" panose="020B0609020204030204" pitchFamily="49" charset="0"/>
              </a:rPr>
              <a:t>: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   print(s[</a:t>
            </a:r>
            <a:r>
              <a:rPr lang="en-CA" sz="3200" dirty="0" err="1">
                <a:latin typeface="Consolas" panose="020B0609020204030204" pitchFamily="49" charset="0"/>
              </a:rPr>
              <a:t>i</a:t>
            </a:r>
            <a:r>
              <a:rPr lang="en-CA" sz="3200" dirty="0">
                <a:latin typeface="Consolas" panose="020B0609020204030204" pitchFamily="49" charset="0"/>
              </a:rPr>
              <a:t>])</a:t>
            </a:r>
            <a:br>
              <a:rPr lang="en-CA" sz="3200" dirty="0">
                <a:latin typeface="Consolas" panose="020B0609020204030204" pitchFamily="49" charset="0"/>
              </a:rPr>
            </a:br>
            <a:r>
              <a:rPr lang="en-CA" sz="3200" dirty="0">
                <a:latin typeface="Consolas" panose="020B0609020204030204" pitchFamily="49" charset="0"/>
              </a:rPr>
              <a:t>   </a:t>
            </a:r>
            <a:r>
              <a:rPr lang="en-CA" sz="3200" dirty="0" err="1">
                <a:latin typeface="Consolas" panose="020B0609020204030204" pitchFamily="49" charset="0"/>
              </a:rPr>
              <a:t>i</a:t>
            </a:r>
            <a:r>
              <a:rPr lang="en-CA" sz="3200" dirty="0">
                <a:latin typeface="Consolas" panose="020B0609020204030204" pitchFamily="49" charset="0"/>
              </a:rPr>
              <a:t>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-=</a:t>
            </a:r>
            <a:r>
              <a:rPr lang="en-CA" sz="3200" dirty="0">
                <a:latin typeface="Consolas" panose="020B0609020204030204" pitchFamily="49" charset="0"/>
              </a:rPr>
              <a:t> 1</a:t>
            </a:r>
            <a:endParaRPr lang="en-AU" sz="3200" dirty="0">
              <a:latin typeface="Consolas" panose="020B0609020204030204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57CB6AE-070C-CF78-88A4-13798D0FBD00}"/>
              </a:ext>
            </a:extLst>
          </p:cNvPr>
          <p:cNvGrpSpPr/>
          <p:nvPr/>
        </p:nvGrpSpPr>
        <p:grpSpPr>
          <a:xfrm>
            <a:off x="870495" y="2170965"/>
            <a:ext cx="1347113" cy="2413309"/>
            <a:chOff x="8946418" y="4308166"/>
            <a:chExt cx="1347113" cy="2413309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9BBD31-39EF-0E54-451B-C5A0E3ABA0E0}"/>
                </a:ext>
              </a:extLst>
            </p:cNvPr>
            <p:cNvSpPr txBox="1"/>
            <p:nvPr/>
          </p:nvSpPr>
          <p:spPr>
            <a:xfrm>
              <a:off x="9085879" y="4413151"/>
              <a:ext cx="354584" cy="2308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2400" dirty="0">
                  <a:latin typeface="Consolas" panose="020B0609020204030204" pitchFamily="49" charset="0"/>
                </a:rPr>
                <a:t>!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r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e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P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a</a:t>
              </a:r>
            </a:p>
            <a:p>
              <a:r>
                <a:rPr lang="en-CA" sz="2400" dirty="0">
                  <a:latin typeface="Consolas" panose="020B0609020204030204" pitchFamily="49" charset="0"/>
                </a:rPr>
                <a:t>P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63373C53-0F00-46D5-33F1-5CEA41922C9C}"/>
                </a:ext>
              </a:extLst>
            </p:cNvPr>
            <p:cNvSpPr/>
            <p:nvPr/>
          </p:nvSpPr>
          <p:spPr>
            <a:xfrm>
              <a:off x="8946418" y="4308166"/>
              <a:ext cx="1347113" cy="241330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5" name="Arrow: Right 4">
            <a:extLst>
              <a:ext uri="{FF2B5EF4-FFF2-40B4-BE49-F238E27FC236}">
                <a16:creationId xmlns:a16="http://schemas.microsoft.com/office/drawing/2014/main" id="{FDA4F438-0970-4851-87AC-155BAEB6F4DD}"/>
              </a:ext>
            </a:extLst>
          </p:cNvPr>
          <p:cNvSpPr/>
          <p:nvPr/>
        </p:nvSpPr>
        <p:spPr>
          <a:xfrm>
            <a:off x="3351646" y="4981466"/>
            <a:ext cx="944919" cy="5399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0775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CCBA9-306E-B0B4-7CFC-64FEA702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F0D81-8DC0-5918-3F7A-D85081604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5B72864-98EB-E8BF-1427-05BF5B83C35E}"/>
              </a:ext>
            </a:extLst>
          </p:cNvPr>
          <p:cNvGrpSpPr/>
          <p:nvPr/>
        </p:nvGrpSpPr>
        <p:grpSpPr>
          <a:xfrm>
            <a:off x="4188823" y="147031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E2C0414-8832-978B-A242-EC66B31E9F85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6724251-9D71-78C5-DCDB-96D30B3AFD74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F011FE1-B997-791F-8066-4CE5D988743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8861D0-985C-683E-AE7C-43CC8A7CB383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4B4514E-7854-9201-F6CF-F8FA72EC164B}"/>
              </a:ext>
            </a:extLst>
          </p:cNvPr>
          <p:cNvGrpSpPr/>
          <p:nvPr/>
        </p:nvGrpSpPr>
        <p:grpSpPr>
          <a:xfrm>
            <a:off x="5325291" y="147031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5B34722-ABA5-2DF8-5557-D0D5D31F4423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0A19D9-648C-084E-57C6-FE63BA41CAF2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C2FC52-06D6-0D91-B54E-911BDFA6CC4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E2DBAF-77FF-CE80-F166-9AB66D43F00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71CD63C-5B5B-A332-377C-3103B51B82FC}"/>
              </a:ext>
            </a:extLst>
          </p:cNvPr>
          <p:cNvGrpSpPr/>
          <p:nvPr/>
        </p:nvGrpSpPr>
        <p:grpSpPr>
          <a:xfrm>
            <a:off x="6467591" y="147031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0F10D9A-5F56-8C27-2222-5F7F667A81D8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D84B94-EFB8-70EA-7F6C-320148FCA43A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E18BAE7-9B37-3B51-6824-B6CEDBAF430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412C809-02B5-DAE0-13F5-0FF76007A82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4DB0915-FC54-400B-123C-9841B7CE79C2}"/>
              </a:ext>
            </a:extLst>
          </p:cNvPr>
          <p:cNvGrpSpPr/>
          <p:nvPr/>
        </p:nvGrpSpPr>
        <p:grpSpPr>
          <a:xfrm>
            <a:off x="7606362" y="147031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C287C9EA-9016-F742-052A-0C9155FE75F7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006A33A-7DFC-368F-73EC-D86811492519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1CEADD9-BE93-F742-7DB9-668FF5BE1324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FD3A248-FF8A-1EB8-89E9-50C19D58FA93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C726829-0D94-FD5A-7FD4-92FCD7A81FCF}"/>
              </a:ext>
            </a:extLst>
          </p:cNvPr>
          <p:cNvGrpSpPr/>
          <p:nvPr/>
        </p:nvGrpSpPr>
        <p:grpSpPr>
          <a:xfrm>
            <a:off x="8745133" y="147031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B2DE46EA-0782-3384-DA22-E9FE4FFE2CFE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761F61C-E4D4-E0C7-7F10-8E69075BCE66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410DE1A-1011-5E2E-022D-1C3AD732947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C070ECF-6B50-A4DB-44BA-E7A7D1D2458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2443653-33CF-D381-EC51-B462171A6CC6}"/>
              </a:ext>
            </a:extLst>
          </p:cNvPr>
          <p:cNvGrpSpPr/>
          <p:nvPr/>
        </p:nvGrpSpPr>
        <p:grpSpPr>
          <a:xfrm>
            <a:off x="9859626" y="147031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BC350A26-02C4-6FF2-E676-913B5CC45C1A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715C0FE-212C-8287-FDB0-84A3248ED2BD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176CA1A-8F42-05C7-1DF8-75E48B1CF75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3B2B358-D74C-A7E8-BFD1-226F53D15E0C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DE00AA8D-E505-FED4-D48D-C5AE0712E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B1B2A7-FCCE-D6EB-DBE4-52D6DF19A7BB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0E478-2DE3-DFD8-ECA4-AFD8F8A93CEA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D86CB-E383-D2A8-FE89-5902D5B64254}"/>
              </a:ext>
            </a:extLst>
          </p:cNvPr>
          <p:cNvSpPr txBox="1"/>
          <p:nvPr/>
        </p:nvSpPr>
        <p:spPr>
          <a:xfrm>
            <a:off x="3209517" y="206938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EDBD23-FCB2-57D3-D8A9-3C2E570B5AA9}"/>
              </a:ext>
            </a:extLst>
          </p:cNvPr>
          <p:cNvSpPr txBox="1"/>
          <p:nvPr/>
        </p:nvSpPr>
        <p:spPr>
          <a:xfrm>
            <a:off x="4036462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77785-B569-D1DB-9719-9560F4A476C8}"/>
              </a:ext>
            </a:extLst>
          </p:cNvPr>
          <p:cNvSpPr txBox="1"/>
          <p:nvPr/>
        </p:nvSpPr>
        <p:spPr>
          <a:xfrm>
            <a:off x="5164663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4A534F-CECD-6D8A-33F5-FCE3A743FCB1}"/>
              </a:ext>
            </a:extLst>
          </p:cNvPr>
          <p:cNvSpPr txBox="1"/>
          <p:nvPr/>
        </p:nvSpPr>
        <p:spPr>
          <a:xfrm>
            <a:off x="6292864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1F1528-A9D8-8A07-A669-9C1BE4FC42BC}"/>
              </a:ext>
            </a:extLst>
          </p:cNvPr>
          <p:cNvSpPr txBox="1"/>
          <p:nvPr/>
        </p:nvSpPr>
        <p:spPr>
          <a:xfrm>
            <a:off x="7421065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192A68-FAA0-C51B-A55E-43C2ED433AD4}"/>
              </a:ext>
            </a:extLst>
          </p:cNvPr>
          <p:cNvSpPr txBox="1"/>
          <p:nvPr/>
        </p:nvSpPr>
        <p:spPr>
          <a:xfrm>
            <a:off x="8549266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40D50D-B876-2D56-F789-FDA615C3CFE4}"/>
              </a:ext>
            </a:extLst>
          </p:cNvPr>
          <p:cNvSpPr txBox="1"/>
          <p:nvPr/>
        </p:nvSpPr>
        <p:spPr>
          <a:xfrm>
            <a:off x="9677468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23E297-3B60-2014-4C1E-008EE734E10C}"/>
              </a:ext>
            </a:extLst>
          </p:cNvPr>
          <p:cNvSpPr txBox="1"/>
          <p:nvPr/>
        </p:nvSpPr>
        <p:spPr>
          <a:xfrm>
            <a:off x="239211" y="3480212"/>
            <a:ext cx="274319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you print the </a:t>
            </a:r>
            <a:r>
              <a:rPr lang="en-CA" b="1" dirty="0"/>
              <a:t>last</a:t>
            </a:r>
            <a:r>
              <a:rPr lang="en-CA" dirty="0"/>
              <a:t> character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?</a:t>
            </a:r>
            <a:endParaRPr lang="en-A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C54EF-9232-24A4-356D-A9EAE9A8CB18}"/>
              </a:ext>
            </a:extLst>
          </p:cNvPr>
          <p:cNvSpPr txBox="1"/>
          <p:nvPr/>
        </p:nvSpPr>
        <p:spPr>
          <a:xfrm>
            <a:off x="845853" y="4426669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1952C5-54CA-9834-7A2B-E2ACF78C70AF}"/>
              </a:ext>
            </a:extLst>
          </p:cNvPr>
          <p:cNvSpPr/>
          <p:nvPr/>
        </p:nvSpPr>
        <p:spPr>
          <a:xfrm>
            <a:off x="9669284" y="1476344"/>
            <a:ext cx="1222839" cy="27844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396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C2519-CA4A-464A-C4CB-052E5BF9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BD77A0-06DF-80BE-46EA-040989EE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11B6A08-CF88-7625-FF89-31E416319C35}"/>
              </a:ext>
            </a:extLst>
          </p:cNvPr>
          <p:cNvGrpSpPr/>
          <p:nvPr/>
        </p:nvGrpSpPr>
        <p:grpSpPr>
          <a:xfrm>
            <a:off x="4188823" y="147031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F4B4743-9538-5617-F264-1F1F40D21358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98EBA0F-2871-D914-DA86-1993490EE83F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6BC5B18-A29F-A216-4B59-6F91209996F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DB09E6-4CBF-9FA5-6143-88A59D3FB00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CCED3B3-050A-4C3F-B434-1D07FEE4578A}"/>
              </a:ext>
            </a:extLst>
          </p:cNvPr>
          <p:cNvGrpSpPr/>
          <p:nvPr/>
        </p:nvGrpSpPr>
        <p:grpSpPr>
          <a:xfrm>
            <a:off x="5325291" y="147031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44F0E68-CE70-9722-89C8-00DC3B99D578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752D6B3-6CDD-09EA-44FA-6DF5E0F57CFD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696F927-4230-E552-3B91-5307051FA4C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A7FC906-BB94-7E85-8537-C9F9673BB2A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5C7C3D7-7FD1-5BEA-7F90-1420C78394CE}"/>
              </a:ext>
            </a:extLst>
          </p:cNvPr>
          <p:cNvGrpSpPr/>
          <p:nvPr/>
        </p:nvGrpSpPr>
        <p:grpSpPr>
          <a:xfrm>
            <a:off x="6467591" y="147031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0E18704-D48F-DF55-978D-743153AEABC9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8E72354-8B08-6592-0B48-D1E9772E4491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B61BB8F-33F1-DBD9-B642-13C9002B8C3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471DF41-12F0-D98C-FA51-9D74B38479F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51F5221-59DC-74D0-8C6C-354667EEDB21}"/>
              </a:ext>
            </a:extLst>
          </p:cNvPr>
          <p:cNvGrpSpPr/>
          <p:nvPr/>
        </p:nvGrpSpPr>
        <p:grpSpPr>
          <a:xfrm>
            <a:off x="7606362" y="147031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38AF560-4966-E3CB-D3DE-AA92B676F671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C78B1CA-DC30-6C95-CB89-11F44F167DF9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FAECB9E-18F3-1AC6-3EBB-A431B08867B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9FD80F8-4540-9E11-B4A8-7C09F3A8BC7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D4A43F5-C5C2-5181-F2AE-F867138A0D74}"/>
              </a:ext>
            </a:extLst>
          </p:cNvPr>
          <p:cNvGrpSpPr/>
          <p:nvPr/>
        </p:nvGrpSpPr>
        <p:grpSpPr>
          <a:xfrm>
            <a:off x="8745133" y="147031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DD46749-498E-B86D-821C-16D9C3B8F9B4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A10CAD6-0EB6-C09B-8C08-80174456832C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777BF49-B157-063B-9A37-40FCA8D1026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22B7AAD-6EE1-2329-EC1A-EBE71F410F68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5D8A34E3-8D27-4280-2CD0-64FFC59BF151}"/>
              </a:ext>
            </a:extLst>
          </p:cNvPr>
          <p:cNvGrpSpPr/>
          <p:nvPr/>
        </p:nvGrpSpPr>
        <p:grpSpPr>
          <a:xfrm>
            <a:off x="9859626" y="147031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142E20E-EC25-AE62-6E70-EE26A0C10D82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E3CF2A9-235A-AF72-ABB1-D89AA060B24B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1A249DA-9917-9C84-1755-53CDC56A883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E62A8BC-A1AB-C25B-071B-C7362357EC9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3CE7CE37-7BC9-FAB8-AEE6-02F4F352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71D36B-7CE7-3522-389C-5F0D3EE8EDBD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0F028-68F4-788F-4CC7-954D5FB1CE58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7627D6-22B4-F2F1-F00B-E067D62B9EF7}"/>
              </a:ext>
            </a:extLst>
          </p:cNvPr>
          <p:cNvSpPr txBox="1"/>
          <p:nvPr/>
        </p:nvSpPr>
        <p:spPr>
          <a:xfrm>
            <a:off x="3209517" y="206938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8F9F5C-0461-A30B-4269-F9971878301A}"/>
              </a:ext>
            </a:extLst>
          </p:cNvPr>
          <p:cNvSpPr txBox="1"/>
          <p:nvPr/>
        </p:nvSpPr>
        <p:spPr>
          <a:xfrm>
            <a:off x="4036462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4776E-0A59-CECF-590A-0EC36C01FDA4}"/>
              </a:ext>
            </a:extLst>
          </p:cNvPr>
          <p:cNvSpPr txBox="1"/>
          <p:nvPr/>
        </p:nvSpPr>
        <p:spPr>
          <a:xfrm>
            <a:off x="5164663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9B8D8B-B641-FE65-430A-6A92194D6C2E}"/>
              </a:ext>
            </a:extLst>
          </p:cNvPr>
          <p:cNvSpPr txBox="1"/>
          <p:nvPr/>
        </p:nvSpPr>
        <p:spPr>
          <a:xfrm>
            <a:off x="6292864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6C1178-1245-DCDE-1D2D-3B7BBC1989EA}"/>
              </a:ext>
            </a:extLst>
          </p:cNvPr>
          <p:cNvSpPr txBox="1"/>
          <p:nvPr/>
        </p:nvSpPr>
        <p:spPr>
          <a:xfrm>
            <a:off x="7421065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66532D-1E06-515A-9582-D33373FF54B7}"/>
              </a:ext>
            </a:extLst>
          </p:cNvPr>
          <p:cNvSpPr txBox="1"/>
          <p:nvPr/>
        </p:nvSpPr>
        <p:spPr>
          <a:xfrm>
            <a:off x="8549266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7D9BA4-50DC-8EAC-28FB-C1069BA0076C}"/>
              </a:ext>
            </a:extLst>
          </p:cNvPr>
          <p:cNvSpPr txBox="1"/>
          <p:nvPr/>
        </p:nvSpPr>
        <p:spPr>
          <a:xfrm>
            <a:off x="9677468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B910A-27BE-5460-5D41-F36920EDA174}"/>
              </a:ext>
            </a:extLst>
          </p:cNvPr>
          <p:cNvSpPr txBox="1"/>
          <p:nvPr/>
        </p:nvSpPr>
        <p:spPr>
          <a:xfrm>
            <a:off x="239211" y="3480212"/>
            <a:ext cx="274319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you print the </a:t>
            </a:r>
            <a:r>
              <a:rPr lang="en-CA" b="1" dirty="0"/>
              <a:t>last</a:t>
            </a:r>
            <a:r>
              <a:rPr lang="en-CA" dirty="0"/>
              <a:t> character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?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41D5CC-09E8-F6E2-9564-3EC795FF9394}"/>
              </a:ext>
            </a:extLst>
          </p:cNvPr>
          <p:cNvSpPr txBox="1"/>
          <p:nvPr/>
        </p:nvSpPr>
        <p:spPr>
          <a:xfrm>
            <a:off x="401821" y="4762133"/>
            <a:ext cx="70519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print(s[</a:t>
            </a:r>
            <a:r>
              <a:rPr lang="en-CA" sz="5400" dirty="0" err="1">
                <a:solidFill>
                  <a:srgbClr val="FF0000"/>
                </a:solidFill>
                <a:latin typeface="Consolas" panose="020B0609020204030204" pitchFamily="49" charset="0"/>
              </a:rPr>
              <a:t>len</a:t>
            </a:r>
            <a:r>
              <a:rPr lang="en-CA" sz="5400" dirty="0">
                <a:solidFill>
                  <a:srgbClr val="FF0000"/>
                </a:solidFill>
                <a:latin typeface="Consolas" panose="020B0609020204030204" pitchFamily="49" charset="0"/>
              </a:rPr>
              <a:t>(s)-1</a:t>
            </a:r>
            <a:r>
              <a:rPr lang="en-CA" sz="5400" dirty="0">
                <a:latin typeface="Consolas" panose="020B0609020204030204" pitchFamily="49" charset="0"/>
              </a:rPr>
              <a:t>])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42292C6-7545-1176-A3F1-7BAE55D3276F}"/>
              </a:ext>
            </a:extLst>
          </p:cNvPr>
          <p:cNvSpPr/>
          <p:nvPr/>
        </p:nvSpPr>
        <p:spPr>
          <a:xfrm>
            <a:off x="9669284" y="1476344"/>
            <a:ext cx="1222839" cy="27844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77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F4F15-3ADE-8C06-CBD4-12E9C7FDB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BCA3B-C1A1-6BFA-108E-B56D0B01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C33E21B-EA8A-31C0-AF3A-140B661E9822}"/>
              </a:ext>
            </a:extLst>
          </p:cNvPr>
          <p:cNvGrpSpPr/>
          <p:nvPr/>
        </p:nvGrpSpPr>
        <p:grpSpPr>
          <a:xfrm>
            <a:off x="4188823" y="1470319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5985D61-9B7D-268D-3D1D-1F030016B38D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04E2B4C-A08C-6D33-7699-CCBB5F775520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3CC752-8D52-B3D2-EDC5-68613EDE09D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CACF0DE-5ADB-A657-9114-4121CE3D75B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64D18CE-E5A4-0992-6E46-50AB597879F8}"/>
              </a:ext>
            </a:extLst>
          </p:cNvPr>
          <p:cNvGrpSpPr/>
          <p:nvPr/>
        </p:nvGrpSpPr>
        <p:grpSpPr>
          <a:xfrm>
            <a:off x="5325291" y="1470319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1F7078A-CB02-FC85-983B-ADBE9295EC16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74278B0-AAF2-D424-81E8-677F2916D538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873CC97-35E3-F7B1-E9D5-CDCE5BC8713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580C2D4-221E-3FC7-1E49-8E7B4D0C374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E4EEB52-62C3-B942-47A5-23FEEDC3AA9B}"/>
              </a:ext>
            </a:extLst>
          </p:cNvPr>
          <p:cNvGrpSpPr/>
          <p:nvPr/>
        </p:nvGrpSpPr>
        <p:grpSpPr>
          <a:xfrm>
            <a:off x="6467591" y="1470319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1CB91200-AC67-B710-4CCB-D893E9698D4B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BC1BA03-CA20-7AE9-C961-4FB018D61F35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B009DE6-1120-0B3C-DD0A-E14FAF2C574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62FEF55-0450-DD8A-4EF6-67C2A8249AF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1640D96-C77D-6917-800C-13D665B0AEC7}"/>
              </a:ext>
            </a:extLst>
          </p:cNvPr>
          <p:cNvGrpSpPr/>
          <p:nvPr/>
        </p:nvGrpSpPr>
        <p:grpSpPr>
          <a:xfrm>
            <a:off x="7606362" y="1470319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8C955DF1-6F93-842E-1233-07A4FE115887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9876689-BB49-94C3-B046-A21A31AD281F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56497B9-C40E-1A3E-65AA-4718B78B66F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18B8B81-0E38-89AB-AF05-B327E0A7AD5C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2216E2D-E696-2E70-3156-E426DABE4815}"/>
              </a:ext>
            </a:extLst>
          </p:cNvPr>
          <p:cNvGrpSpPr/>
          <p:nvPr/>
        </p:nvGrpSpPr>
        <p:grpSpPr>
          <a:xfrm>
            <a:off x="8745133" y="1470319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A4F421F-F55D-00B3-0929-CB738EDC100E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F3537F5-4750-D562-E735-721FED6959BC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D65869-C72D-A3FA-B9BF-20C1C730060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7B57135-FCE3-DA12-D7EC-7FB719AB2E1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2A46E10-C9AB-3A0C-9886-9C3A8BE92921}"/>
              </a:ext>
            </a:extLst>
          </p:cNvPr>
          <p:cNvGrpSpPr/>
          <p:nvPr/>
        </p:nvGrpSpPr>
        <p:grpSpPr>
          <a:xfrm>
            <a:off x="9859626" y="1470319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244BF7C-018A-16CB-F1D9-96B7DAB0CF80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897E55C-74BB-6D40-1995-DD80817F97C8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C2A3F30-C7DF-F0C1-466D-9C2255AAACA5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8CD0B3A-1FF1-FCD1-E8BA-70F65A36DE01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E8C0E56E-45E0-A7D0-07B4-3E0496B2C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C6AF94-39FA-6C78-FE21-1E1D7FC172B1}"/>
              </a:ext>
            </a:extLst>
          </p:cNvPr>
          <p:cNvSpPr txBox="1"/>
          <p:nvPr/>
        </p:nvSpPr>
        <p:spPr>
          <a:xfrm>
            <a:off x="239212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FAEA8D-1F5C-1883-97E6-9B03D0C96A41}"/>
              </a:ext>
            </a:extLst>
          </p:cNvPr>
          <p:cNvSpPr txBox="1"/>
          <p:nvPr/>
        </p:nvSpPr>
        <p:spPr>
          <a:xfrm>
            <a:off x="5043208" y="37472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34357C-EDC3-0EB3-B818-836A6EDE7914}"/>
              </a:ext>
            </a:extLst>
          </p:cNvPr>
          <p:cNvSpPr txBox="1"/>
          <p:nvPr/>
        </p:nvSpPr>
        <p:spPr>
          <a:xfrm>
            <a:off x="3209517" y="2069381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9B99DA-5E25-9306-4480-4A36109177FC}"/>
              </a:ext>
            </a:extLst>
          </p:cNvPr>
          <p:cNvSpPr txBox="1"/>
          <p:nvPr/>
        </p:nvSpPr>
        <p:spPr>
          <a:xfrm>
            <a:off x="4036462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s[0]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DBAADE-137A-2970-CD72-A9DC53DDACD1}"/>
              </a:ext>
            </a:extLst>
          </p:cNvPr>
          <p:cNvSpPr txBox="1"/>
          <p:nvPr/>
        </p:nvSpPr>
        <p:spPr>
          <a:xfrm>
            <a:off x="5164663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s[1]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C2E6C9-FC02-E52D-1727-D99511FF5E46}"/>
              </a:ext>
            </a:extLst>
          </p:cNvPr>
          <p:cNvSpPr txBox="1"/>
          <p:nvPr/>
        </p:nvSpPr>
        <p:spPr>
          <a:xfrm>
            <a:off x="6292864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s[2]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915D17-AECA-C98A-CAD4-F087BA5FFF21}"/>
              </a:ext>
            </a:extLst>
          </p:cNvPr>
          <p:cNvSpPr txBox="1"/>
          <p:nvPr/>
        </p:nvSpPr>
        <p:spPr>
          <a:xfrm>
            <a:off x="7421065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s[3]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9CE731-5D9E-FB32-05D5-9CC42EE17122}"/>
              </a:ext>
            </a:extLst>
          </p:cNvPr>
          <p:cNvSpPr txBox="1"/>
          <p:nvPr/>
        </p:nvSpPr>
        <p:spPr>
          <a:xfrm>
            <a:off x="8549266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s[4]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65782B-787A-FC35-7B7F-DCAA29C6C6F9}"/>
              </a:ext>
            </a:extLst>
          </p:cNvPr>
          <p:cNvSpPr txBox="1"/>
          <p:nvPr/>
        </p:nvSpPr>
        <p:spPr>
          <a:xfrm>
            <a:off x="9677468" y="3218603"/>
            <a:ext cx="10887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s[5]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A054DE-F406-233A-96AC-EC1D16873F90}"/>
              </a:ext>
            </a:extLst>
          </p:cNvPr>
          <p:cNvSpPr txBox="1"/>
          <p:nvPr/>
        </p:nvSpPr>
        <p:spPr>
          <a:xfrm>
            <a:off x="239211" y="3480212"/>
            <a:ext cx="274319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How can you print the </a:t>
            </a:r>
            <a:r>
              <a:rPr lang="en-CA" b="1" dirty="0"/>
              <a:t>last</a:t>
            </a:r>
            <a:r>
              <a:rPr lang="en-CA" dirty="0"/>
              <a:t> character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?</a:t>
            </a:r>
            <a:endParaRPr lang="en-A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C70FA-D2B5-FE38-D717-05AA40DA552B}"/>
              </a:ext>
            </a:extLst>
          </p:cNvPr>
          <p:cNvSpPr txBox="1"/>
          <p:nvPr/>
        </p:nvSpPr>
        <p:spPr>
          <a:xfrm>
            <a:off x="401821" y="4762133"/>
            <a:ext cx="70519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print(s[</a:t>
            </a:r>
            <a:r>
              <a:rPr lang="en-CA" sz="5400" dirty="0" err="1">
                <a:latin typeface="Consolas" panose="020B0609020204030204" pitchFamily="49" charset="0"/>
              </a:rPr>
              <a:t>len</a:t>
            </a:r>
            <a:r>
              <a:rPr lang="en-CA" sz="5400" dirty="0">
                <a:latin typeface="Consolas" panose="020B0609020204030204" pitchFamily="49" charset="0"/>
              </a:rPr>
              <a:t>(s)-1])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ADE00-0473-551E-38E6-7614A159F873}"/>
              </a:ext>
            </a:extLst>
          </p:cNvPr>
          <p:cNvSpPr txBox="1"/>
          <p:nvPr/>
        </p:nvSpPr>
        <p:spPr>
          <a:xfrm>
            <a:off x="8745133" y="4414757"/>
            <a:ext cx="2743199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a lot to write to get the last character!</a:t>
            </a:r>
            <a:br>
              <a:rPr lang="en-CA" dirty="0"/>
            </a:br>
            <a:r>
              <a:rPr lang="en-CA" dirty="0"/>
              <a:t>So Python provides another kind of indexing:</a:t>
            </a:r>
            <a:br>
              <a:rPr lang="en-CA" dirty="0"/>
            </a:br>
            <a:r>
              <a:rPr lang="en-CA" b="1" dirty="0"/>
              <a:t>negative indexing</a:t>
            </a:r>
            <a:endParaRPr lang="en-AU" b="1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CDD983-0FDA-4256-A063-E1BDD34FE1E0}"/>
              </a:ext>
            </a:extLst>
          </p:cNvPr>
          <p:cNvSpPr/>
          <p:nvPr/>
        </p:nvSpPr>
        <p:spPr>
          <a:xfrm>
            <a:off x="9669284" y="1476344"/>
            <a:ext cx="1222839" cy="27844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97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8E5D9-E28D-A170-94D5-76CFD1EB4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40A0-9D73-7859-0C5C-85D8091E6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BAE46F6-96DE-0F22-C781-D27CA13F0962}"/>
              </a:ext>
            </a:extLst>
          </p:cNvPr>
          <p:cNvGrpSpPr/>
          <p:nvPr/>
        </p:nvGrpSpPr>
        <p:grpSpPr>
          <a:xfrm>
            <a:off x="4304214" y="1663478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E474CE3-2BC2-33D6-8ADB-38A997F513FB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0BAD109-9069-4291-C85B-6BF69B8AD5E3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1655F29-8C63-5F51-FB08-2A9EB9C3985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4026B63-2FB9-96BA-2FE8-D923A0E2D3A0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F809CD9-A9CD-0A6F-97A2-BA9CEECB7A48}"/>
              </a:ext>
            </a:extLst>
          </p:cNvPr>
          <p:cNvGrpSpPr/>
          <p:nvPr/>
        </p:nvGrpSpPr>
        <p:grpSpPr>
          <a:xfrm>
            <a:off x="5440682" y="1663478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411CA5D-63EF-FA83-C8E8-D5439A1470F8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0FBE001-EA56-2A38-3759-70F956E1744E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0879D6E-FC1D-4029-B2EA-A66AD2F72FF8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B8E381F-4363-F52C-572C-16309F5C9E3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178F681-1F2B-B0AF-B130-3EF3B68E3A69}"/>
              </a:ext>
            </a:extLst>
          </p:cNvPr>
          <p:cNvGrpSpPr/>
          <p:nvPr/>
        </p:nvGrpSpPr>
        <p:grpSpPr>
          <a:xfrm>
            <a:off x="6582982" y="1663478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0176E26-129F-A8B7-1B00-1AA4D03AA4D8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E371AA3-B147-BCDA-29D2-725BAB3B7FBC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1E445D97-A193-3EDD-0520-30E7B98D5F9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3CA4FB4-4620-77DF-CD2C-3E1D5E04FD5E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6C9E712-573E-05F4-9AAD-12F86C681596}"/>
              </a:ext>
            </a:extLst>
          </p:cNvPr>
          <p:cNvGrpSpPr/>
          <p:nvPr/>
        </p:nvGrpSpPr>
        <p:grpSpPr>
          <a:xfrm>
            <a:off x="7721753" y="1663478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16B3139-764F-8617-8178-76ED2926EE5E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F6EA41DA-2C99-168A-14BF-B83736B23757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6FF88D-DEAB-4228-CA66-97F3A92CEEB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221D74E-A0F1-5F71-486C-1D6D63CCD08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12801A7-5FC4-A76C-B2A7-82FF90D5A62A}"/>
              </a:ext>
            </a:extLst>
          </p:cNvPr>
          <p:cNvGrpSpPr/>
          <p:nvPr/>
        </p:nvGrpSpPr>
        <p:grpSpPr>
          <a:xfrm>
            <a:off x="8860524" y="1663478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425DA90-2C2F-610C-6962-06601314827A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D009D7B-3C68-B295-AEBF-1AF09D33FF22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BEC0997-1A49-AA4D-2715-55A008E1D96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A01EF44-1C4F-5DB6-29EC-167C9D34A788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D79E66C-F248-74D1-0B7A-4EF9CEE8D8F5}"/>
              </a:ext>
            </a:extLst>
          </p:cNvPr>
          <p:cNvGrpSpPr/>
          <p:nvPr/>
        </p:nvGrpSpPr>
        <p:grpSpPr>
          <a:xfrm>
            <a:off x="9975017" y="1663478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3F182E71-21A9-D091-A894-A66A378F368B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D57C0F9-9053-CD3A-C0D9-72900FFC5ED8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0471416-45D6-73B0-85D6-C09F6BC2263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6A9BE4E-32D8-016E-EF8A-8D3A6913180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6790330B-E057-000F-1B20-5BC60C81F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7EE102-8DCB-882C-9258-8D2EC11F61BA}"/>
              </a:ext>
            </a:extLst>
          </p:cNvPr>
          <p:cNvSpPr txBox="1"/>
          <p:nvPr/>
        </p:nvSpPr>
        <p:spPr>
          <a:xfrm>
            <a:off x="173635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94CBE3-EC18-1548-956F-CE00D4447E82}"/>
              </a:ext>
            </a:extLst>
          </p:cNvPr>
          <p:cNvSpPr txBox="1"/>
          <p:nvPr/>
        </p:nvSpPr>
        <p:spPr>
          <a:xfrm>
            <a:off x="5167308" y="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C6AEF5-FC7D-E143-627A-E8C80E639E61}"/>
              </a:ext>
            </a:extLst>
          </p:cNvPr>
          <p:cNvSpPr txBox="1"/>
          <p:nvPr/>
        </p:nvSpPr>
        <p:spPr>
          <a:xfrm>
            <a:off x="3324908" y="2262540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EDFC2C-BB51-C8F1-FBE6-10762EFDE82B}"/>
              </a:ext>
            </a:extLst>
          </p:cNvPr>
          <p:cNvSpPr txBox="1"/>
          <p:nvPr/>
        </p:nvSpPr>
        <p:spPr>
          <a:xfrm>
            <a:off x="4466919" y="969878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-6</a:t>
            </a:r>
            <a:endParaRPr lang="en-AU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4B00E2-9F2C-38B9-CB9C-C0F90C438061}"/>
              </a:ext>
            </a:extLst>
          </p:cNvPr>
          <p:cNvSpPr txBox="1"/>
          <p:nvPr/>
        </p:nvSpPr>
        <p:spPr>
          <a:xfrm>
            <a:off x="5603387" y="939820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-5</a:t>
            </a:r>
            <a:endParaRPr lang="en-AU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C5D342-AD31-DADB-B53F-D7791EE9E3E3}"/>
              </a:ext>
            </a:extLst>
          </p:cNvPr>
          <p:cNvSpPr txBox="1"/>
          <p:nvPr/>
        </p:nvSpPr>
        <p:spPr>
          <a:xfrm>
            <a:off x="6745687" y="939079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-4</a:t>
            </a:r>
            <a:endParaRPr lang="en-AU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2E1F07-8B2A-AB33-783E-8B004909FA80}"/>
              </a:ext>
            </a:extLst>
          </p:cNvPr>
          <p:cNvSpPr txBox="1"/>
          <p:nvPr/>
        </p:nvSpPr>
        <p:spPr>
          <a:xfrm>
            <a:off x="7884458" y="957237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-3</a:t>
            </a:r>
            <a:endParaRPr lang="en-AU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F7C9D1-04C7-E324-DBE5-6FDB2529B191}"/>
              </a:ext>
            </a:extLst>
          </p:cNvPr>
          <p:cNvSpPr txBox="1"/>
          <p:nvPr/>
        </p:nvSpPr>
        <p:spPr>
          <a:xfrm>
            <a:off x="9023229" y="953202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-2</a:t>
            </a:r>
            <a:endParaRPr lang="en-AU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1AD133-BFC2-ADC5-EE37-0C70B2159DB4}"/>
              </a:ext>
            </a:extLst>
          </p:cNvPr>
          <p:cNvSpPr txBox="1"/>
          <p:nvPr/>
        </p:nvSpPr>
        <p:spPr>
          <a:xfrm>
            <a:off x="10155066" y="970619"/>
            <a:ext cx="553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-1</a:t>
            </a:r>
            <a:endParaRPr lang="en-AU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EA6C34-8783-6551-14B7-64E650F5E106}"/>
              </a:ext>
            </a:extLst>
          </p:cNvPr>
          <p:cNvSpPr txBox="1"/>
          <p:nvPr/>
        </p:nvSpPr>
        <p:spPr>
          <a:xfrm>
            <a:off x="4137426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DDD23A-4025-8FAF-99CC-5040C795A247}"/>
              </a:ext>
            </a:extLst>
          </p:cNvPr>
          <p:cNvSpPr txBox="1"/>
          <p:nvPr/>
        </p:nvSpPr>
        <p:spPr>
          <a:xfrm>
            <a:off x="5301727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1A8A6-1216-C271-D62F-396616571FCA}"/>
              </a:ext>
            </a:extLst>
          </p:cNvPr>
          <p:cNvSpPr txBox="1"/>
          <p:nvPr/>
        </p:nvSpPr>
        <p:spPr>
          <a:xfrm>
            <a:off x="6481191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4BF58C-FA87-575F-8C60-26E3758C6F52}"/>
              </a:ext>
            </a:extLst>
          </p:cNvPr>
          <p:cNvSpPr txBox="1"/>
          <p:nvPr/>
        </p:nvSpPr>
        <p:spPr>
          <a:xfrm>
            <a:off x="7629575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7B2199-BD29-75B3-2145-489E472A7991}"/>
              </a:ext>
            </a:extLst>
          </p:cNvPr>
          <p:cNvSpPr txBox="1"/>
          <p:nvPr/>
        </p:nvSpPr>
        <p:spPr>
          <a:xfrm>
            <a:off x="8786930" y="3422891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DD50AC-F205-40B2-0FE5-CC08BB6794E2}"/>
              </a:ext>
            </a:extLst>
          </p:cNvPr>
          <p:cNvSpPr txBox="1"/>
          <p:nvPr/>
        </p:nvSpPr>
        <p:spPr>
          <a:xfrm>
            <a:off x="9885978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DF757BD-957F-CECC-98F0-CFA3A78C04BB}"/>
              </a:ext>
            </a:extLst>
          </p:cNvPr>
          <p:cNvSpPr/>
          <p:nvPr/>
        </p:nvSpPr>
        <p:spPr>
          <a:xfrm>
            <a:off x="4315856" y="1014339"/>
            <a:ext cx="6465746" cy="52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BFBE677-EC09-8985-E893-ED1C2844F845}"/>
              </a:ext>
            </a:extLst>
          </p:cNvPr>
          <p:cNvSpPr txBox="1"/>
          <p:nvPr/>
        </p:nvSpPr>
        <p:spPr>
          <a:xfrm>
            <a:off x="104504" y="2828835"/>
            <a:ext cx="288146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are the </a:t>
            </a:r>
            <a:r>
              <a:rPr lang="en-CA" b="1" dirty="0"/>
              <a:t>negative</a:t>
            </a:r>
            <a:r>
              <a:rPr lang="en-CA" dirty="0"/>
              <a:t> </a:t>
            </a:r>
            <a:r>
              <a:rPr lang="en-CA" b="1" dirty="0"/>
              <a:t>indices</a:t>
            </a:r>
            <a:r>
              <a:rPr lang="en-CA" dirty="0"/>
              <a:t>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. The right-most character is always -1, then it goes down by 1 each character.</a:t>
            </a:r>
            <a:endParaRPr lang="en-AU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BD460EB-A23D-CC49-1FCE-9AF4D2D8EB18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2978728" y="1276367"/>
            <a:ext cx="1337128" cy="1566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2390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836B5-933E-FCB0-90B5-DD2F6001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CB28B-6024-0454-FCB8-371AA323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5FE20A8-A9D9-876F-04CA-5EAAF61EC590}"/>
              </a:ext>
            </a:extLst>
          </p:cNvPr>
          <p:cNvGrpSpPr/>
          <p:nvPr/>
        </p:nvGrpSpPr>
        <p:grpSpPr>
          <a:xfrm>
            <a:off x="4304214" y="1663478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FAA3A94-FFE5-E473-C859-18B6719B413D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0494130-9890-9AD5-C06C-AED3F36C9BA0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0DADEF-0F2E-E1A5-0EDB-4E6C39667175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8F39173-65DD-AC00-CBF7-5DCE9972C25D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7814E9-D5E8-4C87-4ABC-842657899F31}"/>
              </a:ext>
            </a:extLst>
          </p:cNvPr>
          <p:cNvGrpSpPr/>
          <p:nvPr/>
        </p:nvGrpSpPr>
        <p:grpSpPr>
          <a:xfrm>
            <a:off x="5440682" y="1663478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44063EC-ABA0-C8BD-8CD4-727B7A059E7A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41D336C-EBE3-FB94-DC6D-D7F59DFE52DE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71FFB8D-DB3A-E61E-17C0-90E5FCE9A3D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EEB059D-354A-22E9-A531-B95F4B6EBE0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C0DFF6C-F1E0-79C8-7C3D-75FA0B3A4C4B}"/>
              </a:ext>
            </a:extLst>
          </p:cNvPr>
          <p:cNvGrpSpPr/>
          <p:nvPr/>
        </p:nvGrpSpPr>
        <p:grpSpPr>
          <a:xfrm>
            <a:off x="6582982" y="1663478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78155FD-F181-C3D4-FF09-B47D9EE703EE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8BD6516-A609-1130-D190-D2C12326E6A2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641DB6F-9EE5-B6FB-EFC8-664ACFAAA12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1836F47-F7BC-54F2-C669-55FA0192ED3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88C042-D46C-653A-5532-02679AB5D1DC}"/>
              </a:ext>
            </a:extLst>
          </p:cNvPr>
          <p:cNvGrpSpPr/>
          <p:nvPr/>
        </p:nvGrpSpPr>
        <p:grpSpPr>
          <a:xfrm>
            <a:off x="7721753" y="1663478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D532790D-F058-5E69-F8BA-83EDF0EF7A1A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D93DB33-D98B-4857-8B7F-4B1498EA18A7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18E6CBD-AD68-AF4F-D6BD-0639ADCC5FA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5AAB3E4-961A-568B-F7F3-5C0AA99D4A2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8E05298-459C-7C31-727F-6C26B00DAC52}"/>
              </a:ext>
            </a:extLst>
          </p:cNvPr>
          <p:cNvGrpSpPr/>
          <p:nvPr/>
        </p:nvGrpSpPr>
        <p:grpSpPr>
          <a:xfrm>
            <a:off x="8860524" y="1663478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7D0F4DD4-1F8D-1D09-329E-1FF3B6B5B9CD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A2A83EE-B258-CBF4-5B28-9C6868F84A5E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8E88577-AF50-0218-EDC2-3BD49168A6F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282D536-96F3-EE7D-C171-C067BCECE39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50746F4-EBA5-6811-5C15-6EE7CF137A68}"/>
              </a:ext>
            </a:extLst>
          </p:cNvPr>
          <p:cNvGrpSpPr/>
          <p:nvPr/>
        </p:nvGrpSpPr>
        <p:grpSpPr>
          <a:xfrm>
            <a:off x="9975017" y="1663478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6F9FA1B-79A9-2229-E6ED-9B0683740B1B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90ED66B-7D24-FA8A-5F31-91C24E4EE795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677FD9B-7FF1-1541-D3CE-EE0A1A452DB5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CA4C077-D71A-8596-D0AD-524FC93BF51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02EEFB29-F9EB-359B-AF11-422D45D8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162C56-5583-85A4-BFDD-FBC6F0CD6927}"/>
              </a:ext>
            </a:extLst>
          </p:cNvPr>
          <p:cNvSpPr txBox="1"/>
          <p:nvPr/>
        </p:nvSpPr>
        <p:spPr>
          <a:xfrm>
            <a:off x="173635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9F48D0-8370-F68A-AA94-0B6B58AF5609}"/>
              </a:ext>
            </a:extLst>
          </p:cNvPr>
          <p:cNvSpPr txBox="1"/>
          <p:nvPr/>
        </p:nvSpPr>
        <p:spPr>
          <a:xfrm>
            <a:off x="5167308" y="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1196AB-2515-3895-DCB3-90607395265E}"/>
              </a:ext>
            </a:extLst>
          </p:cNvPr>
          <p:cNvSpPr txBox="1"/>
          <p:nvPr/>
        </p:nvSpPr>
        <p:spPr>
          <a:xfrm>
            <a:off x="3324908" y="2262540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FE4719-EECA-3766-C84D-D3AB899DD8DC}"/>
              </a:ext>
            </a:extLst>
          </p:cNvPr>
          <p:cNvSpPr txBox="1"/>
          <p:nvPr/>
        </p:nvSpPr>
        <p:spPr>
          <a:xfrm>
            <a:off x="4466919" y="969878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-6</a:t>
            </a:r>
            <a:endParaRPr lang="en-AU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C185A9-4509-5E21-BCEF-5599970AAC12}"/>
              </a:ext>
            </a:extLst>
          </p:cNvPr>
          <p:cNvSpPr txBox="1"/>
          <p:nvPr/>
        </p:nvSpPr>
        <p:spPr>
          <a:xfrm>
            <a:off x="5603387" y="939820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-5</a:t>
            </a:r>
            <a:endParaRPr lang="en-AU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D3014D-1AEF-17C9-1AE0-6D01B1C17214}"/>
              </a:ext>
            </a:extLst>
          </p:cNvPr>
          <p:cNvSpPr txBox="1"/>
          <p:nvPr/>
        </p:nvSpPr>
        <p:spPr>
          <a:xfrm>
            <a:off x="6745687" y="939079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-4</a:t>
            </a:r>
            <a:endParaRPr lang="en-AU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93FB7F-99AE-4F3F-B6A9-F3BBE443F004}"/>
              </a:ext>
            </a:extLst>
          </p:cNvPr>
          <p:cNvSpPr txBox="1"/>
          <p:nvPr/>
        </p:nvSpPr>
        <p:spPr>
          <a:xfrm>
            <a:off x="7884458" y="957237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-3</a:t>
            </a:r>
            <a:endParaRPr lang="en-AU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341BE4-27E2-CA65-AF96-6A936034385A}"/>
              </a:ext>
            </a:extLst>
          </p:cNvPr>
          <p:cNvSpPr txBox="1"/>
          <p:nvPr/>
        </p:nvSpPr>
        <p:spPr>
          <a:xfrm>
            <a:off x="9023229" y="953202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-2</a:t>
            </a:r>
            <a:endParaRPr lang="en-AU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F22E1C-124B-8E15-4ABC-101F4271F509}"/>
              </a:ext>
            </a:extLst>
          </p:cNvPr>
          <p:cNvSpPr txBox="1"/>
          <p:nvPr/>
        </p:nvSpPr>
        <p:spPr>
          <a:xfrm>
            <a:off x="10155066" y="970619"/>
            <a:ext cx="553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-1</a:t>
            </a:r>
            <a:endParaRPr lang="en-AU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D34CC9-FD21-B5DE-6976-BD2827A123A2}"/>
              </a:ext>
            </a:extLst>
          </p:cNvPr>
          <p:cNvSpPr txBox="1"/>
          <p:nvPr/>
        </p:nvSpPr>
        <p:spPr>
          <a:xfrm>
            <a:off x="4137426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2B9F90-D465-30C4-AE7D-CE78B8FFDDB7}"/>
              </a:ext>
            </a:extLst>
          </p:cNvPr>
          <p:cNvSpPr txBox="1"/>
          <p:nvPr/>
        </p:nvSpPr>
        <p:spPr>
          <a:xfrm>
            <a:off x="5301727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021446-A004-C0CA-8D34-7E017A4DAB81}"/>
              </a:ext>
            </a:extLst>
          </p:cNvPr>
          <p:cNvSpPr txBox="1"/>
          <p:nvPr/>
        </p:nvSpPr>
        <p:spPr>
          <a:xfrm>
            <a:off x="6481191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E614EC-2A57-00DB-B0CE-6A7C94BEBCED}"/>
              </a:ext>
            </a:extLst>
          </p:cNvPr>
          <p:cNvSpPr txBox="1"/>
          <p:nvPr/>
        </p:nvSpPr>
        <p:spPr>
          <a:xfrm>
            <a:off x="7629575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AB2FC1-2336-9D10-4F60-B58AE285813E}"/>
              </a:ext>
            </a:extLst>
          </p:cNvPr>
          <p:cNvSpPr txBox="1"/>
          <p:nvPr/>
        </p:nvSpPr>
        <p:spPr>
          <a:xfrm>
            <a:off x="8786930" y="3422891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0A35B6-79A1-872D-EB76-EED88643DC8A}"/>
              </a:ext>
            </a:extLst>
          </p:cNvPr>
          <p:cNvSpPr txBox="1"/>
          <p:nvPr/>
        </p:nvSpPr>
        <p:spPr>
          <a:xfrm>
            <a:off x="9885978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373EBCCE-D5A0-01EE-3D5B-F30A6A2CF464}"/>
              </a:ext>
            </a:extLst>
          </p:cNvPr>
          <p:cNvSpPr/>
          <p:nvPr/>
        </p:nvSpPr>
        <p:spPr>
          <a:xfrm>
            <a:off x="4315856" y="1014339"/>
            <a:ext cx="6465746" cy="52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42ADA0C-AE18-2116-E7AA-983549D4121A}"/>
              </a:ext>
            </a:extLst>
          </p:cNvPr>
          <p:cNvSpPr txBox="1"/>
          <p:nvPr/>
        </p:nvSpPr>
        <p:spPr>
          <a:xfrm>
            <a:off x="104504" y="2828835"/>
            <a:ext cx="288146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are the </a:t>
            </a:r>
            <a:r>
              <a:rPr lang="en-CA" b="1" dirty="0"/>
              <a:t>negative</a:t>
            </a:r>
            <a:r>
              <a:rPr lang="en-CA" dirty="0"/>
              <a:t> </a:t>
            </a:r>
            <a:r>
              <a:rPr lang="en-CA" b="1" dirty="0"/>
              <a:t>indices</a:t>
            </a:r>
            <a:r>
              <a:rPr lang="en-CA" dirty="0"/>
              <a:t>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. The right-most character is always -1, then it goes down by 1 each character.</a:t>
            </a:r>
            <a:endParaRPr lang="en-AU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4448BBF-1F56-7AFB-1AA3-72E9E31FB769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2978728" y="1276367"/>
            <a:ext cx="1337128" cy="1566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ED753DC-2DB4-3876-F31D-A0ACD5E6478C}"/>
              </a:ext>
            </a:extLst>
          </p:cNvPr>
          <p:cNvSpPr txBox="1"/>
          <p:nvPr/>
        </p:nvSpPr>
        <p:spPr>
          <a:xfrm>
            <a:off x="4047734" y="3964390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s[-6]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6FA25B4-7CCB-4462-80AC-20656A00B3C8}"/>
              </a:ext>
            </a:extLst>
          </p:cNvPr>
          <p:cNvSpPr txBox="1"/>
          <p:nvPr/>
        </p:nvSpPr>
        <p:spPr>
          <a:xfrm>
            <a:off x="5212035" y="396438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s[-5]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3EB2EB7-3C76-1822-BE19-526B5C80A0F4}"/>
              </a:ext>
            </a:extLst>
          </p:cNvPr>
          <p:cNvSpPr txBox="1"/>
          <p:nvPr/>
        </p:nvSpPr>
        <p:spPr>
          <a:xfrm>
            <a:off x="6391499" y="396438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s[-4]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5B8DD5A-9670-3040-EF96-F2FFC9553F30}"/>
              </a:ext>
            </a:extLst>
          </p:cNvPr>
          <p:cNvSpPr txBox="1"/>
          <p:nvPr/>
        </p:nvSpPr>
        <p:spPr>
          <a:xfrm>
            <a:off x="7539883" y="3964391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s[-3]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B65E3E3-61DD-4873-C7A1-1D5B2561ADC8}"/>
              </a:ext>
            </a:extLst>
          </p:cNvPr>
          <p:cNvSpPr txBox="1"/>
          <p:nvPr/>
        </p:nvSpPr>
        <p:spPr>
          <a:xfrm>
            <a:off x="8795823" y="397552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s[2]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E75B5C6-C145-F96D-7648-15CD90B84C45}"/>
              </a:ext>
            </a:extLst>
          </p:cNvPr>
          <p:cNvSpPr txBox="1"/>
          <p:nvPr/>
        </p:nvSpPr>
        <p:spPr>
          <a:xfrm>
            <a:off x="9796286" y="3964391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s[-1]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989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F78D-B313-BBFE-46A2-BE29C2177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AFED3-4887-78A3-7565-809EA29E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2AC66CF-DA99-7908-B8B2-8F98EBD61DCB}"/>
              </a:ext>
            </a:extLst>
          </p:cNvPr>
          <p:cNvGrpSpPr/>
          <p:nvPr/>
        </p:nvGrpSpPr>
        <p:grpSpPr>
          <a:xfrm>
            <a:off x="4304214" y="1663478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D3E004A-33E5-14F6-634E-6BF81B52B0D0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6114204-AB48-62CD-267E-614037AD5F7E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882C78-E31B-AEC9-ECCA-823A9FA1796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8BB9CA0-995D-2E75-90C1-1644B99EFE7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98B1E5-929A-75D2-0B85-A32D37F4320D}"/>
              </a:ext>
            </a:extLst>
          </p:cNvPr>
          <p:cNvGrpSpPr/>
          <p:nvPr/>
        </p:nvGrpSpPr>
        <p:grpSpPr>
          <a:xfrm>
            <a:off x="5440682" y="1663478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DD49CA7-9B41-63B6-9BA2-715CE8EF755D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8C03378-0C06-58D9-154F-44B8C2759A3C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6D8EBCF-0466-88F6-1850-65F28898F28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E5DA3F4-E01E-AAE8-145C-A7028A386F5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CCFFE8-5921-859D-FF59-924C5AF379AA}"/>
              </a:ext>
            </a:extLst>
          </p:cNvPr>
          <p:cNvGrpSpPr/>
          <p:nvPr/>
        </p:nvGrpSpPr>
        <p:grpSpPr>
          <a:xfrm>
            <a:off x="6582982" y="1663478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CC952298-863C-55E9-7544-AD2D7670C5D8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B07ACB-F47E-F1C3-894B-B1AF38E2E1BE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2C38625-0C6B-C3BF-0924-1AE66672512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0ED16AB-2E4A-D88F-CC02-04A678FAF25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6644B4-5A6B-0318-C7F1-D5B921EDF76B}"/>
              </a:ext>
            </a:extLst>
          </p:cNvPr>
          <p:cNvGrpSpPr/>
          <p:nvPr/>
        </p:nvGrpSpPr>
        <p:grpSpPr>
          <a:xfrm>
            <a:off x="7721753" y="1663478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624C292C-11F7-E58A-4860-E0B288582276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5FEB60A-BDF9-8EDD-243C-4DA0F637904F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493100-31D2-23ED-0ABD-27E1EAF9DAD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2F7E96E-8882-AD1E-0FE2-8EF51DE6B1B3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16EED8-DCF8-D690-8789-54A23157CC3B}"/>
              </a:ext>
            </a:extLst>
          </p:cNvPr>
          <p:cNvGrpSpPr/>
          <p:nvPr/>
        </p:nvGrpSpPr>
        <p:grpSpPr>
          <a:xfrm>
            <a:off x="8860524" y="1663478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10326935-82D7-CDDF-CACF-C7B05B0A2E5D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4E34500-8293-9C2B-868E-A8515B65854A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17C8F6C-EAB7-D63C-9083-DDEC856580A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311929C-9C3B-23CF-A1C0-3D4EDF62EF10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CC7CA1-1836-ED65-4FD4-3A9A4331A881}"/>
              </a:ext>
            </a:extLst>
          </p:cNvPr>
          <p:cNvGrpSpPr/>
          <p:nvPr/>
        </p:nvGrpSpPr>
        <p:grpSpPr>
          <a:xfrm>
            <a:off x="9975017" y="1663478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9E588C9-8F0C-C487-5325-4D8148594E5B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BA2F2B-C98D-EE16-64D1-744BA3ACA6BF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2471A02-9D37-CE2D-7EE8-E99581C23E0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29F571D-74ED-644C-64FC-F39D072A442E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CB592BE1-9CA5-DC79-A1A8-556B57D2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55B61-4AC3-1D1E-ADFE-3E30CEA83DA7}"/>
              </a:ext>
            </a:extLst>
          </p:cNvPr>
          <p:cNvSpPr txBox="1"/>
          <p:nvPr/>
        </p:nvSpPr>
        <p:spPr>
          <a:xfrm>
            <a:off x="173635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A7CEB3-9909-FB45-2756-36CF9DAFCE4C}"/>
              </a:ext>
            </a:extLst>
          </p:cNvPr>
          <p:cNvSpPr txBox="1"/>
          <p:nvPr/>
        </p:nvSpPr>
        <p:spPr>
          <a:xfrm>
            <a:off x="5167308" y="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80F3DC-09AE-9479-EC3B-DDA7300AFC15}"/>
              </a:ext>
            </a:extLst>
          </p:cNvPr>
          <p:cNvSpPr txBox="1"/>
          <p:nvPr/>
        </p:nvSpPr>
        <p:spPr>
          <a:xfrm>
            <a:off x="3324908" y="2262540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2BF520-C976-54B4-17FA-DCD812EA514B}"/>
              </a:ext>
            </a:extLst>
          </p:cNvPr>
          <p:cNvSpPr txBox="1"/>
          <p:nvPr/>
        </p:nvSpPr>
        <p:spPr>
          <a:xfrm>
            <a:off x="4466919" y="969878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-6</a:t>
            </a:r>
            <a:endParaRPr lang="en-AU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4CB4F6-D00D-2342-D81F-DDF2B4F7E538}"/>
              </a:ext>
            </a:extLst>
          </p:cNvPr>
          <p:cNvSpPr txBox="1"/>
          <p:nvPr/>
        </p:nvSpPr>
        <p:spPr>
          <a:xfrm>
            <a:off x="5603387" y="939820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-5</a:t>
            </a:r>
            <a:endParaRPr lang="en-AU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920964-E234-7DE3-9AE4-B395011CAA86}"/>
              </a:ext>
            </a:extLst>
          </p:cNvPr>
          <p:cNvSpPr txBox="1"/>
          <p:nvPr/>
        </p:nvSpPr>
        <p:spPr>
          <a:xfrm>
            <a:off x="6745687" y="939079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-4</a:t>
            </a:r>
            <a:endParaRPr lang="en-AU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5700C6-BF0B-B3A8-EBE4-8B421C075796}"/>
              </a:ext>
            </a:extLst>
          </p:cNvPr>
          <p:cNvSpPr txBox="1"/>
          <p:nvPr/>
        </p:nvSpPr>
        <p:spPr>
          <a:xfrm>
            <a:off x="7884458" y="957237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-3</a:t>
            </a:r>
            <a:endParaRPr lang="en-AU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3BA780-777F-0F54-26E5-8D43C0E8227A}"/>
              </a:ext>
            </a:extLst>
          </p:cNvPr>
          <p:cNvSpPr txBox="1"/>
          <p:nvPr/>
        </p:nvSpPr>
        <p:spPr>
          <a:xfrm>
            <a:off x="9023229" y="953202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-2</a:t>
            </a:r>
            <a:endParaRPr lang="en-AU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D12FF0-1D54-2B17-7003-EB5F2A03952D}"/>
              </a:ext>
            </a:extLst>
          </p:cNvPr>
          <p:cNvSpPr txBox="1"/>
          <p:nvPr/>
        </p:nvSpPr>
        <p:spPr>
          <a:xfrm>
            <a:off x="10155066" y="970619"/>
            <a:ext cx="553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-1</a:t>
            </a:r>
            <a:endParaRPr lang="en-AU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261AF-8184-3FBF-E19E-A917599CE826}"/>
              </a:ext>
            </a:extLst>
          </p:cNvPr>
          <p:cNvSpPr txBox="1"/>
          <p:nvPr/>
        </p:nvSpPr>
        <p:spPr>
          <a:xfrm>
            <a:off x="4137426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673A9A-9440-261E-5BEE-4F08D81FC413}"/>
              </a:ext>
            </a:extLst>
          </p:cNvPr>
          <p:cNvSpPr txBox="1"/>
          <p:nvPr/>
        </p:nvSpPr>
        <p:spPr>
          <a:xfrm>
            <a:off x="5301727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11D780-714E-08CF-B872-03C1A3018812}"/>
              </a:ext>
            </a:extLst>
          </p:cNvPr>
          <p:cNvSpPr txBox="1"/>
          <p:nvPr/>
        </p:nvSpPr>
        <p:spPr>
          <a:xfrm>
            <a:off x="6481191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5CCEDF-C00D-BEF6-7B04-34E6AA27DB4C}"/>
              </a:ext>
            </a:extLst>
          </p:cNvPr>
          <p:cNvSpPr txBox="1"/>
          <p:nvPr/>
        </p:nvSpPr>
        <p:spPr>
          <a:xfrm>
            <a:off x="7629575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A549A9-A60C-B890-175E-FDD7C1EA519E}"/>
              </a:ext>
            </a:extLst>
          </p:cNvPr>
          <p:cNvSpPr txBox="1"/>
          <p:nvPr/>
        </p:nvSpPr>
        <p:spPr>
          <a:xfrm>
            <a:off x="8786930" y="3422891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BBC9C9-194F-8364-D8A2-AAB9525FA92B}"/>
              </a:ext>
            </a:extLst>
          </p:cNvPr>
          <p:cNvSpPr txBox="1"/>
          <p:nvPr/>
        </p:nvSpPr>
        <p:spPr>
          <a:xfrm>
            <a:off x="9885978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40CA2A0-09AC-2DBA-EF8E-41E323204E03}"/>
              </a:ext>
            </a:extLst>
          </p:cNvPr>
          <p:cNvSpPr/>
          <p:nvPr/>
        </p:nvSpPr>
        <p:spPr>
          <a:xfrm>
            <a:off x="4315856" y="1014339"/>
            <a:ext cx="6465746" cy="52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E3143F-F912-D4F6-622D-BDAAF6843200}"/>
              </a:ext>
            </a:extLst>
          </p:cNvPr>
          <p:cNvSpPr txBox="1"/>
          <p:nvPr/>
        </p:nvSpPr>
        <p:spPr>
          <a:xfrm>
            <a:off x="104504" y="2828835"/>
            <a:ext cx="288146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are the </a:t>
            </a:r>
            <a:r>
              <a:rPr lang="en-CA" b="1" dirty="0"/>
              <a:t>negative</a:t>
            </a:r>
            <a:r>
              <a:rPr lang="en-CA" dirty="0"/>
              <a:t> </a:t>
            </a:r>
            <a:r>
              <a:rPr lang="en-CA" b="1" dirty="0"/>
              <a:t>indices</a:t>
            </a:r>
            <a:r>
              <a:rPr lang="en-CA" dirty="0"/>
              <a:t>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. The right-most character is always -1, then it goes down by 1 each character.</a:t>
            </a:r>
            <a:endParaRPr lang="en-AU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2D19476-8065-9D55-2267-011B497DE396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2978728" y="1276367"/>
            <a:ext cx="1337128" cy="1566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BE25C5F-B13D-2D5C-B071-C18809CFFB94}"/>
              </a:ext>
            </a:extLst>
          </p:cNvPr>
          <p:cNvSpPr txBox="1"/>
          <p:nvPr/>
        </p:nvSpPr>
        <p:spPr>
          <a:xfrm>
            <a:off x="4047734" y="3964390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s[-6]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1F5940-6B6D-230E-FE6D-121188A044E4}"/>
              </a:ext>
            </a:extLst>
          </p:cNvPr>
          <p:cNvSpPr txBox="1"/>
          <p:nvPr/>
        </p:nvSpPr>
        <p:spPr>
          <a:xfrm>
            <a:off x="5212035" y="396438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s[-5]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505AA2-F73C-88AD-B6D1-2E707FBFCFC7}"/>
              </a:ext>
            </a:extLst>
          </p:cNvPr>
          <p:cNvSpPr txBox="1"/>
          <p:nvPr/>
        </p:nvSpPr>
        <p:spPr>
          <a:xfrm>
            <a:off x="6391499" y="396438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s[-4]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B2ACC1-50F9-D48C-0C22-BE411500E972}"/>
              </a:ext>
            </a:extLst>
          </p:cNvPr>
          <p:cNvSpPr txBox="1"/>
          <p:nvPr/>
        </p:nvSpPr>
        <p:spPr>
          <a:xfrm>
            <a:off x="7539883" y="3964391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s[-3]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FF52105-ADF0-0D39-16ED-671B81027B13}"/>
              </a:ext>
            </a:extLst>
          </p:cNvPr>
          <p:cNvSpPr txBox="1"/>
          <p:nvPr/>
        </p:nvSpPr>
        <p:spPr>
          <a:xfrm>
            <a:off x="8795823" y="397552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s[2]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D8C4F73-45AE-8BE4-9AF1-EF34A229D5B5}"/>
              </a:ext>
            </a:extLst>
          </p:cNvPr>
          <p:cNvSpPr txBox="1"/>
          <p:nvPr/>
        </p:nvSpPr>
        <p:spPr>
          <a:xfrm>
            <a:off x="9796286" y="3964391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s[-1]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AB1E1-9AAC-31E2-639F-1CC215E7C96D}"/>
              </a:ext>
            </a:extLst>
          </p:cNvPr>
          <p:cNvSpPr txBox="1"/>
          <p:nvPr/>
        </p:nvSpPr>
        <p:spPr>
          <a:xfrm>
            <a:off x="353147" y="4864631"/>
            <a:ext cx="46025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CA" sz="2400" dirty="0">
                <a:latin typeface="Consolas" panose="020B0609020204030204" pitchFamily="49" charset="0"/>
              </a:rPr>
              <a:t>])  # P</a:t>
            </a:r>
            <a:br>
              <a:rPr lang="en-CA" sz="2400" dirty="0">
                <a:latin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CA" sz="2400" dirty="0">
                <a:latin typeface="Consolas" panose="020B0609020204030204" pitchFamily="49" charset="0"/>
              </a:rPr>
              <a:t>])  # e</a:t>
            </a:r>
            <a:br>
              <a:rPr lang="en-CA" sz="2400" dirty="0">
                <a:latin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CA" sz="2400" dirty="0">
                <a:latin typeface="Consolas" panose="020B0609020204030204" pitchFamily="49" charset="0"/>
              </a:rPr>
              <a:t>])  # !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CA" sz="2400" dirty="0">
                <a:latin typeface="Consolas" panose="020B0609020204030204" pitchFamily="49" charset="0"/>
              </a:rPr>
              <a:t>])  # </a:t>
            </a:r>
            <a:r>
              <a:rPr lang="en-CA" sz="2400" dirty="0" err="1">
                <a:latin typeface="Consolas" panose="020B0609020204030204" pitchFamily="49" charset="0"/>
              </a:rPr>
              <a:t>IndexError</a:t>
            </a:r>
            <a:r>
              <a:rPr lang="en-CA" sz="2400" dirty="0">
                <a:latin typeface="Consolas" panose="020B0609020204030204" pitchFamily="49" charset="0"/>
              </a:rPr>
              <a:t> </a:t>
            </a:r>
            <a:endParaRPr lang="en-AU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06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2D03A-B74D-0698-4938-957B41EA7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42139-C7C9-3F9B-31BF-DC9B8EEA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09ADDE-5EEF-96EC-D394-0BAE1DF91771}"/>
              </a:ext>
            </a:extLst>
          </p:cNvPr>
          <p:cNvGrpSpPr/>
          <p:nvPr/>
        </p:nvGrpSpPr>
        <p:grpSpPr>
          <a:xfrm>
            <a:off x="4304214" y="1663478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B2630710-E875-BEB4-CAB9-CBCF7F8D5CED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99E9A0-B519-543A-1552-D8BE4FAAFEFB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C47F00-51B1-490A-5C56-D8BD1685B85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43E4287-D995-700F-5BCC-71A513059A7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806DD0E-7457-2ABD-0A7A-51719CB08CCD}"/>
              </a:ext>
            </a:extLst>
          </p:cNvPr>
          <p:cNvGrpSpPr/>
          <p:nvPr/>
        </p:nvGrpSpPr>
        <p:grpSpPr>
          <a:xfrm>
            <a:off x="5440682" y="1663478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455A8F1-A2BB-9890-7269-0CC721752FB2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702EE47-64AA-DF08-E030-632ECF41F50D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8541D18-1B36-79C6-C0BB-591DB7D1107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2862B90-77D4-321B-28F0-CB30649755D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F43EB4C-CA41-47D1-DEBB-757DD9E1519E}"/>
              </a:ext>
            </a:extLst>
          </p:cNvPr>
          <p:cNvGrpSpPr/>
          <p:nvPr/>
        </p:nvGrpSpPr>
        <p:grpSpPr>
          <a:xfrm>
            <a:off x="6582982" y="1663478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D371FEC-9D9E-781E-BBA7-89B919757CCE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1E441BD-30A2-330A-E3D6-E51FDDB47129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E998399-AA56-FCC8-A0E4-C01AF3A6E62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56440F9-585D-5BBB-5516-18CD9B26C8D1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6AE89E6-F201-D866-E7F2-4CA6B0278F04}"/>
              </a:ext>
            </a:extLst>
          </p:cNvPr>
          <p:cNvGrpSpPr/>
          <p:nvPr/>
        </p:nvGrpSpPr>
        <p:grpSpPr>
          <a:xfrm>
            <a:off x="7721753" y="1663478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35B7D86-7F11-37FA-6EF0-DE32CFC06818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5AAFC5E-54F1-3760-2393-DDAB6B05EB9F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20D2087-9598-3066-A616-B3F1D960E3C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F2500B8-E453-B765-CD82-8AC2FC6CD46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AC70560-0417-F0D2-4900-0BFB7E75D388}"/>
              </a:ext>
            </a:extLst>
          </p:cNvPr>
          <p:cNvGrpSpPr/>
          <p:nvPr/>
        </p:nvGrpSpPr>
        <p:grpSpPr>
          <a:xfrm>
            <a:off x="8860524" y="1663478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734FFA7-8F47-A596-12C8-70F4DF3C8706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BA1ACEF-852C-060D-45A4-72374F0C1DFB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9875EDD-2928-5B7A-61AF-DD62A48722E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50E33505-3523-19E4-8732-F945538E191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157991F-EAC8-A4E8-78E8-7849AAA25287}"/>
              </a:ext>
            </a:extLst>
          </p:cNvPr>
          <p:cNvGrpSpPr/>
          <p:nvPr/>
        </p:nvGrpSpPr>
        <p:grpSpPr>
          <a:xfrm>
            <a:off x="9975017" y="1663478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546C7A3-0955-1252-A613-C49134085932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8AFD5EA-369C-F951-3AE5-285E0FB66798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F70C6E1-345C-B31E-6EAD-64CCF153CA0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009B379-C106-BD3C-FB89-B397B5C3C17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1ADBEA9E-DDA6-ADFD-6C18-26F04382A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1913B9-5EF5-8E9D-C621-132A117E2F29}"/>
              </a:ext>
            </a:extLst>
          </p:cNvPr>
          <p:cNvSpPr txBox="1"/>
          <p:nvPr/>
        </p:nvSpPr>
        <p:spPr>
          <a:xfrm>
            <a:off x="173635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DCEB49-2376-E00D-8923-9C831689A4FE}"/>
              </a:ext>
            </a:extLst>
          </p:cNvPr>
          <p:cNvSpPr txBox="1"/>
          <p:nvPr/>
        </p:nvSpPr>
        <p:spPr>
          <a:xfrm>
            <a:off x="5167308" y="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5A53B9-9D38-014F-A742-348D49A82C23}"/>
              </a:ext>
            </a:extLst>
          </p:cNvPr>
          <p:cNvSpPr txBox="1"/>
          <p:nvPr/>
        </p:nvSpPr>
        <p:spPr>
          <a:xfrm>
            <a:off x="3324908" y="2262540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344B4-93C2-EB42-EDD5-00DFFBD2D23C}"/>
              </a:ext>
            </a:extLst>
          </p:cNvPr>
          <p:cNvSpPr txBox="1"/>
          <p:nvPr/>
        </p:nvSpPr>
        <p:spPr>
          <a:xfrm>
            <a:off x="4466919" y="969878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-6</a:t>
            </a:r>
            <a:endParaRPr lang="en-AU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84685-DB2F-99B6-F83D-B4A7EAC9C8C7}"/>
              </a:ext>
            </a:extLst>
          </p:cNvPr>
          <p:cNvSpPr txBox="1"/>
          <p:nvPr/>
        </p:nvSpPr>
        <p:spPr>
          <a:xfrm>
            <a:off x="5603387" y="939820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-5</a:t>
            </a:r>
            <a:endParaRPr lang="en-AU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3E5E45-FB02-36CE-2BA6-708095B0BF94}"/>
              </a:ext>
            </a:extLst>
          </p:cNvPr>
          <p:cNvSpPr txBox="1"/>
          <p:nvPr/>
        </p:nvSpPr>
        <p:spPr>
          <a:xfrm>
            <a:off x="6745687" y="939079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-4</a:t>
            </a:r>
            <a:endParaRPr lang="en-AU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F3DDB5-F8A9-EFE4-E244-8E79F1C780DD}"/>
              </a:ext>
            </a:extLst>
          </p:cNvPr>
          <p:cNvSpPr txBox="1"/>
          <p:nvPr/>
        </p:nvSpPr>
        <p:spPr>
          <a:xfrm>
            <a:off x="7884458" y="957237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-3</a:t>
            </a:r>
            <a:endParaRPr lang="en-AU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541411-9243-8ECB-432F-0CD5D0DFB1BE}"/>
              </a:ext>
            </a:extLst>
          </p:cNvPr>
          <p:cNvSpPr txBox="1"/>
          <p:nvPr/>
        </p:nvSpPr>
        <p:spPr>
          <a:xfrm>
            <a:off x="9023229" y="953202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-2</a:t>
            </a:r>
            <a:endParaRPr lang="en-AU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C6D0AD-3FF7-46A9-0AF8-032DB48B0ECB}"/>
              </a:ext>
            </a:extLst>
          </p:cNvPr>
          <p:cNvSpPr txBox="1"/>
          <p:nvPr/>
        </p:nvSpPr>
        <p:spPr>
          <a:xfrm>
            <a:off x="10155066" y="970619"/>
            <a:ext cx="553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-1</a:t>
            </a:r>
            <a:endParaRPr lang="en-AU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C0AC5-01EC-A457-1E35-A5B3D8ABE55B}"/>
              </a:ext>
            </a:extLst>
          </p:cNvPr>
          <p:cNvSpPr txBox="1"/>
          <p:nvPr/>
        </p:nvSpPr>
        <p:spPr>
          <a:xfrm>
            <a:off x="4137426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582615-CCE2-1060-6265-36AAB2BD21B5}"/>
              </a:ext>
            </a:extLst>
          </p:cNvPr>
          <p:cNvSpPr txBox="1"/>
          <p:nvPr/>
        </p:nvSpPr>
        <p:spPr>
          <a:xfrm>
            <a:off x="5301727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DCA350-E6C8-32A5-4205-05CC87621CAD}"/>
              </a:ext>
            </a:extLst>
          </p:cNvPr>
          <p:cNvSpPr txBox="1"/>
          <p:nvPr/>
        </p:nvSpPr>
        <p:spPr>
          <a:xfrm>
            <a:off x="6481191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D98FF9-A957-162D-CEAE-740367EA2B32}"/>
              </a:ext>
            </a:extLst>
          </p:cNvPr>
          <p:cNvSpPr txBox="1"/>
          <p:nvPr/>
        </p:nvSpPr>
        <p:spPr>
          <a:xfrm>
            <a:off x="7629575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76C575-B3BC-D393-BC71-E80236FFBFC9}"/>
              </a:ext>
            </a:extLst>
          </p:cNvPr>
          <p:cNvSpPr txBox="1"/>
          <p:nvPr/>
        </p:nvSpPr>
        <p:spPr>
          <a:xfrm>
            <a:off x="8786930" y="3422891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3A017C-31E5-C6B9-F398-22E8CDE707EA}"/>
              </a:ext>
            </a:extLst>
          </p:cNvPr>
          <p:cNvSpPr txBox="1"/>
          <p:nvPr/>
        </p:nvSpPr>
        <p:spPr>
          <a:xfrm>
            <a:off x="9885978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BE17BA4-4E3E-4E02-4F93-CA17E16A20AB}"/>
              </a:ext>
            </a:extLst>
          </p:cNvPr>
          <p:cNvSpPr/>
          <p:nvPr/>
        </p:nvSpPr>
        <p:spPr>
          <a:xfrm>
            <a:off x="4315856" y="1014339"/>
            <a:ext cx="6465746" cy="52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A5BBFC-0981-3822-B7D0-05476B54B4F4}"/>
              </a:ext>
            </a:extLst>
          </p:cNvPr>
          <p:cNvSpPr txBox="1"/>
          <p:nvPr/>
        </p:nvSpPr>
        <p:spPr>
          <a:xfrm>
            <a:off x="104504" y="2828835"/>
            <a:ext cx="288146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are the </a:t>
            </a:r>
            <a:r>
              <a:rPr lang="en-CA" b="1" dirty="0"/>
              <a:t>negative</a:t>
            </a:r>
            <a:r>
              <a:rPr lang="en-CA" dirty="0"/>
              <a:t> </a:t>
            </a:r>
            <a:r>
              <a:rPr lang="en-CA" b="1" dirty="0"/>
              <a:t>indices</a:t>
            </a:r>
            <a:r>
              <a:rPr lang="en-CA" dirty="0"/>
              <a:t>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. The right-most character is always -1, then it goes down by 1 each character.</a:t>
            </a:r>
            <a:endParaRPr lang="en-AU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3D7CA45-D42C-CEE5-76A7-12117A794069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2978728" y="1276367"/>
            <a:ext cx="1337128" cy="1566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F538DD6-7126-20FA-6AF8-5457E8340477}"/>
              </a:ext>
            </a:extLst>
          </p:cNvPr>
          <p:cNvSpPr txBox="1"/>
          <p:nvPr/>
        </p:nvSpPr>
        <p:spPr>
          <a:xfrm>
            <a:off x="4047734" y="3964390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s[-6]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89110A-796A-0827-393D-23CBA5C823E5}"/>
              </a:ext>
            </a:extLst>
          </p:cNvPr>
          <p:cNvSpPr txBox="1"/>
          <p:nvPr/>
        </p:nvSpPr>
        <p:spPr>
          <a:xfrm>
            <a:off x="5212035" y="396438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s[-5]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01ED08C-393E-6F36-01E5-CF1ABD973595}"/>
              </a:ext>
            </a:extLst>
          </p:cNvPr>
          <p:cNvSpPr txBox="1"/>
          <p:nvPr/>
        </p:nvSpPr>
        <p:spPr>
          <a:xfrm>
            <a:off x="6391499" y="396438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s[-4]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DCF9D0-EFE8-F1C0-D788-4FAA487F824A}"/>
              </a:ext>
            </a:extLst>
          </p:cNvPr>
          <p:cNvSpPr txBox="1"/>
          <p:nvPr/>
        </p:nvSpPr>
        <p:spPr>
          <a:xfrm>
            <a:off x="7539883" y="3964391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s[-3]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244AE8E-DAA6-6A7B-B285-AB60A6FB2802}"/>
              </a:ext>
            </a:extLst>
          </p:cNvPr>
          <p:cNvSpPr txBox="1"/>
          <p:nvPr/>
        </p:nvSpPr>
        <p:spPr>
          <a:xfrm>
            <a:off x="8795823" y="397552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s[2]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2AFA5D4-2518-6249-4B56-A272071F7E98}"/>
              </a:ext>
            </a:extLst>
          </p:cNvPr>
          <p:cNvSpPr txBox="1"/>
          <p:nvPr/>
        </p:nvSpPr>
        <p:spPr>
          <a:xfrm>
            <a:off x="9796286" y="3964391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s[-1]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B59E0B-4B6C-C531-64E7-38664D02120C}"/>
              </a:ext>
            </a:extLst>
          </p:cNvPr>
          <p:cNvSpPr txBox="1"/>
          <p:nvPr/>
        </p:nvSpPr>
        <p:spPr>
          <a:xfrm>
            <a:off x="353147" y="4864631"/>
            <a:ext cx="460254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CA" sz="2400" dirty="0">
                <a:latin typeface="Consolas" panose="020B0609020204030204" pitchFamily="49" charset="0"/>
              </a:rPr>
              <a:t>])  # P</a:t>
            </a:r>
            <a:br>
              <a:rPr lang="en-CA" sz="2400" dirty="0">
                <a:latin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  <a:r>
              <a:rPr lang="en-CA" sz="2400" dirty="0">
                <a:latin typeface="Consolas" panose="020B0609020204030204" pitchFamily="49" charset="0"/>
              </a:rPr>
              <a:t>])  # e</a:t>
            </a:r>
            <a:br>
              <a:rPr lang="en-CA" sz="2400" dirty="0">
                <a:latin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r>
              <a:rPr lang="en-CA" sz="2400" dirty="0">
                <a:latin typeface="Consolas" panose="020B0609020204030204" pitchFamily="49" charset="0"/>
              </a:rPr>
              <a:t>])  # !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r>
              <a:rPr lang="en-CA" sz="2400" dirty="0">
                <a:latin typeface="Consolas" panose="020B0609020204030204" pitchFamily="49" charset="0"/>
              </a:rPr>
              <a:t>])  # </a:t>
            </a:r>
            <a:r>
              <a:rPr lang="en-CA" sz="2400" dirty="0" err="1">
                <a:latin typeface="Consolas" panose="020B0609020204030204" pitchFamily="49" charset="0"/>
              </a:rPr>
              <a:t>IndexError</a:t>
            </a:r>
            <a:r>
              <a:rPr lang="en-CA" sz="2400" dirty="0">
                <a:latin typeface="Consolas" panose="020B0609020204030204" pitchFamily="49" charset="0"/>
              </a:rPr>
              <a:t> 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B69F4-56BA-D886-AC4F-AC6F76556380}"/>
              </a:ext>
            </a:extLst>
          </p:cNvPr>
          <p:cNvSpPr txBox="1"/>
          <p:nvPr/>
        </p:nvSpPr>
        <p:spPr>
          <a:xfrm>
            <a:off x="6353269" y="4864631"/>
            <a:ext cx="47724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-6</a:t>
            </a:r>
            <a:r>
              <a:rPr lang="en-CA" sz="2400" dirty="0">
                <a:latin typeface="Consolas" panose="020B0609020204030204" pitchFamily="49" charset="0"/>
              </a:rPr>
              <a:t>])  # P</a:t>
            </a:r>
            <a:br>
              <a:rPr lang="en-CA" sz="2400" dirty="0">
                <a:latin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-3</a:t>
            </a:r>
            <a:r>
              <a:rPr lang="en-CA" sz="2400" dirty="0">
                <a:latin typeface="Consolas" panose="020B0609020204030204" pitchFamily="49" charset="0"/>
              </a:rPr>
              <a:t>])  # e</a:t>
            </a:r>
            <a:br>
              <a:rPr lang="en-CA" sz="2400" dirty="0">
                <a:latin typeface="Consolas" panose="020B0609020204030204" pitchFamily="49" charset="0"/>
              </a:rPr>
            </a:br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  <a:r>
              <a:rPr lang="en-CA" sz="2400" dirty="0">
                <a:latin typeface="Consolas" panose="020B0609020204030204" pitchFamily="49" charset="0"/>
              </a:rPr>
              <a:t>])  # !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print(s[</a:t>
            </a:r>
            <a:r>
              <a:rPr lang="en-CA" sz="2400" dirty="0">
                <a:solidFill>
                  <a:srgbClr val="FF0000"/>
                </a:solidFill>
                <a:latin typeface="Consolas" panose="020B0609020204030204" pitchFamily="49" charset="0"/>
              </a:rPr>
              <a:t>-7</a:t>
            </a:r>
            <a:r>
              <a:rPr lang="en-CA" sz="2400" dirty="0">
                <a:latin typeface="Consolas" panose="020B0609020204030204" pitchFamily="49" charset="0"/>
              </a:rPr>
              <a:t>])  # </a:t>
            </a:r>
            <a:r>
              <a:rPr lang="en-CA" sz="2400" dirty="0" err="1">
                <a:latin typeface="Consolas" panose="020B0609020204030204" pitchFamily="49" charset="0"/>
              </a:rPr>
              <a:t>IndexError</a:t>
            </a:r>
            <a:r>
              <a:rPr lang="en-CA" sz="2400" dirty="0">
                <a:latin typeface="Consolas" panose="020B0609020204030204" pitchFamily="49" charset="0"/>
              </a:rPr>
              <a:t> </a:t>
            </a:r>
            <a:endParaRPr lang="en-AU" sz="2400" dirty="0">
              <a:latin typeface="Consolas" panose="020B0609020204030204" pitchFamily="49" charset="0"/>
            </a:endParaRP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E6B85A9E-C1A3-0396-308D-2ADF4BBEB3C5}"/>
              </a:ext>
            </a:extLst>
          </p:cNvPr>
          <p:cNvSpPr/>
          <p:nvPr/>
        </p:nvSpPr>
        <p:spPr>
          <a:xfrm>
            <a:off x="4421366" y="5294811"/>
            <a:ext cx="1256623" cy="52322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4727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3085E-936F-DF6E-E364-7D8BBC1B9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B450B-FFED-0EEC-B370-2C137030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B29D4BE-E613-ADCD-2DB2-BFCC92E58E87}"/>
              </a:ext>
            </a:extLst>
          </p:cNvPr>
          <p:cNvGrpSpPr/>
          <p:nvPr/>
        </p:nvGrpSpPr>
        <p:grpSpPr>
          <a:xfrm>
            <a:off x="4304214" y="1663478"/>
            <a:ext cx="914033" cy="1752122"/>
            <a:chOff x="5225143" y="1529556"/>
            <a:chExt cx="914033" cy="175212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52E4D00-E7AE-D71B-3E0C-B23D49D04477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731422F-80E5-F29B-1B60-24265315BB20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B74CA87-3A9B-74D8-0DC2-E8294DEC36C5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80E7B5E-BFB1-F505-957F-E83FFDAD9EF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2B9469B-D6B0-BC43-86FD-A316A2F5CD27}"/>
              </a:ext>
            </a:extLst>
          </p:cNvPr>
          <p:cNvGrpSpPr/>
          <p:nvPr/>
        </p:nvGrpSpPr>
        <p:grpSpPr>
          <a:xfrm>
            <a:off x="5440682" y="1663478"/>
            <a:ext cx="914033" cy="1752122"/>
            <a:chOff x="5225143" y="1529556"/>
            <a:chExt cx="914033" cy="175212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FA3275A-C3E8-C37C-9882-781FE0233C0B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9FA70FD-96F2-6BF0-3BFA-558643ADD102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A12FFC3-4AD9-1BE4-A863-62F090255EA5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22FD22A-A3A3-5162-2F39-53147D2F5D6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6B45CB-9AD9-3B0C-09BD-70074D12860C}"/>
              </a:ext>
            </a:extLst>
          </p:cNvPr>
          <p:cNvGrpSpPr/>
          <p:nvPr/>
        </p:nvGrpSpPr>
        <p:grpSpPr>
          <a:xfrm>
            <a:off x="6582982" y="1663478"/>
            <a:ext cx="914033" cy="1752122"/>
            <a:chOff x="5225143" y="1529556"/>
            <a:chExt cx="914033" cy="1752122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18789E4-A436-F572-07B6-1BCE8D72E2EB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B249001-1AE1-067C-4698-BFD6CAF5B760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6A595A68-8892-0E68-867E-B3C74B58043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DDE2F29-F133-B414-C3F3-2D4A07234BF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4F5286B-195C-9AD8-E74A-0D05FE8566C6}"/>
              </a:ext>
            </a:extLst>
          </p:cNvPr>
          <p:cNvGrpSpPr/>
          <p:nvPr/>
        </p:nvGrpSpPr>
        <p:grpSpPr>
          <a:xfrm>
            <a:off x="7721753" y="1663478"/>
            <a:ext cx="914033" cy="1752122"/>
            <a:chOff x="5225143" y="1529556"/>
            <a:chExt cx="914033" cy="1752122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CA79E25-7D8E-7BCC-264F-176040E3D015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77500188-EF78-E883-A7D0-675B2ABED7DB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52DA61A-F26C-CD0C-F47B-6424763897D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C2704C7-720C-AA16-73DB-A3946D14263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03D8B80-8AEE-A560-244D-F2A6A061EA9C}"/>
              </a:ext>
            </a:extLst>
          </p:cNvPr>
          <p:cNvGrpSpPr/>
          <p:nvPr/>
        </p:nvGrpSpPr>
        <p:grpSpPr>
          <a:xfrm>
            <a:off x="8860524" y="1663478"/>
            <a:ext cx="914033" cy="1752122"/>
            <a:chOff x="5225143" y="1529556"/>
            <a:chExt cx="914033" cy="175212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6E4170BC-CD50-6537-D997-48DF47608B53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13D6573-34A7-7CA8-5A3F-A7F96366B1FB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E28BC28-706C-D982-ADA5-33CC2513406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F6998BB-DD4F-CCD3-5937-A3DEA604A82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BF35DDA-5C4A-BD93-755A-29EB16933C66}"/>
              </a:ext>
            </a:extLst>
          </p:cNvPr>
          <p:cNvGrpSpPr/>
          <p:nvPr/>
        </p:nvGrpSpPr>
        <p:grpSpPr>
          <a:xfrm>
            <a:off x="9975017" y="1663478"/>
            <a:ext cx="914033" cy="1752122"/>
            <a:chOff x="5225143" y="1529556"/>
            <a:chExt cx="914033" cy="1752122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04FBA0F4-63B7-4586-8C6C-4EFBC516B2E4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C16A1F8-481E-5452-AC52-04EC09396152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1F876BF-8114-130D-52F2-47856E83BE2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983155A-B9A8-4376-98DB-7F2C5B9F666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9" name="Title 1">
            <a:extLst>
              <a:ext uri="{FF2B5EF4-FFF2-40B4-BE49-F238E27FC236}">
                <a16:creationId xmlns:a16="http://schemas.microsoft.com/office/drawing/2014/main" id="{137A3679-A03A-8B58-FF2F-B5378EE11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147" y="-161767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Strings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BC148C-D2CA-1628-D06E-2F27BF488DC1}"/>
              </a:ext>
            </a:extLst>
          </p:cNvPr>
          <p:cNvSpPr txBox="1"/>
          <p:nvPr/>
        </p:nvSpPr>
        <p:spPr>
          <a:xfrm>
            <a:off x="173635" y="895539"/>
            <a:ext cx="274319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string</a:t>
            </a:r>
            <a:r>
              <a:rPr lang="en-CA" dirty="0"/>
              <a:t> is a sequence of 0 or more characters. The order of the characters matters.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5037C2-9723-EFEA-5C62-5784955A7B35}"/>
              </a:ext>
            </a:extLst>
          </p:cNvPr>
          <p:cNvSpPr txBox="1"/>
          <p:nvPr/>
        </p:nvSpPr>
        <p:spPr>
          <a:xfrm>
            <a:off x="5167308" y="0"/>
            <a:ext cx="47628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 = 'Paper!'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F2C34-9C4D-95D3-0C5C-AD202F41CF41}"/>
              </a:ext>
            </a:extLst>
          </p:cNvPr>
          <p:cNvSpPr txBox="1"/>
          <p:nvPr/>
        </p:nvSpPr>
        <p:spPr>
          <a:xfrm>
            <a:off x="3324908" y="2262540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7E9F7-DCA8-FFE7-AD1B-28AC3018A3A5}"/>
              </a:ext>
            </a:extLst>
          </p:cNvPr>
          <p:cNvSpPr txBox="1"/>
          <p:nvPr/>
        </p:nvSpPr>
        <p:spPr>
          <a:xfrm>
            <a:off x="4466919" y="969878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-6</a:t>
            </a:r>
            <a:endParaRPr lang="en-AU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CE25F-E376-C6F6-1A1D-D9D0A6CD8825}"/>
              </a:ext>
            </a:extLst>
          </p:cNvPr>
          <p:cNvSpPr txBox="1"/>
          <p:nvPr/>
        </p:nvSpPr>
        <p:spPr>
          <a:xfrm>
            <a:off x="5603387" y="939820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-5</a:t>
            </a:r>
            <a:endParaRPr lang="en-AU" sz="3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A6CB71-4069-2BAA-7333-7FCB1E13C1F6}"/>
              </a:ext>
            </a:extLst>
          </p:cNvPr>
          <p:cNvSpPr txBox="1"/>
          <p:nvPr/>
        </p:nvSpPr>
        <p:spPr>
          <a:xfrm>
            <a:off x="6745687" y="939079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-4</a:t>
            </a:r>
            <a:endParaRPr lang="en-AU" sz="3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44E2B9-AE12-8D23-2008-D7320D142F20}"/>
              </a:ext>
            </a:extLst>
          </p:cNvPr>
          <p:cNvSpPr txBox="1"/>
          <p:nvPr/>
        </p:nvSpPr>
        <p:spPr>
          <a:xfrm>
            <a:off x="7884458" y="957237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-3</a:t>
            </a:r>
            <a:endParaRPr lang="en-AU" sz="3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4B492C-E7C8-60F1-E31C-CDF4C368BF7F}"/>
              </a:ext>
            </a:extLst>
          </p:cNvPr>
          <p:cNvSpPr txBox="1"/>
          <p:nvPr/>
        </p:nvSpPr>
        <p:spPr>
          <a:xfrm>
            <a:off x="9023229" y="953202"/>
            <a:ext cx="5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-2</a:t>
            </a:r>
            <a:endParaRPr lang="en-AU" sz="3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C17B05-5F50-3B8B-5F27-F20F09F1C963}"/>
              </a:ext>
            </a:extLst>
          </p:cNvPr>
          <p:cNvSpPr txBox="1"/>
          <p:nvPr/>
        </p:nvSpPr>
        <p:spPr>
          <a:xfrm>
            <a:off x="10155066" y="970619"/>
            <a:ext cx="553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/>
              <a:t>-1</a:t>
            </a:r>
            <a:endParaRPr lang="en-AU" sz="3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63F9C-00DD-B394-364F-77C3A55C673B}"/>
              </a:ext>
            </a:extLst>
          </p:cNvPr>
          <p:cNvSpPr txBox="1"/>
          <p:nvPr/>
        </p:nvSpPr>
        <p:spPr>
          <a:xfrm>
            <a:off x="4137426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A7FADC-1511-4F97-ADC4-34673D7DA465}"/>
              </a:ext>
            </a:extLst>
          </p:cNvPr>
          <p:cNvSpPr txBox="1"/>
          <p:nvPr/>
        </p:nvSpPr>
        <p:spPr>
          <a:xfrm>
            <a:off x="5301727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3284A0-66C1-CF2E-1D82-815B7744BB5D}"/>
              </a:ext>
            </a:extLst>
          </p:cNvPr>
          <p:cNvSpPr txBox="1"/>
          <p:nvPr/>
        </p:nvSpPr>
        <p:spPr>
          <a:xfrm>
            <a:off x="6481191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425DB3-7EDD-80BB-E7E8-3A7105873358}"/>
              </a:ext>
            </a:extLst>
          </p:cNvPr>
          <p:cNvSpPr txBox="1"/>
          <p:nvPr/>
        </p:nvSpPr>
        <p:spPr>
          <a:xfrm>
            <a:off x="7629575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817749-0380-595C-64B9-6063E01A3E08}"/>
              </a:ext>
            </a:extLst>
          </p:cNvPr>
          <p:cNvSpPr txBox="1"/>
          <p:nvPr/>
        </p:nvSpPr>
        <p:spPr>
          <a:xfrm>
            <a:off x="8786930" y="3422891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320939-18F8-C16B-6C34-7944BCB944D6}"/>
              </a:ext>
            </a:extLst>
          </p:cNvPr>
          <p:cNvSpPr txBox="1"/>
          <p:nvPr/>
        </p:nvSpPr>
        <p:spPr>
          <a:xfrm>
            <a:off x="9885978" y="3411762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18B0412-D8AB-8C54-CDA3-2EB9F257D339}"/>
              </a:ext>
            </a:extLst>
          </p:cNvPr>
          <p:cNvSpPr/>
          <p:nvPr/>
        </p:nvSpPr>
        <p:spPr>
          <a:xfrm>
            <a:off x="4315856" y="1014339"/>
            <a:ext cx="6465746" cy="524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7FDFA4-235A-21E7-2EAC-E0A8F5AFF57B}"/>
              </a:ext>
            </a:extLst>
          </p:cNvPr>
          <p:cNvSpPr txBox="1"/>
          <p:nvPr/>
        </p:nvSpPr>
        <p:spPr>
          <a:xfrm>
            <a:off x="104504" y="2828835"/>
            <a:ext cx="2881460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are the </a:t>
            </a:r>
            <a:r>
              <a:rPr lang="en-CA" b="1" dirty="0"/>
              <a:t>negative</a:t>
            </a:r>
            <a:r>
              <a:rPr lang="en-CA" dirty="0"/>
              <a:t> </a:t>
            </a:r>
            <a:r>
              <a:rPr lang="en-CA" b="1" dirty="0"/>
              <a:t>indices</a:t>
            </a:r>
            <a:r>
              <a:rPr lang="en-CA" dirty="0"/>
              <a:t>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. The right-most character is always -1, then it goes down by 1 each character.</a:t>
            </a:r>
            <a:endParaRPr lang="en-AU" dirty="0"/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E46A219-3B2E-FC95-24A0-649DF338ED62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2978728" y="1276367"/>
            <a:ext cx="1337128" cy="15661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8D6383C-B26D-0F92-3DC7-4E11A344090A}"/>
              </a:ext>
            </a:extLst>
          </p:cNvPr>
          <p:cNvSpPr txBox="1"/>
          <p:nvPr/>
        </p:nvSpPr>
        <p:spPr>
          <a:xfrm>
            <a:off x="4047734" y="3964390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s[-6]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5B0FBC-F57C-6B09-F09B-BA82AA6B33A0}"/>
              </a:ext>
            </a:extLst>
          </p:cNvPr>
          <p:cNvSpPr txBox="1"/>
          <p:nvPr/>
        </p:nvSpPr>
        <p:spPr>
          <a:xfrm>
            <a:off x="5212035" y="396438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s[-5]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E94EE3-934B-52B5-2DF7-1FC0BF84C7D1}"/>
              </a:ext>
            </a:extLst>
          </p:cNvPr>
          <p:cNvSpPr txBox="1"/>
          <p:nvPr/>
        </p:nvSpPr>
        <p:spPr>
          <a:xfrm>
            <a:off x="6391499" y="3964389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s[-4]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3296E6C-3EA0-4AF7-7C78-E4EFA7C16684}"/>
              </a:ext>
            </a:extLst>
          </p:cNvPr>
          <p:cNvSpPr txBox="1"/>
          <p:nvPr/>
        </p:nvSpPr>
        <p:spPr>
          <a:xfrm>
            <a:off x="7539883" y="3964391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s[-3]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F39CAC-B7AD-D94A-DBA2-AEFF07B7BE0F}"/>
              </a:ext>
            </a:extLst>
          </p:cNvPr>
          <p:cNvSpPr txBox="1"/>
          <p:nvPr/>
        </p:nvSpPr>
        <p:spPr>
          <a:xfrm>
            <a:off x="8795823" y="3975520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s[2]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24AE974-ABA9-DD8D-6A0A-FB275C6ED76F}"/>
              </a:ext>
            </a:extLst>
          </p:cNvPr>
          <p:cNvSpPr txBox="1"/>
          <p:nvPr/>
        </p:nvSpPr>
        <p:spPr>
          <a:xfrm>
            <a:off x="9796286" y="3964391"/>
            <a:ext cx="11705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solidFill>
                  <a:srgbClr val="FF0000"/>
                </a:solidFill>
                <a:latin typeface="Consolas" panose="020B0609020204030204" pitchFamily="49" charset="0"/>
              </a:rPr>
              <a:t>s[-1]</a:t>
            </a:r>
            <a:endParaRPr lang="en-AU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6A302B-EB07-D3F0-81A9-7FA161A1EAF6}"/>
              </a:ext>
            </a:extLst>
          </p:cNvPr>
          <p:cNvSpPr txBox="1"/>
          <p:nvPr/>
        </p:nvSpPr>
        <p:spPr>
          <a:xfrm>
            <a:off x="763220" y="5463811"/>
            <a:ext cx="4705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 err="1">
                <a:solidFill>
                  <a:srgbClr val="FF0000"/>
                </a:solidFill>
                <a:latin typeface="Consolas" panose="020B0609020204030204" pitchFamily="49" charset="0"/>
              </a:rPr>
              <a:t>len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(s) - 1</a:t>
            </a:r>
            <a:r>
              <a:rPr lang="en-CA" sz="3200" dirty="0">
                <a:latin typeface="Consolas" panose="020B0609020204030204" pitchFamily="49" charset="0"/>
              </a:rPr>
              <a:t>])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0C64AB-878B-AC73-9BA3-D0F4BBCDB2C4}"/>
              </a:ext>
            </a:extLst>
          </p:cNvPr>
          <p:cNvSpPr txBox="1"/>
          <p:nvPr/>
        </p:nvSpPr>
        <p:spPr>
          <a:xfrm>
            <a:off x="7993144" y="5463811"/>
            <a:ext cx="2896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  <a:r>
              <a:rPr lang="en-CA" sz="3200" dirty="0">
                <a:latin typeface="Consolas" panose="020B0609020204030204" pitchFamily="49" charset="0"/>
              </a:rPr>
              <a:t>])</a:t>
            </a:r>
          </a:p>
        </p:txBody>
      </p:sp>
      <p:sp>
        <p:nvSpPr>
          <p:cNvPr id="26" name="Arrow: Left-Right 25">
            <a:extLst>
              <a:ext uri="{FF2B5EF4-FFF2-40B4-BE49-F238E27FC236}">
                <a16:creationId xmlns:a16="http://schemas.microsoft.com/office/drawing/2014/main" id="{70CABC86-9CFC-ACA2-C28C-BA20C9562EB6}"/>
              </a:ext>
            </a:extLst>
          </p:cNvPr>
          <p:cNvSpPr/>
          <p:nvPr/>
        </p:nvSpPr>
        <p:spPr>
          <a:xfrm>
            <a:off x="6102437" y="5494588"/>
            <a:ext cx="1256623" cy="52322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5781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38AF-3912-ACFE-35C5-CD69D7C8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2FBB0-484C-78C0-24D6-992F76A42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Slices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49B1B-AD5A-CE7C-8311-BEE504A4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79C901-96C6-9F74-6544-5CC5C594147A}"/>
              </a:ext>
            </a:extLst>
          </p:cNvPr>
          <p:cNvSpPr txBox="1"/>
          <p:nvPr/>
        </p:nvSpPr>
        <p:spPr>
          <a:xfrm>
            <a:off x="254402" y="1077273"/>
            <a:ext cx="25192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slice of a string </a:t>
            </a:r>
            <a:r>
              <a:rPr lang="en-CA" dirty="0"/>
              <a:t>is a subsequence of consecutive characters in a string.</a:t>
            </a:r>
            <a:endParaRPr lang="en-AU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906730F-5ADC-DCAF-443E-E45452D1C9AC}"/>
              </a:ext>
            </a:extLst>
          </p:cNvPr>
          <p:cNvGrpSpPr/>
          <p:nvPr/>
        </p:nvGrpSpPr>
        <p:grpSpPr>
          <a:xfrm>
            <a:off x="3868941" y="1979880"/>
            <a:ext cx="914033" cy="1752122"/>
            <a:chOff x="5225143" y="1529556"/>
            <a:chExt cx="914033" cy="17521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EF35A68-06D5-925F-75D1-82DC322679F1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F5FAE3E-CE1F-2CEF-74A3-4BAA1DFA8CD0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CF7D1F-F48F-D92E-96E2-B0F87D404B9B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97CE70-78D7-D57A-2DD6-EDDA371594B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8072E6-1867-0920-782C-08527FAF9BDF}"/>
              </a:ext>
            </a:extLst>
          </p:cNvPr>
          <p:cNvGrpSpPr/>
          <p:nvPr/>
        </p:nvGrpSpPr>
        <p:grpSpPr>
          <a:xfrm>
            <a:off x="5005409" y="1979880"/>
            <a:ext cx="914033" cy="1752122"/>
            <a:chOff x="5225143" y="1529556"/>
            <a:chExt cx="914033" cy="17521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3C4F69-B3F4-EB0A-869C-62C5A5867E05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00CF8A-931A-F3D6-BAEE-EBB871E26EE1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CA121F-B786-DABB-D7F4-9790222AF1E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5700301-2FAB-5AEF-D4EB-99A06731CF7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ED4362-6C89-8915-5F15-481FA4D17BB4}"/>
              </a:ext>
            </a:extLst>
          </p:cNvPr>
          <p:cNvGrpSpPr/>
          <p:nvPr/>
        </p:nvGrpSpPr>
        <p:grpSpPr>
          <a:xfrm>
            <a:off x="6147709" y="1979880"/>
            <a:ext cx="914033" cy="1752122"/>
            <a:chOff x="5225143" y="1529556"/>
            <a:chExt cx="914033" cy="17521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3E0BD78-FE3F-818A-7166-7070D5F2CD6C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7E2C43B-04C8-86BA-1C3B-5554C241FB0D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F87C6B0-BA56-036B-A634-E7F1A4E86C0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0822B3A-8F4F-DFFA-896A-D6F2D8054FF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B157789-F3DE-8310-165B-51E8C5D94933}"/>
              </a:ext>
            </a:extLst>
          </p:cNvPr>
          <p:cNvGrpSpPr/>
          <p:nvPr/>
        </p:nvGrpSpPr>
        <p:grpSpPr>
          <a:xfrm>
            <a:off x="7286480" y="1979880"/>
            <a:ext cx="914033" cy="1752122"/>
            <a:chOff x="5225143" y="1529556"/>
            <a:chExt cx="914033" cy="175212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76FEEC6-1E8E-39AB-F3F2-654DD2DE1056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A182CEF-37C9-6248-58D7-D8A664095A92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ED08002-41CB-A1B1-0EF3-6FE1FA86A5A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8DDA066-CCF7-7BCC-D553-D819396E03B0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30C6FA-4367-E03F-0140-2ECD9721B0E5}"/>
              </a:ext>
            </a:extLst>
          </p:cNvPr>
          <p:cNvGrpSpPr/>
          <p:nvPr/>
        </p:nvGrpSpPr>
        <p:grpSpPr>
          <a:xfrm>
            <a:off x="8425251" y="1979880"/>
            <a:ext cx="914033" cy="1752122"/>
            <a:chOff x="5225143" y="1529556"/>
            <a:chExt cx="914033" cy="17521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2459ED4-98D0-7290-2511-4E0B0BD257DB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192D228-4E2F-36C7-9A91-298DE5AADEB0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338945A-3D96-0292-E571-E084DEC8C9A8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6BA2A9F-6957-FF56-55A8-146358398C4C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2151435-BA6D-ACB6-E2FC-49BCB608F580}"/>
              </a:ext>
            </a:extLst>
          </p:cNvPr>
          <p:cNvGrpSpPr/>
          <p:nvPr/>
        </p:nvGrpSpPr>
        <p:grpSpPr>
          <a:xfrm>
            <a:off x="9539744" y="1979880"/>
            <a:ext cx="914033" cy="1752122"/>
            <a:chOff x="5225143" y="1529556"/>
            <a:chExt cx="914033" cy="175212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7AF4875-56DD-0E66-7377-B11176014A84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DB7D3C2-9D4A-9C9A-8C8A-5DF443644D44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1685B17-215D-C0E7-1A47-4A4C6F2A8E58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8D818A-B74B-4C5C-643B-404C4EBFC1A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D0589F1-B645-DD10-F01D-66D1C2ACB481}"/>
              </a:ext>
            </a:extLst>
          </p:cNvPr>
          <p:cNvSpPr txBox="1"/>
          <p:nvPr/>
        </p:nvSpPr>
        <p:spPr>
          <a:xfrm>
            <a:off x="2889635" y="2578942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63289A-1B52-74A4-71CD-96FC9013BA37}"/>
              </a:ext>
            </a:extLst>
          </p:cNvPr>
          <p:cNvSpPr txBox="1"/>
          <p:nvPr/>
        </p:nvSpPr>
        <p:spPr>
          <a:xfrm>
            <a:off x="3702153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8D7850-7A47-0A97-9312-BAC78F2F8737}"/>
              </a:ext>
            </a:extLst>
          </p:cNvPr>
          <p:cNvSpPr txBox="1"/>
          <p:nvPr/>
        </p:nvSpPr>
        <p:spPr>
          <a:xfrm>
            <a:off x="4866454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665FA2-69B0-3D51-2EF6-79A13FB71396}"/>
              </a:ext>
            </a:extLst>
          </p:cNvPr>
          <p:cNvSpPr txBox="1"/>
          <p:nvPr/>
        </p:nvSpPr>
        <p:spPr>
          <a:xfrm>
            <a:off x="6045918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71B3A4-2E1D-88CB-E6D5-CB20E991F965}"/>
              </a:ext>
            </a:extLst>
          </p:cNvPr>
          <p:cNvSpPr txBox="1"/>
          <p:nvPr/>
        </p:nvSpPr>
        <p:spPr>
          <a:xfrm>
            <a:off x="7194302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F99580-5A9C-C145-F9DE-0A6F2EB3A4CD}"/>
              </a:ext>
            </a:extLst>
          </p:cNvPr>
          <p:cNvSpPr txBox="1"/>
          <p:nvPr/>
        </p:nvSpPr>
        <p:spPr>
          <a:xfrm>
            <a:off x="8351657" y="373929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63522CD-8CE0-FAA5-B5FB-127EB7EED401}"/>
              </a:ext>
            </a:extLst>
          </p:cNvPr>
          <p:cNvSpPr txBox="1"/>
          <p:nvPr/>
        </p:nvSpPr>
        <p:spPr>
          <a:xfrm>
            <a:off x="9450705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89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617D8-4274-89EB-8B41-7AD2DE9B6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FED1-DDBF-3BB6-E53B-24604D1B2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Slices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93526-A2E2-301E-2196-5FE49CF0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06982-F9C9-5859-FC10-0CF29D843EAC}"/>
              </a:ext>
            </a:extLst>
          </p:cNvPr>
          <p:cNvSpPr txBox="1"/>
          <p:nvPr/>
        </p:nvSpPr>
        <p:spPr>
          <a:xfrm>
            <a:off x="254402" y="1077273"/>
            <a:ext cx="25192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slice of a string </a:t>
            </a:r>
            <a:r>
              <a:rPr lang="en-CA" dirty="0"/>
              <a:t>is a subsequence of consecutive characters in a string.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27FEAA-D507-BCA7-94DA-2F8EC2C6E267}"/>
              </a:ext>
            </a:extLst>
          </p:cNvPr>
          <p:cNvSpPr txBox="1"/>
          <p:nvPr/>
        </p:nvSpPr>
        <p:spPr>
          <a:xfrm>
            <a:off x="3057402" y="1077273"/>
            <a:ext cx="51623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the string with the characters:</a:t>
            </a:r>
            <a:br>
              <a:rPr lang="en-CA" dirty="0"/>
            </a:br>
            <a:r>
              <a:rPr lang="en-CA" dirty="0"/>
              <a:t>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s[start+1]</a:t>
            </a:r>
            <a:r>
              <a:rPr lang="en-CA" dirty="0"/>
              <a:t>, …, </a:t>
            </a:r>
            <a:r>
              <a:rPr lang="en-CA" dirty="0">
                <a:latin typeface="Consolas" panose="020B0609020204030204" pitchFamily="49" charset="0"/>
              </a:rPr>
              <a:t>s[end-2]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s[end-1]</a:t>
            </a:r>
            <a:endParaRPr lang="en-AU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B46660C-2F6C-6619-C755-C2756F8C9CC9}"/>
              </a:ext>
            </a:extLst>
          </p:cNvPr>
          <p:cNvGrpSpPr/>
          <p:nvPr/>
        </p:nvGrpSpPr>
        <p:grpSpPr>
          <a:xfrm>
            <a:off x="3868941" y="1979880"/>
            <a:ext cx="914033" cy="1752122"/>
            <a:chOff x="5225143" y="1529556"/>
            <a:chExt cx="914033" cy="17521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107D740-EA3D-0129-C0FC-6494FA7D9234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9847F6-B8EA-4F18-1A4B-072D2DC945C1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864216-799B-A542-45B7-A0F16CD8B2B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2267C75-0EAA-70FD-A3D2-A80BC44CFF9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54AAE69-7610-1E1B-87FD-9625843EAD8F}"/>
              </a:ext>
            </a:extLst>
          </p:cNvPr>
          <p:cNvGrpSpPr/>
          <p:nvPr/>
        </p:nvGrpSpPr>
        <p:grpSpPr>
          <a:xfrm>
            <a:off x="5005409" y="1979880"/>
            <a:ext cx="914033" cy="1752122"/>
            <a:chOff x="5225143" y="1529556"/>
            <a:chExt cx="914033" cy="17521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232CEB0-BD87-3521-BC48-E9B3646025C5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487407B-8A13-2D1A-6868-CAA604258E3B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7C30CE-CD3E-76A9-4927-46AB44060755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FC9BFB-E61B-8EFD-81FF-0E225D4C8BE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A73CBC8-64F7-7305-6DD3-7AEED22F83BD}"/>
              </a:ext>
            </a:extLst>
          </p:cNvPr>
          <p:cNvGrpSpPr/>
          <p:nvPr/>
        </p:nvGrpSpPr>
        <p:grpSpPr>
          <a:xfrm>
            <a:off x="6147709" y="1979880"/>
            <a:ext cx="914033" cy="1752122"/>
            <a:chOff x="5225143" y="1529556"/>
            <a:chExt cx="914033" cy="17521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4489CF9-B695-F9B3-3125-64F2624A6778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C2AEB3D-353F-EF84-184F-40C542FE433D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C5D0CB-1ADB-4BF8-FA6C-6C8F5253F32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EF90021-62C1-96B3-A469-7CF21AF5F114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C9B0D7A-D12E-B7C2-1B54-414698B04DF9}"/>
              </a:ext>
            </a:extLst>
          </p:cNvPr>
          <p:cNvGrpSpPr/>
          <p:nvPr/>
        </p:nvGrpSpPr>
        <p:grpSpPr>
          <a:xfrm>
            <a:off x="7286480" y="1979880"/>
            <a:ext cx="914033" cy="1752122"/>
            <a:chOff x="5225143" y="1529556"/>
            <a:chExt cx="914033" cy="175212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9CBD01F-7CC6-C9D6-C1C5-7DC4BA24176D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4D7EC8-7B1D-8405-EEBB-EF7095C5F394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830EB1C-3F76-3F56-3939-706DC834164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CD5395-37BD-BD2B-9750-434DF094A2E7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FF1EA46-A028-E06C-8FD1-3DEABC60D5DD}"/>
              </a:ext>
            </a:extLst>
          </p:cNvPr>
          <p:cNvGrpSpPr/>
          <p:nvPr/>
        </p:nvGrpSpPr>
        <p:grpSpPr>
          <a:xfrm>
            <a:off x="8425251" y="1979880"/>
            <a:ext cx="914033" cy="1752122"/>
            <a:chOff x="5225143" y="1529556"/>
            <a:chExt cx="914033" cy="17521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F7371EB7-99D3-9AF9-FCEE-6F45ABA3DE0F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5490DAB-4D82-C341-39EF-25C33C0187F1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71603C0-689B-B6EA-0984-E5BA808A2BE0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DFE1F13-FDBC-DD67-8047-C13CB0FD920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257F70-6DAD-7093-2EB4-287A4EC1EA11}"/>
              </a:ext>
            </a:extLst>
          </p:cNvPr>
          <p:cNvGrpSpPr/>
          <p:nvPr/>
        </p:nvGrpSpPr>
        <p:grpSpPr>
          <a:xfrm>
            <a:off x="9539744" y="1979880"/>
            <a:ext cx="914033" cy="1752122"/>
            <a:chOff x="5225143" y="1529556"/>
            <a:chExt cx="914033" cy="175212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035D736-2117-D41F-3AD6-B4764F08EEA3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264CDF1-A264-EC01-3970-25559C3CEBFE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8F73896-CA03-FA28-4AFD-BE9B41EC90B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2FC1F46-922A-65F2-234D-76C379DF1A33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1721BD7-5C15-DA3A-618E-2784DD7C3B69}"/>
              </a:ext>
            </a:extLst>
          </p:cNvPr>
          <p:cNvSpPr txBox="1"/>
          <p:nvPr/>
        </p:nvSpPr>
        <p:spPr>
          <a:xfrm>
            <a:off x="2889635" y="2578942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8D4222-2884-3B66-F51F-E1DEA184301A}"/>
              </a:ext>
            </a:extLst>
          </p:cNvPr>
          <p:cNvSpPr txBox="1"/>
          <p:nvPr/>
        </p:nvSpPr>
        <p:spPr>
          <a:xfrm>
            <a:off x="3702153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F051EA-4BD9-6493-21E9-ED9F07D042A6}"/>
              </a:ext>
            </a:extLst>
          </p:cNvPr>
          <p:cNvSpPr txBox="1"/>
          <p:nvPr/>
        </p:nvSpPr>
        <p:spPr>
          <a:xfrm>
            <a:off x="4866454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C169E4-7C5B-3B2A-755D-E35F552B4BD6}"/>
              </a:ext>
            </a:extLst>
          </p:cNvPr>
          <p:cNvSpPr txBox="1"/>
          <p:nvPr/>
        </p:nvSpPr>
        <p:spPr>
          <a:xfrm>
            <a:off x="6045918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F20D9B-DEB0-4463-D51F-220513FAF37B}"/>
              </a:ext>
            </a:extLst>
          </p:cNvPr>
          <p:cNvSpPr txBox="1"/>
          <p:nvPr/>
        </p:nvSpPr>
        <p:spPr>
          <a:xfrm>
            <a:off x="7194302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C4477B-8037-3C29-5449-E3DAC086C243}"/>
              </a:ext>
            </a:extLst>
          </p:cNvPr>
          <p:cNvSpPr txBox="1"/>
          <p:nvPr/>
        </p:nvSpPr>
        <p:spPr>
          <a:xfrm>
            <a:off x="8351657" y="373929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3B72FD-CCA4-A0D4-0177-F4FC88228AC3}"/>
              </a:ext>
            </a:extLst>
          </p:cNvPr>
          <p:cNvSpPr txBox="1"/>
          <p:nvPr/>
        </p:nvSpPr>
        <p:spPr>
          <a:xfrm>
            <a:off x="9450705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3680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8D286-A432-9B5C-56C4-C21E642DB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F32A-F6BE-ADFA-EB1E-6C5E2FC91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Slices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37556-1A3C-95CD-ECC8-543AD8F5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0ADE05-2E82-7E39-80BE-EC36FDDC3EF9}"/>
              </a:ext>
            </a:extLst>
          </p:cNvPr>
          <p:cNvSpPr txBox="1"/>
          <p:nvPr/>
        </p:nvSpPr>
        <p:spPr>
          <a:xfrm>
            <a:off x="254402" y="1077273"/>
            <a:ext cx="25192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slice of a string </a:t>
            </a:r>
            <a:r>
              <a:rPr lang="en-CA" dirty="0"/>
              <a:t>is a subsequence of consecutive characters in a string.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50073-66EF-D757-8EBD-B2AFBAF34D22}"/>
              </a:ext>
            </a:extLst>
          </p:cNvPr>
          <p:cNvSpPr txBox="1"/>
          <p:nvPr/>
        </p:nvSpPr>
        <p:spPr>
          <a:xfrm>
            <a:off x="3057402" y="1077273"/>
            <a:ext cx="51623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the string with the characters:</a:t>
            </a:r>
            <a:br>
              <a:rPr lang="en-CA" dirty="0"/>
            </a:br>
            <a:r>
              <a:rPr lang="en-CA" dirty="0"/>
              <a:t>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s[start+1]</a:t>
            </a:r>
            <a:r>
              <a:rPr lang="en-CA" dirty="0"/>
              <a:t>, …, </a:t>
            </a:r>
            <a:r>
              <a:rPr lang="en-CA" dirty="0">
                <a:latin typeface="Consolas" panose="020B0609020204030204" pitchFamily="49" charset="0"/>
              </a:rPr>
              <a:t>s[end-2]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s[end-1]</a:t>
            </a:r>
            <a:endParaRPr lang="en-AU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57959F3-DF80-40B9-CBA7-7FA6C1768699}"/>
              </a:ext>
            </a:extLst>
          </p:cNvPr>
          <p:cNvGrpSpPr/>
          <p:nvPr/>
        </p:nvGrpSpPr>
        <p:grpSpPr>
          <a:xfrm>
            <a:off x="3868941" y="1979880"/>
            <a:ext cx="914033" cy="1752122"/>
            <a:chOff x="5225143" y="1529556"/>
            <a:chExt cx="914033" cy="17521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CC2C0A6-7502-DEC4-4E8D-3665B9B5A4E0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792DC9-8C4C-A42C-9335-6464E152ACE2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8E27803-4728-E48D-12C5-88B50798833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70ED5C-82D4-DED6-185F-AE020B3A4A6A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68D4A97-E8B4-87AF-CDA8-B939DDB0E57A}"/>
              </a:ext>
            </a:extLst>
          </p:cNvPr>
          <p:cNvGrpSpPr/>
          <p:nvPr/>
        </p:nvGrpSpPr>
        <p:grpSpPr>
          <a:xfrm>
            <a:off x="5005409" y="1979880"/>
            <a:ext cx="914033" cy="1752122"/>
            <a:chOff x="5225143" y="1529556"/>
            <a:chExt cx="914033" cy="17521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EC4F233-6F0E-5ED9-0B33-1504272BD49C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7A1307-D61D-9E5B-1D85-1A958283A957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64B396-F871-169E-C147-4F27353920B5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F11976-777C-9D72-07C9-E24940F446E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A0AEE0B-79B9-5E93-3F68-275A33FC846A}"/>
              </a:ext>
            </a:extLst>
          </p:cNvPr>
          <p:cNvGrpSpPr/>
          <p:nvPr/>
        </p:nvGrpSpPr>
        <p:grpSpPr>
          <a:xfrm>
            <a:off x="6147709" y="1979880"/>
            <a:ext cx="914033" cy="1752122"/>
            <a:chOff x="5225143" y="1529556"/>
            <a:chExt cx="914033" cy="17521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1116797-D4A8-6D9E-E0EC-0195E55A3BCB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08BEEF5-44D4-5583-D915-10A3D45B6835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1309E1E-FA7D-A5BC-966A-58EBE9BA988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0AFBFEF-1668-F9FE-DB89-75DEED0476CD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C175731-0C18-5FD3-50F4-4376626E7B69}"/>
              </a:ext>
            </a:extLst>
          </p:cNvPr>
          <p:cNvGrpSpPr/>
          <p:nvPr/>
        </p:nvGrpSpPr>
        <p:grpSpPr>
          <a:xfrm>
            <a:off x="7286480" y="1979880"/>
            <a:ext cx="914033" cy="1752122"/>
            <a:chOff x="5225143" y="1529556"/>
            <a:chExt cx="914033" cy="175212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B45A64D-458D-D8B4-5658-0C1529713F29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CA9297-D4BC-6B2E-3FCC-BCD274380654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1B27F3E-8AA9-ABC4-5BC4-3C52EF74D1A4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27F6920-342A-3DE0-26DE-659945B3B66C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0D8015-53FF-130B-68D5-945ED8D748F3}"/>
              </a:ext>
            </a:extLst>
          </p:cNvPr>
          <p:cNvGrpSpPr/>
          <p:nvPr/>
        </p:nvGrpSpPr>
        <p:grpSpPr>
          <a:xfrm>
            <a:off x="8425251" y="1979880"/>
            <a:ext cx="914033" cy="1752122"/>
            <a:chOff x="5225143" y="1529556"/>
            <a:chExt cx="914033" cy="17521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BCEC140-59FC-D5FA-CF22-A106E3417D7B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9E79D8A-9849-3196-477B-EFF8603F359F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F1B498B-DACF-0184-88C7-7DD5B8ECE743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6E5F28B-B923-3F38-6B87-33FF602AE697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799175-2DB3-73B5-7A2D-52E5778EFB4C}"/>
              </a:ext>
            </a:extLst>
          </p:cNvPr>
          <p:cNvGrpSpPr/>
          <p:nvPr/>
        </p:nvGrpSpPr>
        <p:grpSpPr>
          <a:xfrm>
            <a:off x="9539744" y="1979880"/>
            <a:ext cx="914033" cy="1752122"/>
            <a:chOff x="5225143" y="1529556"/>
            <a:chExt cx="914033" cy="175212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A5DA8F0-2DCB-6BF5-E79F-8904195FFF7B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3DC99DE-C578-18FB-4900-C555E52CECD8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FEF48AE-CD85-0608-4E19-3B9C2784C364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A0D03F5-CE28-36B3-89CE-025A2E8A656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EF6D680-D48F-49D8-C51B-99736D63021F}"/>
              </a:ext>
            </a:extLst>
          </p:cNvPr>
          <p:cNvSpPr txBox="1"/>
          <p:nvPr/>
        </p:nvSpPr>
        <p:spPr>
          <a:xfrm>
            <a:off x="2889635" y="2578942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8B3269E-CF77-C9C4-E7EF-8CE2B48442F3}"/>
              </a:ext>
            </a:extLst>
          </p:cNvPr>
          <p:cNvSpPr txBox="1"/>
          <p:nvPr/>
        </p:nvSpPr>
        <p:spPr>
          <a:xfrm>
            <a:off x="3702153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A0D6A5-DFE6-58F9-75CE-18EF73609127}"/>
              </a:ext>
            </a:extLst>
          </p:cNvPr>
          <p:cNvSpPr txBox="1"/>
          <p:nvPr/>
        </p:nvSpPr>
        <p:spPr>
          <a:xfrm>
            <a:off x="4866454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C134E1-239A-B344-23AD-3FBEACE25441}"/>
              </a:ext>
            </a:extLst>
          </p:cNvPr>
          <p:cNvSpPr txBox="1"/>
          <p:nvPr/>
        </p:nvSpPr>
        <p:spPr>
          <a:xfrm>
            <a:off x="6045918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6B13E8-0C43-0CB3-0AE0-30AD4F22F453}"/>
              </a:ext>
            </a:extLst>
          </p:cNvPr>
          <p:cNvSpPr txBox="1"/>
          <p:nvPr/>
        </p:nvSpPr>
        <p:spPr>
          <a:xfrm>
            <a:off x="7194302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097982-905B-F125-380A-6F42A27EB14E}"/>
              </a:ext>
            </a:extLst>
          </p:cNvPr>
          <p:cNvSpPr txBox="1"/>
          <p:nvPr/>
        </p:nvSpPr>
        <p:spPr>
          <a:xfrm>
            <a:off x="8351657" y="373929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0D72C5-E855-0B42-73A5-F52CBDFCFEE1}"/>
              </a:ext>
            </a:extLst>
          </p:cNvPr>
          <p:cNvSpPr txBox="1"/>
          <p:nvPr/>
        </p:nvSpPr>
        <p:spPr>
          <a:xfrm>
            <a:off x="9450705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AE4227-836D-5D56-6E6F-B4662F02A277}"/>
              </a:ext>
            </a:extLst>
          </p:cNvPr>
          <p:cNvSpPr txBox="1"/>
          <p:nvPr/>
        </p:nvSpPr>
        <p:spPr>
          <a:xfrm>
            <a:off x="6505304" y="280608"/>
            <a:ext cx="552656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all the characters beginning from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 and then up to, but </a:t>
            </a:r>
            <a:r>
              <a:rPr lang="en-CA" b="1" dirty="0"/>
              <a:t>not</a:t>
            </a:r>
            <a:r>
              <a:rPr lang="en-CA" dirty="0"/>
              <a:t> including, </a:t>
            </a:r>
            <a:r>
              <a:rPr lang="en-CA" dirty="0">
                <a:latin typeface="Consolas" panose="020B0609020204030204" pitchFamily="49" charset="0"/>
              </a:rPr>
              <a:t>s[end]</a:t>
            </a:r>
            <a:endParaRPr lang="en-A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791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C21B9-44C1-0C3B-28C6-37001918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3D2A5-8188-9AA6-405C-6CA8B734C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Slices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3833F3-42F4-C741-737E-F0B840F0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78592-A885-54A1-FAC0-601B88CD42E6}"/>
              </a:ext>
            </a:extLst>
          </p:cNvPr>
          <p:cNvSpPr txBox="1"/>
          <p:nvPr/>
        </p:nvSpPr>
        <p:spPr>
          <a:xfrm>
            <a:off x="254402" y="1077273"/>
            <a:ext cx="25192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slice of a string </a:t>
            </a:r>
            <a:r>
              <a:rPr lang="en-CA" dirty="0"/>
              <a:t>is a subsequence of consecutive characters in a string.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F130FE-403E-7B12-7D4A-64C1E55295D0}"/>
              </a:ext>
            </a:extLst>
          </p:cNvPr>
          <p:cNvSpPr txBox="1"/>
          <p:nvPr/>
        </p:nvSpPr>
        <p:spPr>
          <a:xfrm>
            <a:off x="3057402" y="1077273"/>
            <a:ext cx="51623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the string with the characters:</a:t>
            </a:r>
            <a:br>
              <a:rPr lang="en-CA" dirty="0"/>
            </a:br>
            <a:r>
              <a:rPr lang="en-CA" dirty="0"/>
              <a:t>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s[start+1]</a:t>
            </a:r>
            <a:r>
              <a:rPr lang="en-CA" dirty="0"/>
              <a:t>, …, </a:t>
            </a:r>
            <a:r>
              <a:rPr lang="en-CA" dirty="0">
                <a:latin typeface="Consolas" panose="020B0609020204030204" pitchFamily="49" charset="0"/>
              </a:rPr>
              <a:t>s[end-2]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s[end-1]</a:t>
            </a:r>
            <a:endParaRPr lang="en-AU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58861C7-2C10-5145-8397-6817EE027FDF}"/>
              </a:ext>
            </a:extLst>
          </p:cNvPr>
          <p:cNvGrpSpPr/>
          <p:nvPr/>
        </p:nvGrpSpPr>
        <p:grpSpPr>
          <a:xfrm>
            <a:off x="3868941" y="1979880"/>
            <a:ext cx="914033" cy="1752122"/>
            <a:chOff x="5225143" y="1529556"/>
            <a:chExt cx="914033" cy="17521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6346CCA-AA49-B54B-7758-1484EFB8C0D9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49FE99-E0CF-94C8-9513-79AC69372260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FCAD6EE-CA6E-A052-A783-37F0EDF13EE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3E70B57-517E-B7C9-1EC8-BC64605C042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E62A58C-F7A8-0CEF-18C7-6A3186CF4BD2}"/>
              </a:ext>
            </a:extLst>
          </p:cNvPr>
          <p:cNvGrpSpPr/>
          <p:nvPr/>
        </p:nvGrpSpPr>
        <p:grpSpPr>
          <a:xfrm>
            <a:off x="5005409" y="1979880"/>
            <a:ext cx="914033" cy="1752122"/>
            <a:chOff x="5225143" y="1529556"/>
            <a:chExt cx="914033" cy="17521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22FFFC3-7D6E-30DC-44D0-27DA923AD025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73B62E-419F-C55B-E212-29E494717E5D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645D91-0BA7-E621-C327-75EAB29CC71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AD401A0-F6C2-7695-A6F7-FB22F4D3F15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8DAD7D3-DEB2-C0BF-D3D1-C915EB512AB5}"/>
              </a:ext>
            </a:extLst>
          </p:cNvPr>
          <p:cNvGrpSpPr/>
          <p:nvPr/>
        </p:nvGrpSpPr>
        <p:grpSpPr>
          <a:xfrm>
            <a:off x="6147709" y="1979880"/>
            <a:ext cx="914033" cy="1752122"/>
            <a:chOff x="5225143" y="1529556"/>
            <a:chExt cx="914033" cy="17521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4BAEE59-3369-5FBF-206D-25C76D451D51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C256854-D34A-B5BF-1154-73AA1BA336AF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136E92-2A88-1971-0B08-404A73DCA08F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151B750-521A-7250-1F88-F0DD3903B04A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D64557E-7DE2-9660-BD05-2D2AD6989330}"/>
              </a:ext>
            </a:extLst>
          </p:cNvPr>
          <p:cNvGrpSpPr/>
          <p:nvPr/>
        </p:nvGrpSpPr>
        <p:grpSpPr>
          <a:xfrm>
            <a:off x="7286480" y="1979880"/>
            <a:ext cx="914033" cy="1752122"/>
            <a:chOff x="5225143" y="1529556"/>
            <a:chExt cx="914033" cy="175212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AB85D70-14C6-234F-87BA-052F764AA712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79555E-1645-4FBB-0C16-6484570E7CA9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D57F3B8-47F5-111C-A0FF-625B02B4B45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4E59540-6221-41C1-3DBB-824A25D738B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6DC00F4-10E6-3214-F549-2EA2076F71F9}"/>
              </a:ext>
            </a:extLst>
          </p:cNvPr>
          <p:cNvGrpSpPr/>
          <p:nvPr/>
        </p:nvGrpSpPr>
        <p:grpSpPr>
          <a:xfrm>
            <a:off x="8425251" y="1979880"/>
            <a:ext cx="914033" cy="1752122"/>
            <a:chOff x="5225143" y="1529556"/>
            <a:chExt cx="914033" cy="17521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8E0C565-4F18-942E-891E-B91EF047C59B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79AD23-8926-9B10-EEBB-2D10BBD3EAC4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EC6B5D-22DA-661E-6725-2DC180F1591C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281D4B7-7756-3379-505E-2B9F447B1071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E523144-FD4B-9627-0905-9A9D7AF0EBEF}"/>
              </a:ext>
            </a:extLst>
          </p:cNvPr>
          <p:cNvGrpSpPr/>
          <p:nvPr/>
        </p:nvGrpSpPr>
        <p:grpSpPr>
          <a:xfrm>
            <a:off x="9539744" y="1979880"/>
            <a:ext cx="914033" cy="1752122"/>
            <a:chOff x="5225143" y="1529556"/>
            <a:chExt cx="914033" cy="175212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3767C76-5617-D38D-DD8C-C6CC6AA4C3E9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3914D7A-634D-8074-4E10-ECD2E0C2BB7E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8AB1D16-E59F-0873-9E1A-7182D395372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34DC6DA-1ECE-8D7E-0D4C-BF3F826DF84A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4D6DC6A-8E0B-B160-72A4-FA1310B3F99B}"/>
              </a:ext>
            </a:extLst>
          </p:cNvPr>
          <p:cNvSpPr txBox="1"/>
          <p:nvPr/>
        </p:nvSpPr>
        <p:spPr>
          <a:xfrm>
            <a:off x="2889635" y="2578942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DCF742D-63F5-3B00-CFCA-BA7EEAFB96F9}"/>
              </a:ext>
            </a:extLst>
          </p:cNvPr>
          <p:cNvSpPr txBox="1"/>
          <p:nvPr/>
        </p:nvSpPr>
        <p:spPr>
          <a:xfrm>
            <a:off x="3702153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6E8391-F8CB-1CB1-A4FC-44817D742ACF}"/>
              </a:ext>
            </a:extLst>
          </p:cNvPr>
          <p:cNvSpPr txBox="1"/>
          <p:nvPr/>
        </p:nvSpPr>
        <p:spPr>
          <a:xfrm>
            <a:off x="4866454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C900B0B-F6EA-9C8A-FE38-01645223936E}"/>
              </a:ext>
            </a:extLst>
          </p:cNvPr>
          <p:cNvSpPr txBox="1"/>
          <p:nvPr/>
        </p:nvSpPr>
        <p:spPr>
          <a:xfrm>
            <a:off x="6045918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B17F2A-A6AC-5722-6986-63A45907B43B}"/>
              </a:ext>
            </a:extLst>
          </p:cNvPr>
          <p:cNvSpPr txBox="1"/>
          <p:nvPr/>
        </p:nvSpPr>
        <p:spPr>
          <a:xfrm>
            <a:off x="7194302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08F5E66-2E63-2C43-ACA8-E2242B999B0C}"/>
              </a:ext>
            </a:extLst>
          </p:cNvPr>
          <p:cNvSpPr txBox="1"/>
          <p:nvPr/>
        </p:nvSpPr>
        <p:spPr>
          <a:xfrm>
            <a:off x="8351657" y="373929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6B83107-060E-8BD4-08CB-C81CCD677FA5}"/>
              </a:ext>
            </a:extLst>
          </p:cNvPr>
          <p:cNvSpPr txBox="1"/>
          <p:nvPr/>
        </p:nvSpPr>
        <p:spPr>
          <a:xfrm>
            <a:off x="9450705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D7BE21-F623-74DF-1D12-085992358EE5}"/>
              </a:ext>
            </a:extLst>
          </p:cNvPr>
          <p:cNvSpPr txBox="1"/>
          <p:nvPr/>
        </p:nvSpPr>
        <p:spPr>
          <a:xfrm>
            <a:off x="94904" y="4548470"/>
            <a:ext cx="357501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1:4</a:t>
            </a:r>
            <a:r>
              <a:rPr lang="en-CA" sz="3200" dirty="0">
                <a:latin typeface="Consolas" panose="020B0609020204030204" pitchFamily="49" charset="0"/>
              </a:rPr>
              <a:t>]) #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4:6</a:t>
            </a:r>
            <a:r>
              <a:rPr lang="en-CA" sz="3200" dirty="0">
                <a:latin typeface="Consolas" panose="020B0609020204030204" pitchFamily="49" charset="0"/>
              </a:rPr>
              <a:t>]) #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0:5</a:t>
            </a:r>
            <a:r>
              <a:rPr lang="en-CA" sz="3200" dirty="0">
                <a:latin typeface="Consolas" panose="020B0609020204030204" pitchFamily="49" charset="0"/>
              </a:rPr>
              <a:t>]) #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0:6</a:t>
            </a:r>
            <a:r>
              <a:rPr lang="en-CA" sz="3200" dirty="0">
                <a:latin typeface="Consolas" panose="020B0609020204030204" pitchFamily="49" charset="0"/>
              </a:rPr>
              <a:t>]) #</a:t>
            </a:r>
            <a:endParaRPr lang="en-AU" sz="3200" dirty="0"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7663F1-4F57-9AA7-D216-23FFB01B6668}"/>
              </a:ext>
            </a:extLst>
          </p:cNvPr>
          <p:cNvSpPr txBox="1"/>
          <p:nvPr/>
        </p:nvSpPr>
        <p:spPr>
          <a:xfrm>
            <a:off x="5581290" y="4552052"/>
            <a:ext cx="38010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3:3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3:4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3D474D8-9E9C-2638-2348-CE73BA077DD3}"/>
              </a:ext>
            </a:extLst>
          </p:cNvPr>
          <p:cNvSpPr txBox="1"/>
          <p:nvPr/>
        </p:nvSpPr>
        <p:spPr>
          <a:xfrm>
            <a:off x="6505304" y="280608"/>
            <a:ext cx="552656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all the characters beginning from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 and then up to, but </a:t>
            </a:r>
            <a:r>
              <a:rPr lang="en-CA" b="1" dirty="0"/>
              <a:t>not</a:t>
            </a:r>
            <a:r>
              <a:rPr lang="en-CA" dirty="0"/>
              <a:t> including, </a:t>
            </a:r>
            <a:r>
              <a:rPr lang="en-CA" dirty="0">
                <a:latin typeface="Consolas" panose="020B0609020204030204" pitchFamily="49" charset="0"/>
              </a:rPr>
              <a:t>s[end]</a:t>
            </a:r>
            <a:endParaRPr lang="en-A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946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5DA36-537A-5D13-62BC-0339B5F6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619B-5226-4C4F-6551-B3EE5DDD6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Slices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DFD0F-1CFF-6464-9626-36F84BA7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1A40D-904A-2740-ECE6-E95626A2C2B3}"/>
              </a:ext>
            </a:extLst>
          </p:cNvPr>
          <p:cNvSpPr txBox="1"/>
          <p:nvPr/>
        </p:nvSpPr>
        <p:spPr>
          <a:xfrm>
            <a:off x="254402" y="1077273"/>
            <a:ext cx="25192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slice of a string </a:t>
            </a:r>
            <a:r>
              <a:rPr lang="en-CA" dirty="0"/>
              <a:t>is a subsequence of consecutive characters in a string.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BB2339-8395-119F-AB05-7688FF2D17DE}"/>
              </a:ext>
            </a:extLst>
          </p:cNvPr>
          <p:cNvSpPr txBox="1"/>
          <p:nvPr/>
        </p:nvSpPr>
        <p:spPr>
          <a:xfrm>
            <a:off x="3057402" y="1077273"/>
            <a:ext cx="51623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the string with the characters:</a:t>
            </a:r>
            <a:br>
              <a:rPr lang="en-CA" dirty="0"/>
            </a:br>
            <a:r>
              <a:rPr lang="en-CA" dirty="0"/>
              <a:t>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s[start+1]</a:t>
            </a:r>
            <a:r>
              <a:rPr lang="en-CA" dirty="0"/>
              <a:t>, …, </a:t>
            </a:r>
            <a:r>
              <a:rPr lang="en-CA" dirty="0">
                <a:latin typeface="Consolas" panose="020B0609020204030204" pitchFamily="49" charset="0"/>
              </a:rPr>
              <a:t>s[end-2]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s[end-1]</a:t>
            </a:r>
            <a:endParaRPr lang="en-AU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6D57705-0401-9E78-C9AF-E5E651912D6F}"/>
              </a:ext>
            </a:extLst>
          </p:cNvPr>
          <p:cNvGrpSpPr/>
          <p:nvPr/>
        </p:nvGrpSpPr>
        <p:grpSpPr>
          <a:xfrm>
            <a:off x="3868941" y="1979880"/>
            <a:ext cx="914033" cy="1752122"/>
            <a:chOff x="5225143" y="1529556"/>
            <a:chExt cx="914033" cy="17521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C0B3A8E-FDD0-C0E5-1CE2-CF5BFE734BDD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973A819-1625-E452-0CAD-2A6B2522C868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1FFAF4-4D07-8F77-35C2-412A5478FDA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C716E5-0AD5-C79D-81F5-3BCEC4F7F30E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D07C54F-3615-7683-8F4F-644595382903}"/>
              </a:ext>
            </a:extLst>
          </p:cNvPr>
          <p:cNvGrpSpPr/>
          <p:nvPr/>
        </p:nvGrpSpPr>
        <p:grpSpPr>
          <a:xfrm>
            <a:off x="5005409" y="1979880"/>
            <a:ext cx="914033" cy="1752122"/>
            <a:chOff x="5225143" y="1529556"/>
            <a:chExt cx="914033" cy="17521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8DFE3EA-ECBD-79A6-87D0-41613776B97E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021CEFC-D8B8-3053-B7A9-9BE303DB798B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0FF5684-1CE1-B1A8-7EB0-9D121BBFC67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6CE5E5-FE81-4ADA-36EA-D431F626F00A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2B038FF-7A3E-E44B-749E-87883AB0A86E}"/>
              </a:ext>
            </a:extLst>
          </p:cNvPr>
          <p:cNvGrpSpPr/>
          <p:nvPr/>
        </p:nvGrpSpPr>
        <p:grpSpPr>
          <a:xfrm>
            <a:off x="6147709" y="1979880"/>
            <a:ext cx="914033" cy="1752122"/>
            <a:chOff x="5225143" y="1529556"/>
            <a:chExt cx="914033" cy="17521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D68C5211-0469-F2F8-9F8F-A38098870338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E893358-4DD4-6197-80E7-52F7AECFB1B7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DCDA09-7FCC-2E27-6932-D117AEA1F6D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7645CDE-6282-C7CE-3B3F-9BBA298B2377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C5BEEC3-4572-F6D4-35CD-FD6B26070941}"/>
              </a:ext>
            </a:extLst>
          </p:cNvPr>
          <p:cNvGrpSpPr/>
          <p:nvPr/>
        </p:nvGrpSpPr>
        <p:grpSpPr>
          <a:xfrm>
            <a:off x="7286480" y="1979880"/>
            <a:ext cx="914033" cy="1752122"/>
            <a:chOff x="5225143" y="1529556"/>
            <a:chExt cx="914033" cy="175212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83B3C3C-7A2B-F838-1CEA-B0CE96E2E879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453860D-F91E-C33F-9DD7-B026541FC1DC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93E2DC1-BEDF-400D-E1A8-C2F7C1ED67F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0F3C739-4BF6-A42F-43D7-F34163E2508A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A20E819-BB31-4045-A9BA-0991F9F3B424}"/>
              </a:ext>
            </a:extLst>
          </p:cNvPr>
          <p:cNvGrpSpPr/>
          <p:nvPr/>
        </p:nvGrpSpPr>
        <p:grpSpPr>
          <a:xfrm>
            <a:off x="8425251" y="1979880"/>
            <a:ext cx="914033" cy="1752122"/>
            <a:chOff x="5225143" y="1529556"/>
            <a:chExt cx="914033" cy="17521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B3BF47E-B8ED-CC46-9869-E63B07A511AE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57B23A4-1B4C-D529-3F28-229062D0121C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9FC5F53-02E7-DD15-58DD-EE723011647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99F8A07-D6A7-D676-5B41-63E3A4AFC052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CB5D6E4-6DCF-A153-3D06-04AA261B37DF}"/>
              </a:ext>
            </a:extLst>
          </p:cNvPr>
          <p:cNvGrpSpPr/>
          <p:nvPr/>
        </p:nvGrpSpPr>
        <p:grpSpPr>
          <a:xfrm>
            <a:off x="9539744" y="1979880"/>
            <a:ext cx="914033" cy="1752122"/>
            <a:chOff x="5225143" y="1529556"/>
            <a:chExt cx="914033" cy="175212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0C14A86-FBC4-FDE2-6EF7-9596CD305E31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4E986F0-5692-3900-36D3-1E52360ED8ED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D53D88F-3324-E966-9FE8-5AED5C25752A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08B966D-C13C-CEAC-2B57-A630E267AA59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5266308-45E9-5598-49CB-B26C5D1ABE1C}"/>
              </a:ext>
            </a:extLst>
          </p:cNvPr>
          <p:cNvSpPr txBox="1"/>
          <p:nvPr/>
        </p:nvSpPr>
        <p:spPr>
          <a:xfrm>
            <a:off x="2889635" y="2578942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3259D0-8165-94A2-AB36-A9F8A61052FC}"/>
              </a:ext>
            </a:extLst>
          </p:cNvPr>
          <p:cNvSpPr txBox="1"/>
          <p:nvPr/>
        </p:nvSpPr>
        <p:spPr>
          <a:xfrm>
            <a:off x="3702153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E9269B-5C2D-8765-9058-1C2070E6A146}"/>
              </a:ext>
            </a:extLst>
          </p:cNvPr>
          <p:cNvSpPr txBox="1"/>
          <p:nvPr/>
        </p:nvSpPr>
        <p:spPr>
          <a:xfrm>
            <a:off x="4866454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BB6285-51E6-9260-9856-91EB604C8E1F}"/>
              </a:ext>
            </a:extLst>
          </p:cNvPr>
          <p:cNvSpPr txBox="1"/>
          <p:nvPr/>
        </p:nvSpPr>
        <p:spPr>
          <a:xfrm>
            <a:off x="6045918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E93745D-2C64-0A85-1598-E3FF3B49F3F0}"/>
              </a:ext>
            </a:extLst>
          </p:cNvPr>
          <p:cNvSpPr txBox="1"/>
          <p:nvPr/>
        </p:nvSpPr>
        <p:spPr>
          <a:xfrm>
            <a:off x="7194302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D76535-EA27-6091-43F0-200B628A2EB3}"/>
              </a:ext>
            </a:extLst>
          </p:cNvPr>
          <p:cNvSpPr txBox="1"/>
          <p:nvPr/>
        </p:nvSpPr>
        <p:spPr>
          <a:xfrm>
            <a:off x="8351657" y="373929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0A9F7E6-2A1F-7A5D-9635-CEC9ADF2914A}"/>
              </a:ext>
            </a:extLst>
          </p:cNvPr>
          <p:cNvSpPr txBox="1"/>
          <p:nvPr/>
        </p:nvSpPr>
        <p:spPr>
          <a:xfrm>
            <a:off x="9450705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CFACBCD-0023-CE1E-EAEA-B642152EE5EF}"/>
              </a:ext>
            </a:extLst>
          </p:cNvPr>
          <p:cNvSpPr txBox="1"/>
          <p:nvPr/>
        </p:nvSpPr>
        <p:spPr>
          <a:xfrm>
            <a:off x="94904" y="4548470"/>
            <a:ext cx="515718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1:4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ape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4:6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r!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0:5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Paper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0:6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Paper!</a:t>
            </a:r>
            <a:endParaRPr lang="en-AU" sz="3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0C622D-730B-93B1-6650-BE3089D36678}"/>
              </a:ext>
            </a:extLst>
          </p:cNvPr>
          <p:cNvSpPr txBox="1"/>
          <p:nvPr/>
        </p:nvSpPr>
        <p:spPr>
          <a:xfrm>
            <a:off x="5581290" y="4552052"/>
            <a:ext cx="673934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3:3</a:t>
            </a:r>
            <a:r>
              <a:rPr lang="en-CA" sz="3200" dirty="0">
                <a:latin typeface="Consolas" panose="020B0609020204030204" pitchFamily="49" charset="0"/>
              </a:rPr>
              <a:t>]) # empty string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3:4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CBDC8C-B765-DC87-0E71-04F90FD087BE}"/>
              </a:ext>
            </a:extLst>
          </p:cNvPr>
          <p:cNvSpPr txBox="1"/>
          <p:nvPr/>
        </p:nvSpPr>
        <p:spPr>
          <a:xfrm>
            <a:off x="7092018" y="5798145"/>
            <a:ext cx="25192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Notice that slice </a:t>
            </a:r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has length </a:t>
            </a:r>
            <a:r>
              <a:rPr lang="en-CA" dirty="0">
                <a:latin typeface="Consolas" panose="020B0609020204030204" pitchFamily="49" charset="0"/>
              </a:rPr>
              <a:t>end – start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353AF-082F-FD62-DF3F-189F38520C90}"/>
              </a:ext>
            </a:extLst>
          </p:cNvPr>
          <p:cNvSpPr txBox="1"/>
          <p:nvPr/>
        </p:nvSpPr>
        <p:spPr>
          <a:xfrm>
            <a:off x="6505304" y="280608"/>
            <a:ext cx="552656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all the characters beginning from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 and then up to, but </a:t>
            </a:r>
            <a:r>
              <a:rPr lang="en-CA" b="1" dirty="0"/>
              <a:t>not</a:t>
            </a:r>
            <a:r>
              <a:rPr lang="en-CA" dirty="0"/>
              <a:t> including, </a:t>
            </a:r>
            <a:r>
              <a:rPr lang="en-CA" dirty="0">
                <a:latin typeface="Consolas" panose="020B0609020204030204" pitchFamily="49" charset="0"/>
              </a:rPr>
              <a:t>s[end]</a:t>
            </a:r>
            <a:endParaRPr lang="en-A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4867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BA71B-8C51-F7D9-8161-B5522293E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2247-1F3A-8FBA-89BA-116863994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Slices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B1470-8F46-CEA6-35E1-6A625A32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C47EA-265B-DE4D-887C-377F665EBB7A}"/>
              </a:ext>
            </a:extLst>
          </p:cNvPr>
          <p:cNvSpPr txBox="1"/>
          <p:nvPr/>
        </p:nvSpPr>
        <p:spPr>
          <a:xfrm>
            <a:off x="254402" y="1077273"/>
            <a:ext cx="25192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slice of a string </a:t>
            </a:r>
            <a:r>
              <a:rPr lang="en-CA" dirty="0"/>
              <a:t>is a subsequence of consecutive characters in a string.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7EEE5-CFEE-DD15-53E5-8ED8B113923F}"/>
              </a:ext>
            </a:extLst>
          </p:cNvPr>
          <p:cNvSpPr txBox="1"/>
          <p:nvPr/>
        </p:nvSpPr>
        <p:spPr>
          <a:xfrm>
            <a:off x="3057402" y="1077273"/>
            <a:ext cx="51623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the string with the characters:</a:t>
            </a:r>
            <a:br>
              <a:rPr lang="en-CA" dirty="0"/>
            </a:br>
            <a:r>
              <a:rPr lang="en-CA" dirty="0"/>
              <a:t>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s[start+1]</a:t>
            </a:r>
            <a:r>
              <a:rPr lang="en-CA" dirty="0"/>
              <a:t>, …, </a:t>
            </a:r>
            <a:r>
              <a:rPr lang="en-CA" dirty="0">
                <a:latin typeface="Consolas" panose="020B0609020204030204" pitchFamily="49" charset="0"/>
              </a:rPr>
              <a:t>s[end-2]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s[end-1]</a:t>
            </a:r>
            <a:endParaRPr lang="en-AU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DB460A3-002C-D410-DD64-6674AD8C0BAE}"/>
              </a:ext>
            </a:extLst>
          </p:cNvPr>
          <p:cNvGrpSpPr/>
          <p:nvPr/>
        </p:nvGrpSpPr>
        <p:grpSpPr>
          <a:xfrm>
            <a:off x="3868941" y="1979880"/>
            <a:ext cx="914033" cy="1752122"/>
            <a:chOff x="5225143" y="1529556"/>
            <a:chExt cx="914033" cy="17521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5497498-656B-E42D-CADD-EBE13B9DB17A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EE665D-656E-97A0-5A55-5AD57BDF8BE9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8788BF2-37A5-92C4-504E-5A08CBDF873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AC77354-AC30-ED23-B11F-904E243CDF51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B03146-0C21-8E89-8723-FFAAB20F79FC}"/>
              </a:ext>
            </a:extLst>
          </p:cNvPr>
          <p:cNvGrpSpPr/>
          <p:nvPr/>
        </p:nvGrpSpPr>
        <p:grpSpPr>
          <a:xfrm>
            <a:off x="5005409" y="1979880"/>
            <a:ext cx="914033" cy="1752122"/>
            <a:chOff x="5225143" y="1529556"/>
            <a:chExt cx="914033" cy="17521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8294FA1-5729-5D58-9D24-0E2C1B60FDC5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1F33A47-CB6E-E614-64FA-F1B119030387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2AC3AAB-102D-8034-8E82-C2CF70EC70E6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1B39C70-FB2F-CA48-D4AC-CA52A02F149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971BFF-30DE-61CF-4B81-9DC0FD27C91A}"/>
              </a:ext>
            </a:extLst>
          </p:cNvPr>
          <p:cNvGrpSpPr/>
          <p:nvPr/>
        </p:nvGrpSpPr>
        <p:grpSpPr>
          <a:xfrm>
            <a:off x="6147709" y="1979880"/>
            <a:ext cx="914033" cy="1752122"/>
            <a:chOff x="5225143" y="1529556"/>
            <a:chExt cx="914033" cy="17521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27DEFA1-937C-44BB-4C4F-15F706675182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80F2E4B-75A9-830D-DDDD-22D063B7E26C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84AE65F-BF16-554A-085E-1EA76DD283FD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2C6854C-FB84-1AB9-DB06-15AB4BD9CBC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C262A1-515F-3F37-2087-822791AB4B05}"/>
              </a:ext>
            </a:extLst>
          </p:cNvPr>
          <p:cNvGrpSpPr/>
          <p:nvPr/>
        </p:nvGrpSpPr>
        <p:grpSpPr>
          <a:xfrm>
            <a:off x="7286480" y="1979880"/>
            <a:ext cx="914033" cy="1752122"/>
            <a:chOff x="5225143" y="1529556"/>
            <a:chExt cx="914033" cy="175212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BC5CE71-8078-0AB7-8CAB-CB3D4A562334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C40F155-3971-ADF1-D34E-79437BCCC8C8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B25ACB1-CF16-8767-3019-755036A1F5B5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D64529E-D517-E918-82DF-D896E068F975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0F10A07-0602-472B-6648-DC60A3FA87C2}"/>
              </a:ext>
            </a:extLst>
          </p:cNvPr>
          <p:cNvGrpSpPr/>
          <p:nvPr/>
        </p:nvGrpSpPr>
        <p:grpSpPr>
          <a:xfrm>
            <a:off x="8425251" y="1979880"/>
            <a:ext cx="914033" cy="1752122"/>
            <a:chOff x="5225143" y="1529556"/>
            <a:chExt cx="914033" cy="17521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EA2E844-7413-4378-BEBD-A14B01821E07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66C7380-AF9C-D8B9-AE55-D868457110D2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5FDDAC7-947B-E1B4-28FF-10C5C9FA1C7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4FC24C5-462C-F38F-FE06-43F7220A67C6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3857B9E-A6FC-3AAD-5CB6-2783688B2CC7}"/>
              </a:ext>
            </a:extLst>
          </p:cNvPr>
          <p:cNvGrpSpPr/>
          <p:nvPr/>
        </p:nvGrpSpPr>
        <p:grpSpPr>
          <a:xfrm>
            <a:off x="9539744" y="1979880"/>
            <a:ext cx="914033" cy="1752122"/>
            <a:chOff x="5225143" y="1529556"/>
            <a:chExt cx="914033" cy="175212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489AB6B-7E36-4727-E912-0B882C9D691E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C0BD4B4-A432-7FC6-CB7F-44B9DF189135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DC9D68F-0463-80E8-B6BC-6C1AEAFF3118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8D00DB7-8265-76B4-6DBD-728709592391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9337795-73E0-E543-7E99-65AD766D5872}"/>
              </a:ext>
            </a:extLst>
          </p:cNvPr>
          <p:cNvSpPr txBox="1"/>
          <p:nvPr/>
        </p:nvSpPr>
        <p:spPr>
          <a:xfrm>
            <a:off x="2889635" y="2578942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6C4F30-4664-B839-D19F-54E29C86B0F1}"/>
              </a:ext>
            </a:extLst>
          </p:cNvPr>
          <p:cNvSpPr txBox="1"/>
          <p:nvPr/>
        </p:nvSpPr>
        <p:spPr>
          <a:xfrm>
            <a:off x="3702153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FF6832-0EC4-423B-3141-4AE8D5F798F6}"/>
              </a:ext>
            </a:extLst>
          </p:cNvPr>
          <p:cNvSpPr txBox="1"/>
          <p:nvPr/>
        </p:nvSpPr>
        <p:spPr>
          <a:xfrm>
            <a:off x="4866454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C372EE5-DE83-E815-C7EB-2CFC1D9AC4D3}"/>
              </a:ext>
            </a:extLst>
          </p:cNvPr>
          <p:cNvSpPr txBox="1"/>
          <p:nvPr/>
        </p:nvSpPr>
        <p:spPr>
          <a:xfrm>
            <a:off x="6045918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619C74-EE1C-5716-F90B-2163A6EC153A}"/>
              </a:ext>
            </a:extLst>
          </p:cNvPr>
          <p:cNvSpPr txBox="1"/>
          <p:nvPr/>
        </p:nvSpPr>
        <p:spPr>
          <a:xfrm>
            <a:off x="7194302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96971F7-8DE3-00C2-B79A-6D4D300B1EF9}"/>
              </a:ext>
            </a:extLst>
          </p:cNvPr>
          <p:cNvSpPr txBox="1"/>
          <p:nvPr/>
        </p:nvSpPr>
        <p:spPr>
          <a:xfrm>
            <a:off x="8351657" y="373929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B9BAE6-3A67-12B3-CF9D-CBD697778EFA}"/>
              </a:ext>
            </a:extLst>
          </p:cNvPr>
          <p:cNvSpPr txBox="1"/>
          <p:nvPr/>
        </p:nvSpPr>
        <p:spPr>
          <a:xfrm>
            <a:off x="9450705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923BA6-9D89-E636-836E-4745007D6B0C}"/>
              </a:ext>
            </a:extLst>
          </p:cNvPr>
          <p:cNvSpPr txBox="1"/>
          <p:nvPr/>
        </p:nvSpPr>
        <p:spPr>
          <a:xfrm>
            <a:off x="2076142" y="4597507"/>
            <a:ext cx="33489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1:</a:t>
            </a:r>
            <a:r>
              <a:rPr lang="en-CA" sz="3200" dirty="0">
                <a:latin typeface="Consolas" panose="020B0609020204030204" pitchFamily="49" charset="0"/>
              </a:rPr>
              <a:t>]) #</a:t>
            </a:r>
            <a:endParaRPr lang="en-CA" sz="3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:5</a:t>
            </a:r>
            <a:r>
              <a:rPr lang="en-CA" sz="3200" dirty="0">
                <a:latin typeface="Consolas" panose="020B0609020204030204" pitchFamily="49" charset="0"/>
              </a:rPr>
              <a:t>]) #</a:t>
            </a:r>
            <a:endParaRPr lang="en-CA" sz="32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CA" sz="3200" dirty="0">
                <a:latin typeface="Consolas" panose="020B0609020204030204" pitchFamily="49" charset="0"/>
              </a:rPr>
              <a:t>])  #</a:t>
            </a:r>
            <a:endParaRPr lang="en-CA" sz="32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5A1BB6D-12A4-5F57-ECEF-621707DC60D6}"/>
              </a:ext>
            </a:extLst>
          </p:cNvPr>
          <p:cNvSpPr txBox="1"/>
          <p:nvPr/>
        </p:nvSpPr>
        <p:spPr>
          <a:xfrm>
            <a:off x="6505304" y="280608"/>
            <a:ext cx="552656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all the characters beginning from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 and then up to, but </a:t>
            </a:r>
            <a:r>
              <a:rPr lang="en-CA" b="1" dirty="0"/>
              <a:t>not</a:t>
            </a:r>
            <a:r>
              <a:rPr lang="en-CA" dirty="0"/>
              <a:t> including, </a:t>
            </a:r>
            <a:r>
              <a:rPr lang="en-CA" dirty="0">
                <a:latin typeface="Consolas" panose="020B0609020204030204" pitchFamily="49" charset="0"/>
              </a:rPr>
              <a:t>s[end]</a:t>
            </a:r>
            <a:endParaRPr lang="en-A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99460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8C5F5-7233-670A-7FB0-0EC48F1AF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0D01-7E7E-7FDE-9EE2-7CE63CC66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Slices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D3EA03-BA18-8AAD-560C-B451159F0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7AA00D-DAB7-0813-E5B4-A3FA3808FA55}"/>
              </a:ext>
            </a:extLst>
          </p:cNvPr>
          <p:cNvSpPr txBox="1"/>
          <p:nvPr/>
        </p:nvSpPr>
        <p:spPr>
          <a:xfrm>
            <a:off x="254402" y="1077273"/>
            <a:ext cx="25192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slice of a string </a:t>
            </a:r>
            <a:r>
              <a:rPr lang="en-CA" dirty="0"/>
              <a:t>is a subsequence of consecutive characters in a string.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6BA4D-B3C9-172F-7601-690A789A586F}"/>
              </a:ext>
            </a:extLst>
          </p:cNvPr>
          <p:cNvSpPr txBox="1"/>
          <p:nvPr/>
        </p:nvSpPr>
        <p:spPr>
          <a:xfrm>
            <a:off x="3057402" y="1077273"/>
            <a:ext cx="5162329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the string with the characters:</a:t>
            </a:r>
            <a:br>
              <a:rPr lang="en-CA" dirty="0"/>
            </a:br>
            <a:r>
              <a:rPr lang="en-CA" dirty="0"/>
              <a:t>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s[start+1]</a:t>
            </a:r>
            <a:r>
              <a:rPr lang="en-CA" dirty="0"/>
              <a:t>, …, </a:t>
            </a:r>
            <a:r>
              <a:rPr lang="en-CA" dirty="0">
                <a:latin typeface="Consolas" panose="020B0609020204030204" pitchFamily="49" charset="0"/>
              </a:rPr>
              <a:t>s[end-2]</a:t>
            </a:r>
            <a:r>
              <a:rPr lang="en-CA" dirty="0"/>
              <a:t>, </a:t>
            </a:r>
            <a:r>
              <a:rPr lang="en-CA" dirty="0">
                <a:latin typeface="Consolas" panose="020B0609020204030204" pitchFamily="49" charset="0"/>
              </a:rPr>
              <a:t>s[end-1]</a:t>
            </a:r>
            <a:endParaRPr lang="en-AU" dirty="0">
              <a:latin typeface="Consolas" panose="020B0609020204030204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E354FA-155A-B721-8035-C254169F6873}"/>
              </a:ext>
            </a:extLst>
          </p:cNvPr>
          <p:cNvGrpSpPr/>
          <p:nvPr/>
        </p:nvGrpSpPr>
        <p:grpSpPr>
          <a:xfrm>
            <a:off x="3868941" y="1979880"/>
            <a:ext cx="914033" cy="1752122"/>
            <a:chOff x="5225143" y="1529556"/>
            <a:chExt cx="914033" cy="175212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B16D90E-CBD2-3A44-94E5-0377F3D22792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59BEAF2-AB8F-097E-C38E-97DF37489D92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503AC1-634C-5416-3637-BC9548B8E42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0</a:t>
                </a:r>
                <a:endParaRPr lang="en-AU" sz="3600" dirty="0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B49B47-78A0-2282-E529-BCEEAFDA179B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D5C91A-FF81-B48C-5074-7F1EB2F577CE}"/>
              </a:ext>
            </a:extLst>
          </p:cNvPr>
          <p:cNvGrpSpPr/>
          <p:nvPr/>
        </p:nvGrpSpPr>
        <p:grpSpPr>
          <a:xfrm>
            <a:off x="5005409" y="1979880"/>
            <a:ext cx="914033" cy="1752122"/>
            <a:chOff x="5225143" y="1529556"/>
            <a:chExt cx="914033" cy="175212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6D866C8-9DDB-9D46-A7F6-7BC3A6D599D3}"/>
                </a:ext>
              </a:extLst>
            </p:cNvPr>
            <p:cNvGrpSpPr/>
            <p:nvPr/>
          </p:nvGrpSpPr>
          <p:grpSpPr>
            <a:xfrm>
              <a:off x="5344567" y="1529556"/>
              <a:ext cx="675185" cy="1752122"/>
              <a:chOff x="5344567" y="1529556"/>
              <a:chExt cx="675185" cy="1752122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85C2A93-B51B-A58D-A854-34AB6E737555}"/>
                  </a:ext>
                </a:extLst>
              </p:cNvPr>
              <p:cNvSpPr txBox="1"/>
              <p:nvPr/>
            </p:nvSpPr>
            <p:spPr>
              <a:xfrm>
                <a:off x="5344567" y="2081349"/>
                <a:ext cx="67518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a</a:t>
                </a:r>
                <a:endParaRPr lang="en-AU" sz="7200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AF19E2-236E-AC91-846F-3C8D9412D962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1</a:t>
                </a:r>
                <a:endParaRPr lang="en-AU" sz="3600" dirty="0"/>
              </a:p>
            </p:txBody>
          </p:sp>
        </p:grp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143A36-D7CE-95D6-872E-E8BCE831FB91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AA6A1CF-06CD-60FB-2750-4EF872497C1A}"/>
              </a:ext>
            </a:extLst>
          </p:cNvPr>
          <p:cNvGrpSpPr/>
          <p:nvPr/>
        </p:nvGrpSpPr>
        <p:grpSpPr>
          <a:xfrm>
            <a:off x="6147709" y="1979880"/>
            <a:ext cx="914033" cy="1752122"/>
            <a:chOff x="5225143" y="1529556"/>
            <a:chExt cx="914033" cy="175212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3FD14AF-AA45-B621-3142-996F33C9C734}"/>
                </a:ext>
              </a:extLst>
            </p:cNvPr>
            <p:cNvGrpSpPr/>
            <p:nvPr/>
          </p:nvGrpSpPr>
          <p:grpSpPr>
            <a:xfrm>
              <a:off x="5323728" y="1529556"/>
              <a:ext cx="716864" cy="1752122"/>
              <a:chOff x="5323728" y="1529556"/>
              <a:chExt cx="716864" cy="1752122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4A02352-835E-6CF5-608D-FD2C6D7C4146}"/>
                  </a:ext>
                </a:extLst>
              </p:cNvPr>
              <p:cNvSpPr txBox="1"/>
              <p:nvPr/>
            </p:nvSpPr>
            <p:spPr>
              <a:xfrm>
                <a:off x="5323728" y="2081349"/>
                <a:ext cx="716864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p</a:t>
                </a:r>
                <a:endParaRPr lang="en-AU" sz="7200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71AB985-4FAA-7B71-40B7-3FC9B32E19A9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2</a:t>
                </a:r>
                <a:endParaRPr lang="en-AU" sz="3600" dirty="0"/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3AE288E-0E2F-44EC-D108-4E309C856E93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362A85B-C310-DBA2-034C-5246DF7E5B37}"/>
              </a:ext>
            </a:extLst>
          </p:cNvPr>
          <p:cNvGrpSpPr/>
          <p:nvPr/>
        </p:nvGrpSpPr>
        <p:grpSpPr>
          <a:xfrm>
            <a:off x="7286480" y="1979880"/>
            <a:ext cx="914033" cy="1752122"/>
            <a:chOff x="5225143" y="1529556"/>
            <a:chExt cx="914033" cy="175212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25DD6AC-0940-D80D-EC7F-521FC9DD11BA}"/>
                </a:ext>
              </a:extLst>
            </p:cNvPr>
            <p:cNvGrpSpPr/>
            <p:nvPr/>
          </p:nvGrpSpPr>
          <p:grpSpPr>
            <a:xfrm>
              <a:off x="5346972" y="1529556"/>
              <a:ext cx="670376" cy="1752122"/>
              <a:chOff x="5346972" y="1529556"/>
              <a:chExt cx="670376" cy="1752122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2421DA-9AE4-FD70-6053-0BB305D52D42}"/>
                  </a:ext>
                </a:extLst>
              </p:cNvPr>
              <p:cNvSpPr txBox="1"/>
              <p:nvPr/>
            </p:nvSpPr>
            <p:spPr>
              <a:xfrm>
                <a:off x="5346972" y="2081349"/>
                <a:ext cx="670376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e</a:t>
                </a:r>
                <a:endParaRPr lang="en-AU" sz="7200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65ABBFB-6EA1-D9A8-4B57-B7897C522F87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3</a:t>
                </a:r>
                <a:endParaRPr lang="en-AU" sz="36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8901B12-4415-1046-8D3D-DE4649AC5F1C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48B3C6-9AD4-5067-18CC-622E633EF511}"/>
              </a:ext>
            </a:extLst>
          </p:cNvPr>
          <p:cNvGrpSpPr/>
          <p:nvPr/>
        </p:nvGrpSpPr>
        <p:grpSpPr>
          <a:xfrm>
            <a:off x="8425251" y="1979880"/>
            <a:ext cx="914033" cy="1752122"/>
            <a:chOff x="5225143" y="1529556"/>
            <a:chExt cx="914033" cy="175212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DF6A6609-B1FB-C8C8-84BA-CC3E9D8A7EF0}"/>
                </a:ext>
              </a:extLst>
            </p:cNvPr>
            <p:cNvGrpSpPr/>
            <p:nvPr/>
          </p:nvGrpSpPr>
          <p:grpSpPr>
            <a:xfrm>
              <a:off x="5435137" y="1529556"/>
              <a:ext cx="494045" cy="1752122"/>
              <a:chOff x="5435137" y="1529556"/>
              <a:chExt cx="494045" cy="1752122"/>
            </a:xfrm>
          </p:grpSpPr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F02601F-B2ED-B383-5FD6-72F83358FCC5}"/>
                  </a:ext>
                </a:extLst>
              </p:cNvPr>
              <p:cNvSpPr txBox="1"/>
              <p:nvPr/>
            </p:nvSpPr>
            <p:spPr>
              <a:xfrm>
                <a:off x="5435137" y="2081349"/>
                <a:ext cx="494045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r</a:t>
                </a:r>
                <a:endParaRPr lang="en-AU" sz="72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1878816-D242-CBFE-CFB7-F6F62B05C781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4</a:t>
                </a:r>
                <a:endParaRPr lang="en-AU" sz="3600" dirty="0"/>
              </a:p>
            </p:txBody>
          </p: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6C4D251-6443-A300-5E04-45C47D49217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571D54A-257E-6ACC-0566-2AC2CA55B561}"/>
              </a:ext>
            </a:extLst>
          </p:cNvPr>
          <p:cNvGrpSpPr/>
          <p:nvPr/>
        </p:nvGrpSpPr>
        <p:grpSpPr>
          <a:xfrm>
            <a:off x="9539744" y="1979880"/>
            <a:ext cx="914033" cy="1752122"/>
            <a:chOff x="5225143" y="1529556"/>
            <a:chExt cx="914033" cy="175212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D036657-D970-BB87-E7C7-002141293F2E}"/>
                </a:ext>
              </a:extLst>
            </p:cNvPr>
            <p:cNvGrpSpPr/>
            <p:nvPr/>
          </p:nvGrpSpPr>
          <p:grpSpPr>
            <a:xfrm>
              <a:off x="5454373" y="1529556"/>
              <a:ext cx="455573" cy="1752122"/>
              <a:chOff x="5454373" y="1529556"/>
              <a:chExt cx="455573" cy="1752122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EE25FC9-B5D9-09FC-C338-FEE9902C72BF}"/>
                  </a:ext>
                </a:extLst>
              </p:cNvPr>
              <p:cNvSpPr txBox="1"/>
              <p:nvPr/>
            </p:nvSpPr>
            <p:spPr>
              <a:xfrm>
                <a:off x="5454373" y="2081349"/>
                <a:ext cx="455573" cy="1200329"/>
              </a:xfrm>
              <a:prstGeom prst="rect">
                <a:avLst/>
              </a:prstGeom>
              <a:noFill/>
              <a:ln w="3175">
                <a:noFill/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7200" dirty="0"/>
                  <a:t>!</a:t>
                </a:r>
                <a:endParaRPr lang="en-AU" sz="7200" dirty="0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C28B8A4-78E8-626B-3DCF-7FFCBAD8AE5E}"/>
                  </a:ext>
                </a:extLst>
              </p:cNvPr>
              <p:cNvSpPr txBox="1"/>
              <p:nvPr/>
            </p:nvSpPr>
            <p:spPr>
              <a:xfrm>
                <a:off x="5466395" y="1529556"/>
                <a:ext cx="43152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CA" sz="3600" dirty="0"/>
                  <a:t>5</a:t>
                </a:r>
                <a:endParaRPr lang="en-AU" sz="3600" dirty="0"/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4C0F226-9C39-6423-82CA-3E732D0DD72F}"/>
                </a:ext>
              </a:extLst>
            </p:cNvPr>
            <p:cNvSpPr/>
            <p:nvPr/>
          </p:nvSpPr>
          <p:spPr>
            <a:xfrm>
              <a:off x="5225143" y="2128618"/>
              <a:ext cx="914033" cy="107115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ED689BB-DB4F-E94A-0A5F-61B1A274BD3C}"/>
              </a:ext>
            </a:extLst>
          </p:cNvPr>
          <p:cNvSpPr txBox="1"/>
          <p:nvPr/>
        </p:nvSpPr>
        <p:spPr>
          <a:xfrm>
            <a:off x="2889635" y="2578942"/>
            <a:ext cx="5661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dirty="0">
                <a:latin typeface="Consolas" panose="020B0609020204030204" pitchFamily="49" charset="0"/>
              </a:rPr>
              <a:t>s</a:t>
            </a:r>
            <a:endParaRPr lang="en-AU" sz="5400" dirty="0"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D7DDD2-B764-A701-43CD-B282DF6CA5CE}"/>
              </a:ext>
            </a:extLst>
          </p:cNvPr>
          <p:cNvSpPr txBox="1"/>
          <p:nvPr/>
        </p:nvSpPr>
        <p:spPr>
          <a:xfrm>
            <a:off x="3702153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s[0]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3BCD48-C67C-7849-30EB-706E64F7EBD8}"/>
              </a:ext>
            </a:extLst>
          </p:cNvPr>
          <p:cNvSpPr txBox="1"/>
          <p:nvPr/>
        </p:nvSpPr>
        <p:spPr>
          <a:xfrm>
            <a:off x="4866454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s[1]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D5D1F2-D58E-88B6-060C-138E32DC6C75}"/>
              </a:ext>
            </a:extLst>
          </p:cNvPr>
          <p:cNvSpPr txBox="1"/>
          <p:nvPr/>
        </p:nvSpPr>
        <p:spPr>
          <a:xfrm>
            <a:off x="6045918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s[2]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ABBC70D-AB8F-E52C-757E-87D9CAFD8DF7}"/>
              </a:ext>
            </a:extLst>
          </p:cNvPr>
          <p:cNvSpPr txBox="1"/>
          <p:nvPr/>
        </p:nvSpPr>
        <p:spPr>
          <a:xfrm>
            <a:off x="7194302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s[3]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266A03-3B06-649B-DB8D-AA83F4F93EEC}"/>
              </a:ext>
            </a:extLst>
          </p:cNvPr>
          <p:cNvSpPr txBox="1"/>
          <p:nvPr/>
        </p:nvSpPr>
        <p:spPr>
          <a:xfrm>
            <a:off x="8351657" y="3739293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s[4]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5B31BB-ADCE-D8FC-EB6C-4AB8EF5F9B9E}"/>
              </a:ext>
            </a:extLst>
          </p:cNvPr>
          <p:cNvSpPr txBox="1"/>
          <p:nvPr/>
        </p:nvSpPr>
        <p:spPr>
          <a:xfrm>
            <a:off x="9450705" y="3728164"/>
            <a:ext cx="9733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>
                <a:latin typeface="Consolas" panose="020B0609020204030204" pitchFamily="49" charset="0"/>
              </a:rPr>
              <a:t>s[5]</a:t>
            </a:r>
            <a:endParaRPr lang="en-AU" sz="2800" dirty="0">
              <a:latin typeface="Consolas" panose="020B0609020204030204" pitchFamily="49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317ED1-DE2B-F319-D831-F63E5C219CA9}"/>
              </a:ext>
            </a:extLst>
          </p:cNvPr>
          <p:cNvSpPr txBox="1"/>
          <p:nvPr/>
        </p:nvSpPr>
        <p:spPr>
          <a:xfrm>
            <a:off x="2076142" y="4597507"/>
            <a:ext cx="49311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1: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aper!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:5</a:t>
            </a:r>
            <a:r>
              <a:rPr lang="en-CA" sz="3200" dirty="0">
                <a:latin typeface="Consolas" panose="020B0609020204030204" pitchFamily="49" charset="0"/>
              </a:rPr>
              <a:t>]) #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Paper</a:t>
            </a:r>
          </a:p>
          <a:p>
            <a:r>
              <a:rPr lang="en-CA" sz="3200" dirty="0">
                <a:latin typeface="Consolas" panose="020B0609020204030204" pitchFamily="49" charset="0"/>
              </a:rPr>
              <a:t>print(s[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:</a:t>
            </a:r>
            <a:r>
              <a:rPr lang="en-CA" sz="3200" dirty="0">
                <a:latin typeface="Consolas" panose="020B0609020204030204" pitchFamily="49" charset="0"/>
              </a:rPr>
              <a:t>])  # </a:t>
            </a:r>
            <a:r>
              <a:rPr lang="en-CA" sz="3200" dirty="0">
                <a:solidFill>
                  <a:srgbClr val="FF0000"/>
                </a:solidFill>
                <a:latin typeface="Consolas" panose="020B0609020204030204" pitchFamily="49" charset="0"/>
              </a:rPr>
              <a:t>Paper!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50BCC-A70B-1BF1-A3C5-5E6EF886BEFB}"/>
              </a:ext>
            </a:extLst>
          </p:cNvPr>
          <p:cNvSpPr txBox="1"/>
          <p:nvPr/>
        </p:nvSpPr>
        <p:spPr>
          <a:xfrm>
            <a:off x="6505304" y="280608"/>
            <a:ext cx="5526566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s[</a:t>
            </a:r>
            <a:r>
              <a:rPr lang="en-CA" dirty="0" err="1">
                <a:latin typeface="Consolas" panose="020B0609020204030204" pitchFamily="49" charset="0"/>
              </a:rPr>
              <a:t>start:end</a:t>
            </a:r>
            <a:r>
              <a:rPr lang="en-CA" dirty="0">
                <a:latin typeface="Consolas" panose="020B0609020204030204" pitchFamily="49" charset="0"/>
              </a:rPr>
              <a:t>]</a:t>
            </a:r>
            <a:r>
              <a:rPr lang="en-CA" dirty="0"/>
              <a:t> is all the characters beginning from </a:t>
            </a:r>
            <a:r>
              <a:rPr lang="en-CA" dirty="0">
                <a:latin typeface="Consolas" panose="020B0609020204030204" pitchFamily="49" charset="0"/>
              </a:rPr>
              <a:t>s[start]</a:t>
            </a:r>
            <a:r>
              <a:rPr lang="en-CA" dirty="0"/>
              <a:t> and then up to, but </a:t>
            </a:r>
            <a:r>
              <a:rPr lang="en-CA" b="1" dirty="0"/>
              <a:t>not</a:t>
            </a:r>
            <a:r>
              <a:rPr lang="en-CA" dirty="0"/>
              <a:t> including, </a:t>
            </a:r>
            <a:r>
              <a:rPr lang="en-CA" dirty="0">
                <a:latin typeface="Consolas" panose="020B0609020204030204" pitchFamily="49" charset="0"/>
              </a:rPr>
              <a:t>s[end]</a:t>
            </a:r>
            <a:endParaRPr lang="en-AU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93534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F6C1D-59EC-23AA-D73A-CE5D4670F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6084-B61F-0FAA-F1CC-DBA54582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89" y="162650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Immutability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B8FAC-4DD0-C85A-07E6-4BE985755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45D3FE-95B7-58DB-9B00-2A7682023A8D}"/>
              </a:ext>
            </a:extLst>
          </p:cNvPr>
          <p:cNvSpPr txBox="1"/>
          <p:nvPr/>
        </p:nvSpPr>
        <p:spPr>
          <a:xfrm>
            <a:off x="323563" y="1554300"/>
            <a:ext cx="251927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Pythion, you </a:t>
            </a:r>
            <a:r>
              <a:rPr lang="en-CA" b="1" dirty="0"/>
              <a:t>cannot</a:t>
            </a:r>
            <a:r>
              <a:rPr lang="en-CA" dirty="0"/>
              <a:t>  add, remove, or change characters of a string.</a:t>
            </a:r>
            <a:br>
              <a:rPr lang="en-CA" dirty="0"/>
            </a:br>
            <a:r>
              <a:rPr lang="en-CA" dirty="0"/>
              <a:t>Python strings are </a:t>
            </a:r>
            <a:r>
              <a:rPr lang="en-CA" b="1" dirty="0"/>
              <a:t>immutable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0A65E-F475-D6E2-B997-749E85216437}"/>
              </a:ext>
            </a:extLst>
          </p:cNvPr>
          <p:cNvSpPr txBox="1"/>
          <p:nvPr/>
        </p:nvSpPr>
        <p:spPr>
          <a:xfrm>
            <a:off x="3532132" y="431770"/>
            <a:ext cx="25506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'Paper!'</a:t>
            </a:r>
          </a:p>
          <a:p>
            <a:endParaRPr lang="en-US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07568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FE70-4324-6004-A39B-40009C526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348AD-5CB3-87FF-37D7-40B164D29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89" y="162650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Immutability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5B60E-8458-6DC8-37A1-E8C68FA5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C82D1-D8EF-D9E1-D2D6-DBF89D0CFCA4}"/>
              </a:ext>
            </a:extLst>
          </p:cNvPr>
          <p:cNvSpPr txBox="1"/>
          <p:nvPr/>
        </p:nvSpPr>
        <p:spPr>
          <a:xfrm>
            <a:off x="323563" y="1554300"/>
            <a:ext cx="251927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Pythion, you </a:t>
            </a:r>
            <a:r>
              <a:rPr lang="en-CA" b="1" dirty="0"/>
              <a:t>cannot</a:t>
            </a:r>
            <a:r>
              <a:rPr lang="en-CA" dirty="0"/>
              <a:t>  add, remove, or change characters of a string.</a:t>
            </a:r>
            <a:br>
              <a:rPr lang="en-CA" dirty="0"/>
            </a:br>
            <a:r>
              <a:rPr lang="en-CA" dirty="0"/>
              <a:t>Python strings are </a:t>
            </a:r>
            <a:r>
              <a:rPr lang="en-CA" b="1" dirty="0"/>
              <a:t>immutable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D89F91-A3EC-A7A2-3EA3-7B0C7FB63F0A}"/>
              </a:ext>
            </a:extLst>
          </p:cNvPr>
          <p:cNvSpPr txBox="1"/>
          <p:nvPr/>
        </p:nvSpPr>
        <p:spPr>
          <a:xfrm>
            <a:off x="3532132" y="431770"/>
            <a:ext cx="846577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'Paper!'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print(s[0])   </a:t>
            </a:r>
            <a:r>
              <a:rPr lang="en-US" sz="2800" dirty="0">
                <a:latin typeface="Consolas" panose="020B0609020204030204" pitchFamily="49" charset="0"/>
              </a:rPr>
              <a:t>#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ok</a:t>
            </a:r>
            <a:r>
              <a:rPr lang="en-US" sz="2800" dirty="0">
                <a:latin typeface="Consolas" panose="020B0609020204030204" pitchFamily="49" charset="0"/>
              </a:rPr>
              <a:t>: reading a character or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(s))</a:t>
            </a:r>
            <a:r>
              <a:rPr lang="en-US" sz="2800" dirty="0">
                <a:latin typeface="Consolas" panose="020B0609020204030204" pitchFamily="49" charset="0"/>
              </a:rPr>
              <a:t> #     getting length doesn’t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      #     change s</a:t>
            </a:r>
          </a:p>
        </p:txBody>
      </p:sp>
    </p:spTree>
    <p:extLst>
      <p:ext uri="{BB962C8B-B14F-4D97-AF65-F5344CB8AC3E}">
        <p14:creationId xmlns:p14="http://schemas.microsoft.com/office/powerpoint/2010/main" val="28024253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25BB4-E37B-048E-4409-9C13DABC2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AD42-A1C5-FDE0-A14D-D4B3CDC53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89" y="162650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Immutability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0B6C2-8F42-C3A4-28A8-F2772570C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98C60-FF64-56FA-EC63-54C4F40E9253}"/>
              </a:ext>
            </a:extLst>
          </p:cNvPr>
          <p:cNvSpPr txBox="1"/>
          <p:nvPr/>
        </p:nvSpPr>
        <p:spPr>
          <a:xfrm>
            <a:off x="323563" y="1554300"/>
            <a:ext cx="251927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Pythion, you </a:t>
            </a:r>
            <a:r>
              <a:rPr lang="en-CA" b="1" dirty="0"/>
              <a:t>cannot</a:t>
            </a:r>
            <a:r>
              <a:rPr lang="en-CA" dirty="0"/>
              <a:t>  add, remove, or change characters of a string.</a:t>
            </a:r>
            <a:br>
              <a:rPr lang="en-CA" dirty="0"/>
            </a:br>
            <a:r>
              <a:rPr lang="en-CA" dirty="0"/>
              <a:t>Python strings are </a:t>
            </a:r>
            <a:r>
              <a:rPr lang="en-CA" b="1" dirty="0"/>
              <a:t>immutable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E5F24A-F278-04FB-E808-A1929775A6C4}"/>
              </a:ext>
            </a:extLst>
          </p:cNvPr>
          <p:cNvSpPr txBox="1"/>
          <p:nvPr/>
        </p:nvSpPr>
        <p:spPr>
          <a:xfrm>
            <a:off x="3532132" y="431770"/>
            <a:ext cx="846577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'Paper!'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print(s[0])   </a:t>
            </a:r>
            <a:r>
              <a:rPr lang="en-US" sz="2800" dirty="0">
                <a:latin typeface="Consolas" panose="020B0609020204030204" pitchFamily="49" charset="0"/>
              </a:rPr>
              <a:t>#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ok</a:t>
            </a:r>
            <a:r>
              <a:rPr lang="en-US" sz="2800" dirty="0">
                <a:latin typeface="Consolas" panose="020B0609020204030204" pitchFamily="49" charset="0"/>
              </a:rPr>
              <a:t>: reading a character or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(s))</a:t>
            </a:r>
            <a:r>
              <a:rPr lang="en-US" sz="2800" dirty="0">
                <a:latin typeface="Consolas" panose="020B0609020204030204" pitchFamily="49" charset="0"/>
              </a:rPr>
              <a:t> #     getting length doesn’t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      #     change s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s[0] = 'c'    </a:t>
            </a:r>
            <a:r>
              <a:rPr lang="en-US" sz="2800" dirty="0">
                <a:latin typeface="Consolas" panose="020B0609020204030204" pitchFamily="49" charset="0"/>
              </a:rPr>
              <a:t>#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US" sz="2800" dirty="0">
                <a:latin typeface="Consolas" panose="020B0609020204030204" pitchFamily="49" charset="0"/>
              </a:rPr>
              <a:t>: can’t change a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      #            a string</a:t>
            </a:r>
          </a:p>
        </p:txBody>
      </p:sp>
    </p:spTree>
    <p:extLst>
      <p:ext uri="{BB962C8B-B14F-4D97-AF65-F5344CB8AC3E}">
        <p14:creationId xmlns:p14="http://schemas.microsoft.com/office/powerpoint/2010/main" val="2579216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98CF2-B883-0E6A-90D2-31D25195C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9BE76-F607-E994-6DC5-3E59495E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89" y="162650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Immutability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A42C7-776E-6FF7-2477-C2EFA3E7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188EFE-7264-3314-E85A-8C2107434A29}"/>
              </a:ext>
            </a:extLst>
          </p:cNvPr>
          <p:cNvSpPr txBox="1"/>
          <p:nvPr/>
        </p:nvSpPr>
        <p:spPr>
          <a:xfrm>
            <a:off x="323563" y="1554300"/>
            <a:ext cx="251927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Pythion, you </a:t>
            </a:r>
            <a:r>
              <a:rPr lang="en-CA" b="1" dirty="0"/>
              <a:t>cannot</a:t>
            </a:r>
            <a:r>
              <a:rPr lang="en-CA" dirty="0"/>
              <a:t>  add, remove, or change characters of a string.</a:t>
            </a:r>
            <a:br>
              <a:rPr lang="en-CA" dirty="0"/>
            </a:br>
            <a:r>
              <a:rPr lang="en-CA" dirty="0"/>
              <a:t>Python strings are </a:t>
            </a:r>
            <a:r>
              <a:rPr lang="en-CA" b="1" dirty="0"/>
              <a:t>immutable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42DAB4-04F9-DD14-285A-DD6663277876}"/>
              </a:ext>
            </a:extLst>
          </p:cNvPr>
          <p:cNvSpPr txBox="1"/>
          <p:nvPr/>
        </p:nvSpPr>
        <p:spPr>
          <a:xfrm>
            <a:off x="3532132" y="431770"/>
            <a:ext cx="846577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'Paper!'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print(s[0])   </a:t>
            </a:r>
            <a:r>
              <a:rPr lang="en-US" sz="2800" dirty="0">
                <a:latin typeface="Consolas" panose="020B0609020204030204" pitchFamily="49" charset="0"/>
              </a:rPr>
              <a:t>#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ok</a:t>
            </a:r>
            <a:r>
              <a:rPr lang="en-US" sz="2800" dirty="0">
                <a:latin typeface="Consolas" panose="020B0609020204030204" pitchFamily="49" charset="0"/>
              </a:rPr>
              <a:t>: reading a character or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(s))</a:t>
            </a:r>
            <a:r>
              <a:rPr lang="en-US" sz="2800" dirty="0">
                <a:latin typeface="Consolas" panose="020B0609020204030204" pitchFamily="49" charset="0"/>
              </a:rPr>
              <a:t> #     getting length doesn’t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      #     change s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s[0] = 'c'    </a:t>
            </a:r>
            <a:r>
              <a:rPr lang="en-US" sz="2800" dirty="0">
                <a:latin typeface="Consolas" panose="020B0609020204030204" pitchFamily="49" charset="0"/>
              </a:rPr>
              <a:t>#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US" sz="2800" dirty="0">
                <a:latin typeface="Consolas" panose="020B0609020204030204" pitchFamily="49" charset="0"/>
              </a:rPr>
              <a:t>: can’t change a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      #            a string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827D1-D68E-2C3A-6154-9B0FD8F8F70B}"/>
              </a:ext>
            </a:extLst>
          </p:cNvPr>
          <p:cNvSpPr txBox="1"/>
          <p:nvPr/>
        </p:nvSpPr>
        <p:spPr>
          <a:xfrm>
            <a:off x="123333" y="4779616"/>
            <a:ext cx="41113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Assignments</a:t>
            </a:r>
            <a:r>
              <a:rPr lang="en-US" sz="2800" dirty="0"/>
              <a:t> are fast and cheap with immutable strings 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E3941-D22E-CAA1-04EA-E4F86C459D44}"/>
              </a:ext>
            </a:extLst>
          </p:cNvPr>
          <p:cNvSpPr txBox="1"/>
          <p:nvPr/>
        </p:nvSpPr>
        <p:spPr>
          <a:xfrm>
            <a:off x="4936061" y="4877872"/>
            <a:ext cx="255069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'Paper!'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t = 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FDF9F-AC52-FC49-FAB5-5D21E3063A5D}"/>
              </a:ext>
            </a:extLst>
          </p:cNvPr>
          <p:cNvSpPr txBox="1"/>
          <p:nvPr/>
        </p:nvSpPr>
        <p:spPr>
          <a:xfrm>
            <a:off x="9511423" y="4948894"/>
            <a:ext cx="1367682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Paper!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CD87DE-7AD8-DDC3-FB86-7C095CE709E0}"/>
              </a:ext>
            </a:extLst>
          </p:cNvPr>
          <p:cNvSpPr txBox="1"/>
          <p:nvPr/>
        </p:nvSpPr>
        <p:spPr>
          <a:xfrm>
            <a:off x="8338794" y="4616262"/>
            <a:ext cx="38183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AA9FA3-DE12-6A2C-F239-22383017FFF2}"/>
              </a:ext>
            </a:extLst>
          </p:cNvPr>
          <p:cNvSpPr txBox="1"/>
          <p:nvPr/>
        </p:nvSpPr>
        <p:spPr>
          <a:xfrm>
            <a:off x="8363698" y="5472114"/>
            <a:ext cx="381836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Consolas" panose="020B0609020204030204" pitchFamily="49" charset="0"/>
              </a:rPr>
              <a:t>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578A097-AAA1-8457-4E63-7DA9247CE7B7}"/>
              </a:ext>
            </a:extLst>
          </p:cNvPr>
          <p:cNvCxnSpPr>
            <a:stCxn id="9" idx="3"/>
          </p:cNvCxnSpPr>
          <p:nvPr/>
        </p:nvCxnSpPr>
        <p:spPr>
          <a:xfrm>
            <a:off x="8720630" y="4877872"/>
            <a:ext cx="790793" cy="173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D9DB09-6F1D-41F4-803C-7E5EC634E90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8745534" y="5384026"/>
            <a:ext cx="765889" cy="349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DBD0EE0-B072-EB19-AE8F-360B641C16F1}"/>
              </a:ext>
            </a:extLst>
          </p:cNvPr>
          <p:cNvSpPr txBox="1"/>
          <p:nvPr/>
        </p:nvSpPr>
        <p:spPr>
          <a:xfrm>
            <a:off x="5844420" y="5894685"/>
            <a:ext cx="2519278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 and </a:t>
            </a:r>
            <a:r>
              <a:rPr lang="en-CA" dirty="0">
                <a:latin typeface="Consolas" panose="020B0609020204030204" pitchFamily="49" charset="0"/>
              </a:rPr>
              <a:t>t</a:t>
            </a:r>
            <a:r>
              <a:rPr lang="en-CA" dirty="0"/>
              <a:t> can both safely refer to the same underlying string.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570615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A936B-A651-9A65-17A5-B274AD0A2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7E75-9182-CE7D-5BF0-5F61FA22C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89" y="162650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String Immutability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24604-8F4D-1AE5-217D-76693645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177687-9D25-4E16-4562-09E9664D39AA}"/>
              </a:ext>
            </a:extLst>
          </p:cNvPr>
          <p:cNvSpPr txBox="1"/>
          <p:nvPr/>
        </p:nvSpPr>
        <p:spPr>
          <a:xfrm>
            <a:off x="323563" y="1554300"/>
            <a:ext cx="2519278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 Pythion, you </a:t>
            </a:r>
            <a:r>
              <a:rPr lang="en-CA" b="1" dirty="0"/>
              <a:t>cannot</a:t>
            </a:r>
            <a:r>
              <a:rPr lang="en-CA" dirty="0"/>
              <a:t>  add, remove, or change characters of a string.</a:t>
            </a:r>
            <a:br>
              <a:rPr lang="en-CA" dirty="0"/>
            </a:br>
            <a:r>
              <a:rPr lang="en-CA" dirty="0"/>
              <a:t>Python strings are </a:t>
            </a:r>
            <a:r>
              <a:rPr lang="en-CA" b="1" dirty="0"/>
              <a:t>immutable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69B0F6-54E1-C6D1-40D6-1A03183D86C4}"/>
              </a:ext>
            </a:extLst>
          </p:cNvPr>
          <p:cNvSpPr txBox="1"/>
          <p:nvPr/>
        </p:nvSpPr>
        <p:spPr>
          <a:xfrm>
            <a:off x="3532132" y="431770"/>
            <a:ext cx="846577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s = 'Paper!'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print(s[0])   </a:t>
            </a:r>
            <a:r>
              <a:rPr lang="en-US" sz="2800" dirty="0">
                <a:latin typeface="Consolas" panose="020B0609020204030204" pitchFamily="49" charset="0"/>
              </a:rPr>
              <a:t>#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ok</a:t>
            </a:r>
            <a:r>
              <a:rPr lang="en-US" sz="2800" dirty="0">
                <a:latin typeface="Consolas" panose="020B0609020204030204" pitchFamily="49" charset="0"/>
              </a:rPr>
              <a:t>: reading a character or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print(</a:t>
            </a:r>
            <a:r>
              <a:rPr lang="en-US" sz="2800" dirty="0" err="1">
                <a:solidFill>
                  <a:srgbClr val="00B050"/>
                </a:solidFill>
                <a:latin typeface="Consolas" panose="020B0609020204030204" pitchFamily="49" charset="0"/>
              </a:rPr>
              <a:t>len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(s))</a:t>
            </a:r>
            <a:r>
              <a:rPr lang="en-US" sz="2800" dirty="0">
                <a:latin typeface="Consolas" panose="020B0609020204030204" pitchFamily="49" charset="0"/>
              </a:rPr>
              <a:t> #     getting length doesn’t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      #     change s</a:t>
            </a:r>
          </a:p>
          <a:p>
            <a:endParaRPr lang="en-US" sz="2800" dirty="0"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s[0] = 'c'    </a:t>
            </a:r>
            <a:r>
              <a:rPr lang="en-US" sz="2800" dirty="0">
                <a:latin typeface="Consolas" panose="020B0609020204030204" pitchFamily="49" charset="0"/>
              </a:rPr>
              <a:t># </a:t>
            </a:r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US" sz="2800" dirty="0">
                <a:latin typeface="Consolas" panose="020B0609020204030204" pitchFamily="49" charset="0"/>
              </a:rPr>
              <a:t>: can’t change a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           #            a string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BAED55-32F1-B350-899F-5ACB74E9F152}"/>
              </a:ext>
            </a:extLst>
          </p:cNvPr>
          <p:cNvSpPr txBox="1"/>
          <p:nvPr/>
        </p:nvSpPr>
        <p:spPr>
          <a:xfrm>
            <a:off x="123333" y="4779616"/>
            <a:ext cx="41113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/>
              <a:t>On the downside, Python strings are inefficient if you need to make lots of string modifications …</a:t>
            </a:r>
          </a:p>
        </p:txBody>
      </p:sp>
    </p:spTree>
    <p:extLst>
      <p:ext uri="{BB962C8B-B14F-4D97-AF65-F5344CB8AC3E}">
        <p14:creationId xmlns:p14="http://schemas.microsoft.com/office/powerpoint/2010/main" val="11650867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3CAA4-0F17-1999-E946-884FCAB81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9F7BB-2F63-B285-874C-A824204A1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A43ED-BE1F-F5BE-8FBF-C10C0CB61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3C338-1B78-AF40-785D-E0C4C35F3A30}"/>
              </a:ext>
            </a:extLst>
          </p:cNvPr>
          <p:cNvSpPr txBox="1"/>
          <p:nvPr/>
        </p:nvSpPr>
        <p:spPr>
          <a:xfrm>
            <a:off x="118385" y="1918569"/>
            <a:ext cx="299903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How can you change the </a:t>
            </a:r>
            <a:r>
              <a:rPr lang="en-CA" sz="2400" dirty="0">
                <a:latin typeface="Consolas" panose="020B0609020204030204" pitchFamily="49" charset="0"/>
              </a:rPr>
              <a:t>?</a:t>
            </a:r>
            <a:r>
              <a:rPr lang="en-CA" sz="2400" dirty="0"/>
              <a:t> to a </a:t>
            </a:r>
            <a:r>
              <a:rPr lang="en-CA" sz="2400" dirty="0">
                <a:latin typeface="Consolas" panose="020B0609020204030204" pitchFamily="49" charset="0"/>
              </a:rPr>
              <a:t>'d'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s</a:t>
            </a:r>
            <a:r>
              <a:rPr lang="en-CA" sz="2400" dirty="0"/>
              <a:t> without modifying </a:t>
            </a:r>
            <a:r>
              <a:rPr lang="en-CA" sz="2400" dirty="0">
                <a:latin typeface="Consolas" panose="020B0609020204030204" pitchFamily="49" charset="0"/>
              </a:rPr>
              <a:t>s</a:t>
            </a:r>
            <a:r>
              <a:rPr lang="en-CA" sz="2400" dirty="0"/>
              <a:t>?</a:t>
            </a:r>
            <a:endParaRPr lang="en-AU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4FC04C-33AB-96FF-812C-B3E337ADC5E7}"/>
              </a:ext>
            </a:extLst>
          </p:cNvPr>
          <p:cNvSpPr txBox="1"/>
          <p:nvPr/>
        </p:nvSpPr>
        <p:spPr>
          <a:xfrm>
            <a:off x="3395481" y="848374"/>
            <a:ext cx="8366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s = 'The big red 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sz="4000" dirty="0" err="1">
                <a:latin typeface="Consolas" panose="020B0609020204030204" pitchFamily="49" charset="0"/>
              </a:rPr>
              <a:t>og</a:t>
            </a:r>
            <a:r>
              <a:rPr lang="en-US" sz="4000" dirty="0">
                <a:latin typeface="Consolas" panose="020B0609020204030204" pitchFamily="49" charset="0"/>
              </a:rPr>
              <a:t> barked.'</a:t>
            </a:r>
          </a:p>
        </p:txBody>
      </p:sp>
    </p:spTree>
    <p:extLst>
      <p:ext uri="{BB962C8B-B14F-4D97-AF65-F5344CB8AC3E}">
        <p14:creationId xmlns:p14="http://schemas.microsoft.com/office/powerpoint/2010/main" val="36753637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86049-2B6D-6E68-B81F-9C5E1B8B7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4EFE-3C66-87AE-712D-D220C99D8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03711-C23A-4072-1EFC-95B49047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D6C059-321A-06AB-D4C3-27DE8CB559CF}"/>
              </a:ext>
            </a:extLst>
          </p:cNvPr>
          <p:cNvSpPr txBox="1"/>
          <p:nvPr/>
        </p:nvSpPr>
        <p:spPr>
          <a:xfrm>
            <a:off x="118385" y="1918569"/>
            <a:ext cx="299903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How can you change the </a:t>
            </a:r>
            <a:r>
              <a:rPr lang="en-CA" sz="2400" dirty="0">
                <a:latin typeface="Consolas" panose="020B0609020204030204" pitchFamily="49" charset="0"/>
              </a:rPr>
              <a:t>?</a:t>
            </a:r>
            <a:r>
              <a:rPr lang="en-CA" sz="2400" dirty="0"/>
              <a:t> to a </a:t>
            </a:r>
            <a:r>
              <a:rPr lang="en-CA" sz="2400" dirty="0">
                <a:latin typeface="Consolas" panose="020B0609020204030204" pitchFamily="49" charset="0"/>
              </a:rPr>
              <a:t>'d'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s</a:t>
            </a:r>
            <a:r>
              <a:rPr lang="en-CA" sz="2400" dirty="0"/>
              <a:t> without modifying </a:t>
            </a:r>
            <a:r>
              <a:rPr lang="en-CA" sz="2400" dirty="0">
                <a:latin typeface="Consolas" panose="020B0609020204030204" pitchFamily="49" charset="0"/>
              </a:rPr>
              <a:t>s</a:t>
            </a:r>
            <a:r>
              <a:rPr lang="en-CA" sz="2400" dirty="0"/>
              <a:t>?</a:t>
            </a:r>
            <a:endParaRPr lang="en-AU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E1BC48-05B1-0028-4F90-5D609F2EC005}"/>
              </a:ext>
            </a:extLst>
          </p:cNvPr>
          <p:cNvSpPr txBox="1"/>
          <p:nvPr/>
        </p:nvSpPr>
        <p:spPr>
          <a:xfrm>
            <a:off x="3395481" y="848374"/>
            <a:ext cx="8366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s = 'The big red 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sz="4000" dirty="0" err="1">
                <a:latin typeface="Consolas" panose="020B0609020204030204" pitchFamily="49" charset="0"/>
              </a:rPr>
              <a:t>og</a:t>
            </a:r>
            <a:r>
              <a:rPr lang="en-US" sz="4000" dirty="0">
                <a:latin typeface="Consolas" panose="020B0609020204030204" pitchFamily="49" charset="0"/>
              </a:rPr>
              <a:t> barked.'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9FD38B-723A-94CD-38C7-072762AC3B11}"/>
              </a:ext>
            </a:extLst>
          </p:cNvPr>
          <p:cNvSpPr txBox="1"/>
          <p:nvPr/>
        </p:nvSpPr>
        <p:spPr>
          <a:xfrm>
            <a:off x="7897971" y="466466"/>
            <a:ext cx="120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s[12]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487251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DB4FF-8A8C-C93B-2D2E-473E6B477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D8D0-DA5E-70BB-97F8-6FAB1E4C6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25FFD-CDD5-704C-BB3E-914675A3A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F410D4-4CDA-F5DE-6899-CBE8ED02B0C7}"/>
              </a:ext>
            </a:extLst>
          </p:cNvPr>
          <p:cNvSpPr txBox="1"/>
          <p:nvPr/>
        </p:nvSpPr>
        <p:spPr>
          <a:xfrm>
            <a:off x="118385" y="1918569"/>
            <a:ext cx="299903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How can you change the </a:t>
            </a:r>
            <a:r>
              <a:rPr lang="en-CA" sz="2400" dirty="0">
                <a:latin typeface="Consolas" panose="020B0609020204030204" pitchFamily="49" charset="0"/>
              </a:rPr>
              <a:t>?</a:t>
            </a:r>
            <a:r>
              <a:rPr lang="en-CA" sz="2400" dirty="0"/>
              <a:t> to a </a:t>
            </a:r>
            <a:r>
              <a:rPr lang="en-CA" sz="2400" dirty="0">
                <a:latin typeface="Consolas" panose="020B0609020204030204" pitchFamily="49" charset="0"/>
              </a:rPr>
              <a:t>'d'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s</a:t>
            </a:r>
            <a:r>
              <a:rPr lang="en-CA" sz="2400" dirty="0"/>
              <a:t> without modifying </a:t>
            </a:r>
            <a:r>
              <a:rPr lang="en-CA" sz="2400" dirty="0">
                <a:latin typeface="Consolas" panose="020B0609020204030204" pitchFamily="49" charset="0"/>
              </a:rPr>
              <a:t>s</a:t>
            </a:r>
            <a:r>
              <a:rPr lang="en-CA" sz="2400" dirty="0"/>
              <a:t>?</a:t>
            </a:r>
            <a:endParaRPr lang="en-AU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F5F391-8681-E077-8CB7-2B729A0F94D7}"/>
              </a:ext>
            </a:extLst>
          </p:cNvPr>
          <p:cNvSpPr txBox="1"/>
          <p:nvPr/>
        </p:nvSpPr>
        <p:spPr>
          <a:xfrm>
            <a:off x="3395481" y="848374"/>
            <a:ext cx="8366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s = 'The big red 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sz="4000" dirty="0" err="1">
                <a:latin typeface="Consolas" panose="020B0609020204030204" pitchFamily="49" charset="0"/>
              </a:rPr>
              <a:t>og</a:t>
            </a:r>
            <a:r>
              <a:rPr lang="en-US" sz="4000" dirty="0">
                <a:latin typeface="Consolas" panose="020B0609020204030204" pitchFamily="49" charset="0"/>
              </a:rPr>
              <a:t> barked.'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A2354B-D642-9F25-0120-0245A24D77A1}"/>
              </a:ext>
            </a:extLst>
          </p:cNvPr>
          <p:cNvSpPr txBox="1"/>
          <p:nvPr/>
        </p:nvSpPr>
        <p:spPr>
          <a:xfrm>
            <a:off x="94904" y="3613522"/>
            <a:ext cx="299903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Make a new string using slicing and appending.</a:t>
            </a:r>
            <a:endParaRPr lang="en-AU" sz="2400" dirty="0"/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C1E88D57-9810-7307-9DC0-91BA600E823A}"/>
              </a:ext>
            </a:extLst>
          </p:cNvPr>
          <p:cNvSpPr/>
          <p:nvPr/>
        </p:nvSpPr>
        <p:spPr>
          <a:xfrm rot="16200000">
            <a:off x="6372974" y="-109538"/>
            <a:ext cx="302150" cy="33315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1C2BB918-7F04-9733-3335-02040077234A}"/>
              </a:ext>
            </a:extLst>
          </p:cNvPr>
          <p:cNvSpPr/>
          <p:nvPr/>
        </p:nvSpPr>
        <p:spPr>
          <a:xfrm rot="16200000">
            <a:off x="9741015" y="165444"/>
            <a:ext cx="302150" cy="27816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196AAC-6CC5-9DFA-4366-67E5E99B2359}"/>
              </a:ext>
            </a:extLst>
          </p:cNvPr>
          <p:cNvSpPr txBox="1"/>
          <p:nvPr/>
        </p:nvSpPr>
        <p:spPr>
          <a:xfrm>
            <a:off x="5920745" y="1687736"/>
            <a:ext cx="120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s[:12]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276D33-406F-C083-4E06-9530E2CFFA32}"/>
              </a:ext>
            </a:extLst>
          </p:cNvPr>
          <p:cNvSpPr txBox="1"/>
          <p:nvPr/>
        </p:nvSpPr>
        <p:spPr>
          <a:xfrm>
            <a:off x="9252341" y="1693980"/>
            <a:ext cx="120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s[:12]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7D8AB69-2761-199D-8D7B-8F731BABAAA6}"/>
              </a:ext>
            </a:extLst>
          </p:cNvPr>
          <p:cNvSpPr txBox="1"/>
          <p:nvPr/>
        </p:nvSpPr>
        <p:spPr>
          <a:xfrm>
            <a:off x="7897971" y="466466"/>
            <a:ext cx="120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s[12]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9624354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2D9A8-E5A5-6C97-DF77-214F80ACF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AEEDC-0FDF-F574-B5BF-429C61FC5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0FD60-73C1-7982-F8E6-AD61BFE8E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24B29-CBEF-DB82-CD2B-908CBCBE36A5}"/>
              </a:ext>
            </a:extLst>
          </p:cNvPr>
          <p:cNvSpPr txBox="1"/>
          <p:nvPr/>
        </p:nvSpPr>
        <p:spPr>
          <a:xfrm>
            <a:off x="118385" y="1918569"/>
            <a:ext cx="299903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How can you change the </a:t>
            </a:r>
            <a:r>
              <a:rPr lang="en-CA" sz="2400" dirty="0">
                <a:latin typeface="Consolas" panose="020B0609020204030204" pitchFamily="49" charset="0"/>
              </a:rPr>
              <a:t>?</a:t>
            </a:r>
            <a:r>
              <a:rPr lang="en-CA" sz="2400" dirty="0"/>
              <a:t> to a </a:t>
            </a:r>
            <a:r>
              <a:rPr lang="en-CA" sz="2400" dirty="0">
                <a:latin typeface="Consolas" panose="020B0609020204030204" pitchFamily="49" charset="0"/>
              </a:rPr>
              <a:t>'d'</a:t>
            </a:r>
            <a:r>
              <a:rPr lang="en-CA" sz="2400" dirty="0"/>
              <a:t> in </a:t>
            </a:r>
            <a:r>
              <a:rPr lang="en-CA" sz="2400" dirty="0">
                <a:latin typeface="Consolas" panose="020B0609020204030204" pitchFamily="49" charset="0"/>
              </a:rPr>
              <a:t>s</a:t>
            </a:r>
            <a:r>
              <a:rPr lang="en-CA" sz="2400" dirty="0"/>
              <a:t> without modifying </a:t>
            </a:r>
            <a:r>
              <a:rPr lang="en-CA" sz="2400" dirty="0">
                <a:latin typeface="Consolas" panose="020B0609020204030204" pitchFamily="49" charset="0"/>
              </a:rPr>
              <a:t>s</a:t>
            </a:r>
            <a:r>
              <a:rPr lang="en-CA" sz="2400" dirty="0"/>
              <a:t>?</a:t>
            </a:r>
            <a:endParaRPr lang="en-AU" sz="2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17381C-B32E-BE4C-41C5-408621EF0DF5}"/>
              </a:ext>
            </a:extLst>
          </p:cNvPr>
          <p:cNvSpPr txBox="1"/>
          <p:nvPr/>
        </p:nvSpPr>
        <p:spPr>
          <a:xfrm>
            <a:off x="3395481" y="848374"/>
            <a:ext cx="83663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s = 'The big red 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?</a:t>
            </a:r>
            <a:r>
              <a:rPr lang="en-US" sz="4000" dirty="0" err="1">
                <a:latin typeface="Consolas" panose="020B0609020204030204" pitchFamily="49" charset="0"/>
              </a:rPr>
              <a:t>og</a:t>
            </a:r>
            <a:r>
              <a:rPr lang="en-US" sz="4000" dirty="0">
                <a:latin typeface="Consolas" panose="020B0609020204030204" pitchFamily="49" charset="0"/>
              </a:rPr>
              <a:t> barked.'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7FE3E8-F687-ED38-842A-FB86AE0FC2C0}"/>
              </a:ext>
            </a:extLst>
          </p:cNvPr>
          <p:cNvSpPr txBox="1"/>
          <p:nvPr/>
        </p:nvSpPr>
        <p:spPr>
          <a:xfrm>
            <a:off x="94904" y="3613522"/>
            <a:ext cx="299903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Make a new string using slicing and appending.</a:t>
            </a:r>
            <a:endParaRPr lang="en-AU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8F7FF8-CEEC-F3C9-64FB-9CE485C30AC8}"/>
              </a:ext>
            </a:extLst>
          </p:cNvPr>
          <p:cNvSpPr txBox="1"/>
          <p:nvPr/>
        </p:nvSpPr>
        <p:spPr>
          <a:xfrm>
            <a:off x="3395481" y="3362748"/>
            <a:ext cx="83663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Consolas" panose="020B0609020204030204" pitchFamily="49" charset="0"/>
              </a:rPr>
              <a:t>s_mod</a:t>
            </a:r>
            <a:r>
              <a:rPr lang="en-US" sz="4000" dirty="0">
                <a:latin typeface="Consolas" panose="020B0609020204030204" pitchFamily="49" charset="0"/>
              </a:rPr>
              <a:t> = s[:12] + 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'd'</a:t>
            </a:r>
            <a:r>
              <a:rPr lang="en-US" sz="4000" dirty="0">
                <a:latin typeface="Consolas" panose="020B0609020204030204" pitchFamily="49" charset="0"/>
              </a:rPr>
              <a:t> + s[13:]</a:t>
            </a:r>
            <a:br>
              <a:rPr lang="en-US" sz="4000" dirty="0">
                <a:latin typeface="Consolas" panose="020B0609020204030204" pitchFamily="49" charset="0"/>
              </a:rPr>
            </a:br>
            <a:endParaRPr lang="en-US" sz="4000" dirty="0">
              <a:latin typeface="Consolas" panose="020B0609020204030204" pitchFamily="49" charset="0"/>
            </a:endParaRPr>
          </a:p>
          <a:p>
            <a:r>
              <a:rPr lang="en-US" sz="4000" dirty="0">
                <a:latin typeface="Consolas" panose="020B0609020204030204" pitchFamily="49" charset="0"/>
              </a:rPr>
              <a:t>'The big red 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d</a:t>
            </a:r>
            <a:r>
              <a:rPr lang="en-US" sz="4000" dirty="0">
                <a:latin typeface="Consolas" panose="020B0609020204030204" pitchFamily="49" charset="0"/>
              </a:rPr>
              <a:t>og barked.'</a:t>
            </a:r>
            <a:endParaRPr lang="en-CA" sz="4000" dirty="0">
              <a:latin typeface="Consolas" panose="020B0609020204030204" pitchFamily="49" charset="0"/>
            </a:endParaRP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C1F9A277-C262-05B0-F6B6-EC5BAB2D5641}"/>
              </a:ext>
            </a:extLst>
          </p:cNvPr>
          <p:cNvSpPr/>
          <p:nvPr/>
        </p:nvSpPr>
        <p:spPr>
          <a:xfrm rot="16200000">
            <a:off x="6372974" y="-109538"/>
            <a:ext cx="302150" cy="33315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3EC8C96F-7E82-E575-922D-AA1245AAC765}"/>
              </a:ext>
            </a:extLst>
          </p:cNvPr>
          <p:cNvSpPr/>
          <p:nvPr/>
        </p:nvSpPr>
        <p:spPr>
          <a:xfrm rot="16200000">
            <a:off x="9741015" y="165444"/>
            <a:ext cx="302150" cy="278163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D26B55-A6D9-7706-7CA8-6267878774D9}"/>
              </a:ext>
            </a:extLst>
          </p:cNvPr>
          <p:cNvSpPr txBox="1"/>
          <p:nvPr/>
        </p:nvSpPr>
        <p:spPr>
          <a:xfrm>
            <a:off x="5920745" y="1687736"/>
            <a:ext cx="120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s[:12]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endParaRPr lang="en-CA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4388B2-3441-0F74-2A1E-9FE2A2D28F90}"/>
              </a:ext>
            </a:extLst>
          </p:cNvPr>
          <p:cNvSpPr txBox="1"/>
          <p:nvPr/>
        </p:nvSpPr>
        <p:spPr>
          <a:xfrm>
            <a:off x="9252341" y="1693980"/>
            <a:ext cx="120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s[:12]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endParaRPr lang="en-CA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1DF6DB-27B1-BA67-08E1-9F6A5C7A6ED6}"/>
              </a:ext>
            </a:extLst>
          </p:cNvPr>
          <p:cNvSpPr txBox="1"/>
          <p:nvPr/>
        </p:nvSpPr>
        <p:spPr>
          <a:xfrm>
            <a:off x="7897971" y="466466"/>
            <a:ext cx="120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s[12]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905032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28C51-9DD1-5276-9D27-88F0B8D9E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20B3-6E90-419A-9CE5-052DE768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4FC68-DB46-F224-0AE5-4C64A6383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393A4-550F-89B0-B4F9-5BE06D589287}"/>
              </a:ext>
            </a:extLst>
          </p:cNvPr>
          <p:cNvSpPr txBox="1"/>
          <p:nvPr/>
        </p:nvSpPr>
        <p:spPr>
          <a:xfrm>
            <a:off x="118385" y="1918569"/>
            <a:ext cx="29990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Two strings are </a:t>
            </a:r>
            <a:r>
              <a:rPr lang="en-CA" b="1" dirty="0"/>
              <a:t>equal</a:t>
            </a:r>
            <a:r>
              <a:rPr lang="en-CA" dirty="0"/>
              <a:t> if they have the same characters in the same order.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DDD140-F951-2121-677B-F1B1B722F586}"/>
              </a:ext>
            </a:extLst>
          </p:cNvPr>
          <p:cNvSpPr txBox="1"/>
          <p:nvPr/>
        </p:nvSpPr>
        <p:spPr>
          <a:xfrm>
            <a:off x="3591636" y="343361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AA2A49-99D5-457A-21B6-984C160AB560}"/>
              </a:ext>
            </a:extLst>
          </p:cNvPr>
          <p:cNvSpPr txBox="1"/>
          <p:nvPr/>
        </p:nvSpPr>
        <p:spPr>
          <a:xfrm>
            <a:off x="3591636" y="1270822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9015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18D84-BF25-8A70-6B7B-357EFFFF6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4679-2932-24C0-413A-C76BFD567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A6545-7D96-0404-69F4-E5A900FA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043E4-73CB-9225-B912-88F8E94936C8}"/>
              </a:ext>
            </a:extLst>
          </p:cNvPr>
          <p:cNvSpPr txBox="1"/>
          <p:nvPr/>
        </p:nvSpPr>
        <p:spPr>
          <a:xfrm>
            <a:off x="118385" y="1918569"/>
            <a:ext cx="29990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Two strings are </a:t>
            </a:r>
            <a:r>
              <a:rPr lang="en-CA" b="1" dirty="0"/>
              <a:t>equal</a:t>
            </a:r>
            <a:r>
              <a:rPr lang="en-CA" dirty="0"/>
              <a:t> if they have the same characters in the same order.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52605-0F0B-F644-CB52-2E64BC3E0374}"/>
              </a:ext>
            </a:extLst>
          </p:cNvPr>
          <p:cNvSpPr txBox="1"/>
          <p:nvPr/>
        </p:nvSpPr>
        <p:spPr>
          <a:xfrm>
            <a:off x="3591636" y="343361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C0B631-94E8-A42D-ABCF-CCC963543C8F}"/>
              </a:ext>
            </a:extLst>
          </p:cNvPr>
          <p:cNvSpPr txBox="1"/>
          <p:nvPr/>
        </p:nvSpPr>
        <p:spPr>
          <a:xfrm>
            <a:off x="10088732" y="343361"/>
            <a:ext cx="1495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9EB2B6-0F53-94D1-D6C5-0FC903BA7BAF}"/>
              </a:ext>
            </a:extLst>
          </p:cNvPr>
          <p:cNvSpPr txBox="1"/>
          <p:nvPr/>
        </p:nvSpPr>
        <p:spPr>
          <a:xfrm>
            <a:off x="3591636" y="1270822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3690A3-D412-1B1F-67C0-B3E7323D6594}"/>
              </a:ext>
            </a:extLst>
          </p:cNvPr>
          <p:cNvSpPr txBox="1"/>
          <p:nvPr/>
        </p:nvSpPr>
        <p:spPr>
          <a:xfrm>
            <a:off x="10088732" y="1270822"/>
            <a:ext cx="1594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8308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71800-4C0E-2C56-93C1-71B20D09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C2D3-A27D-B712-CBC7-B4CE33FB9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2806B-CA7F-5B6E-1231-3A23BCD4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A5ACCE-BF1D-DF7A-FCC0-B77E80B315C4}"/>
              </a:ext>
            </a:extLst>
          </p:cNvPr>
          <p:cNvSpPr txBox="1"/>
          <p:nvPr/>
        </p:nvSpPr>
        <p:spPr>
          <a:xfrm>
            <a:off x="118385" y="1918569"/>
            <a:ext cx="29990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Two strings are </a:t>
            </a:r>
            <a:r>
              <a:rPr lang="en-CA" b="1" dirty="0"/>
              <a:t>equal</a:t>
            </a:r>
            <a:r>
              <a:rPr lang="en-CA" dirty="0"/>
              <a:t> if they have the same characters in the same order.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3F5B80-F832-2186-F6B1-10C9F79D696A}"/>
              </a:ext>
            </a:extLst>
          </p:cNvPr>
          <p:cNvSpPr txBox="1"/>
          <p:nvPr/>
        </p:nvSpPr>
        <p:spPr>
          <a:xfrm>
            <a:off x="3591636" y="343361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ED7483-8171-A7AF-0CE8-EA96AF81DAA3}"/>
              </a:ext>
            </a:extLst>
          </p:cNvPr>
          <p:cNvSpPr txBox="1"/>
          <p:nvPr/>
        </p:nvSpPr>
        <p:spPr>
          <a:xfrm>
            <a:off x="10088732" y="343361"/>
            <a:ext cx="1495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D5BEE8-FABD-E3BC-221B-BBF20EF417D8}"/>
              </a:ext>
            </a:extLst>
          </p:cNvPr>
          <p:cNvSpPr txBox="1"/>
          <p:nvPr/>
        </p:nvSpPr>
        <p:spPr>
          <a:xfrm>
            <a:off x="3591636" y="1270822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45C209-20CC-89B8-D366-B501C4EF93C4}"/>
              </a:ext>
            </a:extLst>
          </p:cNvPr>
          <p:cNvSpPr txBox="1"/>
          <p:nvPr/>
        </p:nvSpPr>
        <p:spPr>
          <a:xfrm>
            <a:off x="10088732" y="1270822"/>
            <a:ext cx="1594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5D312D-2899-2C26-A5B2-9CDF598B468D}"/>
              </a:ext>
            </a:extLst>
          </p:cNvPr>
          <p:cNvSpPr txBox="1"/>
          <p:nvPr/>
        </p:nvSpPr>
        <p:spPr>
          <a:xfrm>
            <a:off x="3591636" y="2491915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AC75D-BFEC-0579-F7DF-970A5F206A46}"/>
              </a:ext>
            </a:extLst>
          </p:cNvPr>
          <p:cNvSpPr txBox="1"/>
          <p:nvPr/>
        </p:nvSpPr>
        <p:spPr>
          <a:xfrm>
            <a:off x="3591637" y="3499910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A8416F-A07C-DEB4-319B-B6E47676BFFC}"/>
              </a:ext>
            </a:extLst>
          </p:cNvPr>
          <p:cNvSpPr/>
          <p:nvPr/>
        </p:nvSpPr>
        <p:spPr>
          <a:xfrm>
            <a:off x="7252997" y="2693101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97E6DCA-F759-DC21-5D41-FE02DB77D20D}"/>
              </a:ext>
            </a:extLst>
          </p:cNvPr>
          <p:cNvSpPr/>
          <p:nvPr/>
        </p:nvSpPr>
        <p:spPr>
          <a:xfrm>
            <a:off x="3869717" y="2609328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90482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702A2-B34C-A473-AEB4-C83DCE045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F9CD2-2EA8-CE3A-DAB6-156A7EF3B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7BDC1-C6D1-4FBF-7C54-5660C7AC9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F804ED-D4B8-796B-537A-C6995667C52C}"/>
              </a:ext>
            </a:extLst>
          </p:cNvPr>
          <p:cNvSpPr txBox="1"/>
          <p:nvPr/>
        </p:nvSpPr>
        <p:spPr>
          <a:xfrm>
            <a:off x="118385" y="1918569"/>
            <a:ext cx="29990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Two strings are </a:t>
            </a:r>
            <a:r>
              <a:rPr lang="en-CA" b="1" dirty="0"/>
              <a:t>equal</a:t>
            </a:r>
            <a:r>
              <a:rPr lang="en-CA" dirty="0"/>
              <a:t> if they have the same characters in the same order.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57ABAC-3BE0-0F12-C23C-09D8758B45E8}"/>
              </a:ext>
            </a:extLst>
          </p:cNvPr>
          <p:cNvSpPr txBox="1"/>
          <p:nvPr/>
        </p:nvSpPr>
        <p:spPr>
          <a:xfrm>
            <a:off x="3591636" y="343361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33FE0-43B3-7BBB-BD3B-1FDAD999D5A4}"/>
              </a:ext>
            </a:extLst>
          </p:cNvPr>
          <p:cNvSpPr txBox="1"/>
          <p:nvPr/>
        </p:nvSpPr>
        <p:spPr>
          <a:xfrm>
            <a:off x="10088732" y="343361"/>
            <a:ext cx="1495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9A54C-6944-F29B-618C-E36CFF8F0A81}"/>
              </a:ext>
            </a:extLst>
          </p:cNvPr>
          <p:cNvSpPr txBox="1"/>
          <p:nvPr/>
        </p:nvSpPr>
        <p:spPr>
          <a:xfrm>
            <a:off x="3591636" y="1270822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4BFDC-F598-E437-9E4C-A8FC99088D43}"/>
              </a:ext>
            </a:extLst>
          </p:cNvPr>
          <p:cNvSpPr txBox="1"/>
          <p:nvPr/>
        </p:nvSpPr>
        <p:spPr>
          <a:xfrm>
            <a:off x="10088732" y="1270822"/>
            <a:ext cx="1594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86BB40-75A2-DA5B-AB34-9F8E66C0099A}"/>
              </a:ext>
            </a:extLst>
          </p:cNvPr>
          <p:cNvSpPr txBox="1"/>
          <p:nvPr/>
        </p:nvSpPr>
        <p:spPr>
          <a:xfrm>
            <a:off x="3591636" y="2491915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ADA3A0-B640-A655-E562-73269009A43F}"/>
              </a:ext>
            </a:extLst>
          </p:cNvPr>
          <p:cNvSpPr txBox="1"/>
          <p:nvPr/>
        </p:nvSpPr>
        <p:spPr>
          <a:xfrm>
            <a:off x="10088732" y="2487956"/>
            <a:ext cx="178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DFE1FF-337C-F0A6-4773-9E9EEA804663}"/>
              </a:ext>
            </a:extLst>
          </p:cNvPr>
          <p:cNvSpPr txBox="1"/>
          <p:nvPr/>
        </p:nvSpPr>
        <p:spPr>
          <a:xfrm>
            <a:off x="3591637" y="3499910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82EE5-A423-AD10-D945-D01AC4E5F7FF}"/>
              </a:ext>
            </a:extLst>
          </p:cNvPr>
          <p:cNvSpPr txBox="1"/>
          <p:nvPr/>
        </p:nvSpPr>
        <p:spPr>
          <a:xfrm>
            <a:off x="10088732" y="3459643"/>
            <a:ext cx="1495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7F8B8F-5AA3-BBF8-717E-BB96377AE3A9}"/>
              </a:ext>
            </a:extLst>
          </p:cNvPr>
          <p:cNvSpPr/>
          <p:nvPr/>
        </p:nvSpPr>
        <p:spPr>
          <a:xfrm>
            <a:off x="7252997" y="2693101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509956-8857-5425-7910-4884EF69D5BB}"/>
              </a:ext>
            </a:extLst>
          </p:cNvPr>
          <p:cNvSpPr/>
          <p:nvPr/>
        </p:nvSpPr>
        <p:spPr>
          <a:xfrm>
            <a:off x="3869717" y="2609328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278526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E5F35-C294-24FD-AAE1-62F388FF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75BDA-5BDE-4ACC-F53F-7B8AB69CE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4D3EE-82BD-E02F-D958-39EC55B22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0470D-4125-A4DE-6D40-068D01980671}"/>
              </a:ext>
            </a:extLst>
          </p:cNvPr>
          <p:cNvSpPr txBox="1"/>
          <p:nvPr/>
        </p:nvSpPr>
        <p:spPr>
          <a:xfrm>
            <a:off x="118385" y="1918569"/>
            <a:ext cx="29990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Two strings are </a:t>
            </a:r>
            <a:r>
              <a:rPr lang="en-CA" b="1" dirty="0"/>
              <a:t>equal</a:t>
            </a:r>
            <a:r>
              <a:rPr lang="en-CA" dirty="0"/>
              <a:t> if they have the same characters in the same order.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904B71-D6F4-571A-41A8-FE646C638677}"/>
              </a:ext>
            </a:extLst>
          </p:cNvPr>
          <p:cNvSpPr txBox="1"/>
          <p:nvPr/>
        </p:nvSpPr>
        <p:spPr>
          <a:xfrm>
            <a:off x="3591636" y="343361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D70F5-6B80-CF08-AD58-84BD9657019B}"/>
              </a:ext>
            </a:extLst>
          </p:cNvPr>
          <p:cNvSpPr txBox="1"/>
          <p:nvPr/>
        </p:nvSpPr>
        <p:spPr>
          <a:xfrm>
            <a:off x="10088732" y="343361"/>
            <a:ext cx="1495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A94373-1BDD-6BBF-BB19-2928EB61D891}"/>
              </a:ext>
            </a:extLst>
          </p:cNvPr>
          <p:cNvSpPr txBox="1"/>
          <p:nvPr/>
        </p:nvSpPr>
        <p:spPr>
          <a:xfrm>
            <a:off x="3591636" y="1270822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B68DA-63FF-69AE-9C05-70CAA0FC2683}"/>
              </a:ext>
            </a:extLst>
          </p:cNvPr>
          <p:cNvSpPr txBox="1"/>
          <p:nvPr/>
        </p:nvSpPr>
        <p:spPr>
          <a:xfrm>
            <a:off x="10088732" y="1270822"/>
            <a:ext cx="1594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D35BB-20B4-EED4-5B3A-7B1EB30BB968}"/>
              </a:ext>
            </a:extLst>
          </p:cNvPr>
          <p:cNvSpPr txBox="1"/>
          <p:nvPr/>
        </p:nvSpPr>
        <p:spPr>
          <a:xfrm>
            <a:off x="3591636" y="2491915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1C3819-D65C-6AE1-4204-D3141921ED94}"/>
              </a:ext>
            </a:extLst>
          </p:cNvPr>
          <p:cNvSpPr txBox="1"/>
          <p:nvPr/>
        </p:nvSpPr>
        <p:spPr>
          <a:xfrm>
            <a:off x="10088732" y="2487956"/>
            <a:ext cx="178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2A0AC-3978-1D44-4965-7C921AD5EB26}"/>
              </a:ext>
            </a:extLst>
          </p:cNvPr>
          <p:cNvSpPr txBox="1"/>
          <p:nvPr/>
        </p:nvSpPr>
        <p:spPr>
          <a:xfrm>
            <a:off x="3591637" y="3499910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797BB4-B166-27AA-D786-094531B98855}"/>
              </a:ext>
            </a:extLst>
          </p:cNvPr>
          <p:cNvSpPr txBox="1"/>
          <p:nvPr/>
        </p:nvSpPr>
        <p:spPr>
          <a:xfrm>
            <a:off x="10088732" y="3459643"/>
            <a:ext cx="1495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3F2254-5E1B-249A-09BC-77C61220C338}"/>
              </a:ext>
            </a:extLst>
          </p:cNvPr>
          <p:cNvSpPr txBox="1"/>
          <p:nvPr/>
        </p:nvSpPr>
        <p:spPr>
          <a:xfrm>
            <a:off x="3591636" y="4717044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51BC90-786D-B12D-B52F-EE464E5FBADD}"/>
              </a:ext>
            </a:extLst>
          </p:cNvPr>
          <p:cNvSpPr txBox="1"/>
          <p:nvPr/>
        </p:nvSpPr>
        <p:spPr>
          <a:xfrm>
            <a:off x="3591636" y="5543927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DFC13E-1B1C-9FBB-CC2A-274F6F676573}"/>
              </a:ext>
            </a:extLst>
          </p:cNvPr>
          <p:cNvSpPr/>
          <p:nvPr/>
        </p:nvSpPr>
        <p:spPr>
          <a:xfrm>
            <a:off x="7252997" y="2693101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0C88F7-B137-7085-90E9-8A173CF78F77}"/>
              </a:ext>
            </a:extLst>
          </p:cNvPr>
          <p:cNvSpPr/>
          <p:nvPr/>
        </p:nvSpPr>
        <p:spPr>
          <a:xfrm>
            <a:off x="3869717" y="2609328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182A31-45B2-8337-2FAA-B3C087114FC1}"/>
              </a:ext>
            </a:extLst>
          </p:cNvPr>
          <p:cNvSpPr/>
          <p:nvPr/>
        </p:nvSpPr>
        <p:spPr>
          <a:xfrm>
            <a:off x="5363237" y="4838416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77A6FB-7B01-4673-2434-3AA71CC3F534}"/>
              </a:ext>
            </a:extLst>
          </p:cNvPr>
          <p:cNvSpPr/>
          <p:nvPr/>
        </p:nvSpPr>
        <p:spPr>
          <a:xfrm>
            <a:off x="8610600" y="4845646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56275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607D-B81A-C52F-EA93-672477F4B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6551D-37D9-102B-CBE3-B2AECD9F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C1BB-4A2E-001D-751F-DCCD00C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01E639-1F47-EFC6-EB9F-0C88B36A7055}"/>
              </a:ext>
            </a:extLst>
          </p:cNvPr>
          <p:cNvSpPr txBox="1"/>
          <p:nvPr/>
        </p:nvSpPr>
        <p:spPr>
          <a:xfrm>
            <a:off x="118385" y="1918569"/>
            <a:ext cx="2999036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Two strings are </a:t>
            </a:r>
            <a:r>
              <a:rPr lang="en-CA" b="1" dirty="0"/>
              <a:t>equal</a:t>
            </a:r>
            <a:r>
              <a:rPr lang="en-CA" dirty="0"/>
              <a:t> if they have the same characters in the same order.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9EF00C-A7FD-52FA-F7C2-DDB1756EE5A5}"/>
              </a:ext>
            </a:extLst>
          </p:cNvPr>
          <p:cNvSpPr txBox="1"/>
          <p:nvPr/>
        </p:nvSpPr>
        <p:spPr>
          <a:xfrm>
            <a:off x="3591636" y="343361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80170B-EAC6-1E91-83AB-C149E93F136F}"/>
              </a:ext>
            </a:extLst>
          </p:cNvPr>
          <p:cNvSpPr txBox="1"/>
          <p:nvPr/>
        </p:nvSpPr>
        <p:spPr>
          <a:xfrm>
            <a:off x="10088732" y="343361"/>
            <a:ext cx="1495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A9428-2CA2-8246-7942-4544AE0BA301}"/>
              </a:ext>
            </a:extLst>
          </p:cNvPr>
          <p:cNvSpPr txBox="1"/>
          <p:nvPr/>
        </p:nvSpPr>
        <p:spPr>
          <a:xfrm>
            <a:off x="3591636" y="1270822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F6C599-6E9C-F023-64A7-0BE002BA347A}"/>
              </a:ext>
            </a:extLst>
          </p:cNvPr>
          <p:cNvSpPr txBox="1"/>
          <p:nvPr/>
        </p:nvSpPr>
        <p:spPr>
          <a:xfrm>
            <a:off x="10088732" y="1270822"/>
            <a:ext cx="1594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3D97FC-D20E-550E-006A-F071DD566F3C}"/>
              </a:ext>
            </a:extLst>
          </p:cNvPr>
          <p:cNvSpPr txBox="1"/>
          <p:nvPr/>
        </p:nvSpPr>
        <p:spPr>
          <a:xfrm>
            <a:off x="3591636" y="2491915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7C15A-C118-B66F-CE75-3E648C4B9373}"/>
              </a:ext>
            </a:extLst>
          </p:cNvPr>
          <p:cNvSpPr txBox="1"/>
          <p:nvPr/>
        </p:nvSpPr>
        <p:spPr>
          <a:xfrm>
            <a:off x="10088732" y="2487956"/>
            <a:ext cx="178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A84BBE-827D-36EF-C262-1F0B269E5CA9}"/>
              </a:ext>
            </a:extLst>
          </p:cNvPr>
          <p:cNvSpPr txBox="1"/>
          <p:nvPr/>
        </p:nvSpPr>
        <p:spPr>
          <a:xfrm>
            <a:off x="3591637" y="3499910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!= 'paper!'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F1B094-0B43-8A14-07FD-C3842DF18C76}"/>
              </a:ext>
            </a:extLst>
          </p:cNvPr>
          <p:cNvSpPr txBox="1"/>
          <p:nvPr/>
        </p:nvSpPr>
        <p:spPr>
          <a:xfrm>
            <a:off x="10088732" y="3459643"/>
            <a:ext cx="14952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FA298D-211E-8DD8-660A-82287D71219C}"/>
              </a:ext>
            </a:extLst>
          </p:cNvPr>
          <p:cNvSpPr txBox="1"/>
          <p:nvPr/>
        </p:nvSpPr>
        <p:spPr>
          <a:xfrm>
            <a:off x="3591636" y="4717044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9892D7-FDDB-E4B3-6065-8C045FB82CF3}"/>
              </a:ext>
            </a:extLst>
          </p:cNvPr>
          <p:cNvSpPr txBox="1"/>
          <p:nvPr/>
        </p:nvSpPr>
        <p:spPr>
          <a:xfrm>
            <a:off x="10088732" y="4717044"/>
            <a:ext cx="178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False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A7C4A-3156-F7FC-0C4A-1827962EC794}"/>
              </a:ext>
            </a:extLst>
          </p:cNvPr>
          <p:cNvSpPr txBox="1"/>
          <p:nvPr/>
        </p:nvSpPr>
        <p:spPr>
          <a:xfrm>
            <a:off x="3591636" y="5543927"/>
            <a:ext cx="60228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Consolas" panose="020B0609020204030204" pitchFamily="49" charset="0"/>
              </a:rPr>
              <a:t>'Paper!' == 'Paper'</a:t>
            </a:r>
            <a:endParaRPr lang="en-US" sz="28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D33E8A-C72E-5BBB-5FA3-F7ADD99CFE6F}"/>
              </a:ext>
            </a:extLst>
          </p:cNvPr>
          <p:cNvSpPr txBox="1"/>
          <p:nvPr/>
        </p:nvSpPr>
        <p:spPr>
          <a:xfrm>
            <a:off x="10088732" y="5543927"/>
            <a:ext cx="17807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True</a:t>
            </a:r>
            <a:endParaRPr lang="en-US" sz="2800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9091CD-B477-86F9-8A7C-F28D4CF1EC22}"/>
              </a:ext>
            </a:extLst>
          </p:cNvPr>
          <p:cNvSpPr/>
          <p:nvPr/>
        </p:nvSpPr>
        <p:spPr>
          <a:xfrm>
            <a:off x="7252997" y="2693101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91DF95-F20E-48F7-9784-C81AB61A929A}"/>
              </a:ext>
            </a:extLst>
          </p:cNvPr>
          <p:cNvSpPr/>
          <p:nvPr/>
        </p:nvSpPr>
        <p:spPr>
          <a:xfrm>
            <a:off x="3869717" y="2609328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EFBE2A-B325-10DA-4907-BD64AFD23B1C}"/>
              </a:ext>
            </a:extLst>
          </p:cNvPr>
          <p:cNvSpPr/>
          <p:nvPr/>
        </p:nvSpPr>
        <p:spPr>
          <a:xfrm>
            <a:off x="5363237" y="4838416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D0A4FF-C5BC-4149-54D6-25825FDB54B5}"/>
              </a:ext>
            </a:extLst>
          </p:cNvPr>
          <p:cNvSpPr/>
          <p:nvPr/>
        </p:nvSpPr>
        <p:spPr>
          <a:xfrm>
            <a:off x="8610600" y="4845646"/>
            <a:ext cx="377163" cy="465142"/>
          </a:xfrm>
          <a:prstGeom prst="rect">
            <a:avLst/>
          </a:prstGeom>
          <a:solidFill>
            <a:srgbClr val="FF0000">
              <a:alpha val="258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07864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211BA-F868-3392-437F-8C3AE730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ED06F-00B6-10A5-5FE5-5E81B1A3C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Comparing</a:t>
            </a:r>
            <a:br>
              <a:rPr lang="en-CA" dirty="0"/>
            </a:br>
            <a:r>
              <a:rPr lang="en-CA" dirty="0"/>
              <a:t>Strings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815E2-5322-5D80-14D6-50518906C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56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DAA3BF-EA68-3475-28FE-97AE4BB69E54}"/>
              </a:ext>
            </a:extLst>
          </p:cNvPr>
          <p:cNvSpPr txBox="1"/>
          <p:nvPr/>
        </p:nvSpPr>
        <p:spPr>
          <a:xfrm>
            <a:off x="331434" y="1909691"/>
            <a:ext cx="3642896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Write a Boolean function called </a:t>
            </a:r>
            <a:r>
              <a:rPr lang="en-CA" dirty="0">
                <a:latin typeface="Consolas" panose="020B0609020204030204" pitchFamily="49" charset="0"/>
              </a:rPr>
              <a:t>same(s, t)</a:t>
            </a:r>
            <a:r>
              <a:rPr lang="en-CA" dirty="0"/>
              <a:t> that returns </a:t>
            </a:r>
            <a:r>
              <a:rPr lang="en-CA" dirty="0">
                <a:latin typeface="Consolas" panose="020B0609020204030204" pitchFamily="49" charset="0"/>
              </a:rPr>
              <a:t>True</a:t>
            </a:r>
            <a:r>
              <a:rPr lang="en-CA" dirty="0"/>
              <a:t> if </a:t>
            </a:r>
            <a:r>
              <a:rPr lang="en-CA" dirty="0">
                <a:latin typeface="Consolas" panose="020B0609020204030204" pitchFamily="49" charset="0"/>
              </a:rPr>
              <a:t>s == t</a:t>
            </a:r>
            <a:r>
              <a:rPr lang="en-CA" dirty="0"/>
              <a:t>, and </a:t>
            </a:r>
            <a:r>
              <a:rPr lang="en-CA" dirty="0">
                <a:latin typeface="Consolas" panose="020B0609020204030204" pitchFamily="49" charset="0"/>
              </a:rPr>
              <a:t>False</a:t>
            </a:r>
            <a:r>
              <a:rPr lang="en-CA" dirty="0"/>
              <a:t> otherwise. </a:t>
            </a:r>
            <a:br>
              <a:rPr lang="en-CA" dirty="0"/>
            </a:br>
            <a:r>
              <a:rPr lang="en-CA" b="1" dirty="0"/>
              <a:t>Do not </a:t>
            </a:r>
            <a:r>
              <a:rPr lang="en-CA" dirty="0"/>
              <a:t>use </a:t>
            </a:r>
            <a:r>
              <a:rPr lang="en-CA" dirty="0">
                <a:latin typeface="Consolas" panose="020B0609020204030204" pitchFamily="49" charset="0"/>
              </a:rPr>
              <a:t>==</a:t>
            </a:r>
            <a:r>
              <a:rPr lang="en-CA" dirty="0"/>
              <a:t> or </a:t>
            </a:r>
            <a:r>
              <a:rPr lang="en-CA" dirty="0">
                <a:latin typeface="Consolas" panose="020B0609020204030204" pitchFamily="49" charset="0"/>
              </a:rPr>
              <a:t>!= </a:t>
            </a:r>
            <a:r>
              <a:rPr lang="en-CA" dirty="0"/>
              <a:t>or </a:t>
            </a:r>
            <a:r>
              <a:rPr lang="en-CA" dirty="0">
                <a:latin typeface="Consolas" panose="020B0609020204030204" pitchFamily="49" charset="0"/>
              </a:rPr>
              <a:t>&lt;</a:t>
            </a:r>
            <a:r>
              <a:rPr lang="en-CA" dirty="0"/>
              <a:t> etc. except to compare single characters. 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62FD6E-9FED-884C-D53C-0B94D10532CA}"/>
              </a:ext>
            </a:extLst>
          </p:cNvPr>
          <p:cNvSpPr txBox="1"/>
          <p:nvPr/>
        </p:nvSpPr>
        <p:spPr>
          <a:xfrm>
            <a:off x="4422468" y="666639"/>
            <a:ext cx="75904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same(s, t):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"""Returns True if s == t, False 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otherwise.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"""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38F1AE-91DC-CDF9-1AA4-E9DCEDDDD380}"/>
              </a:ext>
            </a:extLst>
          </p:cNvPr>
          <p:cNvSpPr txBox="1"/>
          <p:nvPr/>
        </p:nvSpPr>
        <p:spPr>
          <a:xfrm>
            <a:off x="5001317" y="2321354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099D69-FD29-7F2E-A089-8935DB177822}"/>
              </a:ext>
            </a:extLst>
          </p:cNvPr>
          <p:cNvSpPr txBox="1"/>
          <p:nvPr/>
        </p:nvSpPr>
        <p:spPr>
          <a:xfrm>
            <a:off x="4472094" y="3573581"/>
            <a:ext cx="749115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def </a:t>
            </a:r>
            <a:r>
              <a:rPr lang="en-CA" sz="2400" dirty="0" err="1">
                <a:latin typeface="Consolas" panose="020B0609020204030204" pitchFamily="49" charset="0"/>
              </a:rPr>
              <a:t>test_same</a:t>
            </a:r>
            <a:r>
              <a:rPr lang="en-CA" sz="2400" dirty="0">
                <a:latin typeface="Consolas" panose="020B0609020204030204" pitchFamily="49" charset="0"/>
              </a:rPr>
              <a:t>():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print('testing same ...')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same('hello', 'hello') == True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same('hello', '</a:t>
            </a:r>
            <a:r>
              <a:rPr lang="en-CA" sz="2400" dirty="0" err="1">
                <a:latin typeface="Consolas" panose="020B0609020204030204" pitchFamily="49" charset="0"/>
              </a:rPr>
              <a:t>ello</a:t>
            </a:r>
            <a:r>
              <a:rPr lang="en-CA" sz="2400" dirty="0">
                <a:latin typeface="Consolas" panose="020B0609020204030204" pitchFamily="49" charset="0"/>
              </a:rPr>
              <a:t>') == False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same('hello', 'Hello') == False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same('', '') == True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same('', 'a') == False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 ...all same tests passed')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C3EDD6-29F7-9700-E782-F25CF0825BEE}"/>
              </a:ext>
            </a:extLst>
          </p:cNvPr>
          <p:cNvSpPr txBox="1"/>
          <p:nvPr/>
        </p:nvSpPr>
        <p:spPr>
          <a:xfrm>
            <a:off x="1917978" y="4580208"/>
            <a:ext cx="230523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Use this test function to help write it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296739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E6017-ACF3-EA48-5406-D10ABA83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937F-35F8-A14C-40A1-098506BFB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Reversing a</a:t>
            </a:r>
            <a:br>
              <a:rPr lang="en-CA" dirty="0"/>
            </a:br>
            <a:r>
              <a:rPr lang="en-CA" dirty="0"/>
              <a:t>String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22EE1-1395-9E91-0E46-12BE3956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0125B9-6D30-C7FE-5084-33116636D937}"/>
              </a:ext>
            </a:extLst>
          </p:cNvPr>
          <p:cNvSpPr txBox="1"/>
          <p:nvPr/>
        </p:nvSpPr>
        <p:spPr>
          <a:xfrm>
            <a:off x="331434" y="1909691"/>
            <a:ext cx="3642896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Write a function called </a:t>
            </a:r>
            <a:r>
              <a:rPr lang="en-CA" dirty="0">
                <a:latin typeface="Consolas" panose="020B0609020204030204" pitchFamily="49" charset="0"/>
              </a:rPr>
              <a:t>reverse(s)</a:t>
            </a:r>
            <a:r>
              <a:rPr lang="en-CA" dirty="0"/>
              <a:t> that returns a copy of string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 with its characters in reverse order.</a:t>
            </a:r>
            <a:br>
              <a:rPr lang="en-CA" dirty="0"/>
            </a:br>
            <a:r>
              <a:rPr lang="en-CA" b="1" dirty="0"/>
              <a:t>Don’t</a:t>
            </a:r>
            <a:r>
              <a:rPr lang="en-CA" dirty="0"/>
              <a:t> use any built-in Python reversing functions. 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5CF22-D11E-55E8-BBB2-1F6E919F2566}"/>
              </a:ext>
            </a:extLst>
          </p:cNvPr>
          <p:cNvSpPr txBox="1"/>
          <p:nvPr/>
        </p:nvSpPr>
        <p:spPr>
          <a:xfrm>
            <a:off x="4422468" y="666639"/>
            <a:ext cx="75904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reverse(s):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"""Returns a copy of s reversed.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E.g. 'cat' becomes 'tac'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"""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D2BCF8-E4E1-CC4E-A0F7-DB7B0E89F046}"/>
              </a:ext>
            </a:extLst>
          </p:cNvPr>
          <p:cNvSpPr txBox="1"/>
          <p:nvPr/>
        </p:nvSpPr>
        <p:spPr>
          <a:xfrm>
            <a:off x="5001317" y="2321354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D509AA-0E9B-953B-D488-65B6A7F52CB0}"/>
              </a:ext>
            </a:extLst>
          </p:cNvPr>
          <p:cNvSpPr txBox="1"/>
          <p:nvPr/>
        </p:nvSpPr>
        <p:spPr>
          <a:xfrm>
            <a:off x="4321173" y="3441680"/>
            <a:ext cx="7491153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def </a:t>
            </a:r>
            <a:r>
              <a:rPr lang="en-CA" sz="2400" dirty="0" err="1">
                <a:latin typeface="Consolas" panose="020B0609020204030204" pitchFamily="49" charset="0"/>
              </a:rPr>
              <a:t>test_reverse</a:t>
            </a:r>
            <a:r>
              <a:rPr lang="en-CA" sz="2400" dirty="0">
                <a:latin typeface="Consolas" panose="020B0609020204030204" pitchFamily="49" charset="0"/>
              </a:rPr>
              <a:t>():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print('testing reverse ...')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reverse('') == ''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reverse('a') == 'a'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reverse('ab') == '</a:t>
            </a:r>
            <a:r>
              <a:rPr lang="en-CA" sz="2400" dirty="0" err="1">
                <a:latin typeface="Consolas" panose="020B0609020204030204" pitchFamily="49" charset="0"/>
              </a:rPr>
              <a:t>ba</a:t>
            </a:r>
            <a:r>
              <a:rPr lang="en-CA" sz="2400" dirty="0">
                <a:latin typeface="Consolas" panose="020B0609020204030204" pitchFamily="49" charset="0"/>
              </a:rPr>
              <a:t>'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reverse('</a:t>
            </a:r>
            <a:r>
              <a:rPr lang="en-CA" sz="2400" dirty="0" err="1">
                <a:latin typeface="Consolas" panose="020B0609020204030204" pitchFamily="49" charset="0"/>
              </a:rPr>
              <a:t>abc</a:t>
            </a:r>
            <a:r>
              <a:rPr lang="en-CA" sz="2400" dirty="0">
                <a:latin typeface="Consolas" panose="020B0609020204030204" pitchFamily="49" charset="0"/>
              </a:rPr>
              <a:t>') == 'cba'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reverse('hello!') == '!</a:t>
            </a:r>
            <a:r>
              <a:rPr lang="en-CA" sz="2400" dirty="0" err="1">
                <a:latin typeface="Consolas" panose="020B0609020204030204" pitchFamily="49" charset="0"/>
              </a:rPr>
              <a:t>olleh</a:t>
            </a:r>
            <a:r>
              <a:rPr lang="en-CA" sz="2400" dirty="0">
                <a:latin typeface="Consolas" panose="020B0609020204030204" pitchFamily="49" charset="0"/>
              </a:rPr>
              <a:t>'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reverse('</a:t>
            </a:r>
            <a:r>
              <a:rPr lang="en-CA" sz="2400" dirty="0" err="1">
                <a:latin typeface="Consolas" panose="020B0609020204030204" pitchFamily="49" charset="0"/>
              </a:rPr>
              <a:t>racecar</a:t>
            </a:r>
            <a:r>
              <a:rPr lang="en-CA" sz="2400" dirty="0">
                <a:latin typeface="Consolas" panose="020B0609020204030204" pitchFamily="49" charset="0"/>
              </a:rPr>
              <a:t>') == '</a:t>
            </a:r>
            <a:r>
              <a:rPr lang="en-CA" sz="2400" dirty="0" err="1">
                <a:latin typeface="Consolas" panose="020B0609020204030204" pitchFamily="49" charset="0"/>
              </a:rPr>
              <a:t>racecar</a:t>
            </a:r>
            <a:r>
              <a:rPr lang="en-CA" sz="2400" dirty="0">
                <a:latin typeface="Consolas" panose="020B0609020204030204" pitchFamily="49" charset="0"/>
              </a:rPr>
              <a:t>'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 ...all reverse tests passed')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5F84C-2545-3D44-508E-739EC25D47D2}"/>
              </a:ext>
            </a:extLst>
          </p:cNvPr>
          <p:cNvSpPr txBox="1"/>
          <p:nvPr/>
        </p:nvSpPr>
        <p:spPr>
          <a:xfrm>
            <a:off x="1917978" y="4580208"/>
            <a:ext cx="230523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Use this test function to help write it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56164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D4CE-6F72-01B2-0B08-BCB2678A4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CF4A0-EED9-FCFF-3033-E7DA527B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Checking</a:t>
            </a:r>
            <a:br>
              <a:rPr lang="en-CA" dirty="0"/>
            </a:br>
            <a:r>
              <a:rPr lang="en-CA" dirty="0"/>
              <a:t>Palindromes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2A6E5-9A0A-D0A1-EB36-7C033009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2D1A3-2F76-3133-F59F-C279E0A46F33}"/>
              </a:ext>
            </a:extLst>
          </p:cNvPr>
          <p:cNvSpPr txBox="1"/>
          <p:nvPr/>
        </p:nvSpPr>
        <p:spPr>
          <a:xfrm>
            <a:off x="94904" y="1346254"/>
            <a:ext cx="3642896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Write a Boolean function called </a:t>
            </a:r>
            <a:r>
              <a:rPr lang="en-CA" dirty="0" err="1">
                <a:latin typeface="Consolas" panose="020B0609020204030204" pitchFamily="49" charset="0"/>
              </a:rPr>
              <a:t>is_palindrome</a:t>
            </a:r>
            <a:r>
              <a:rPr lang="en-CA" dirty="0">
                <a:latin typeface="Consolas" panose="020B0609020204030204" pitchFamily="49" charset="0"/>
              </a:rPr>
              <a:t>(s)</a:t>
            </a:r>
            <a:r>
              <a:rPr lang="en-CA" dirty="0"/>
              <a:t> that returns </a:t>
            </a:r>
            <a:r>
              <a:rPr lang="en-CA" dirty="0">
                <a:latin typeface="Consolas" panose="020B0609020204030204" pitchFamily="49" charset="0"/>
              </a:rPr>
              <a:t>True</a:t>
            </a:r>
            <a:r>
              <a:rPr lang="en-CA" dirty="0"/>
              <a:t> if </a:t>
            </a:r>
            <a:r>
              <a:rPr lang="en-CA" dirty="0">
                <a:latin typeface="Consolas" panose="020B0609020204030204" pitchFamily="49" charset="0"/>
              </a:rPr>
              <a:t>s</a:t>
            </a:r>
            <a:r>
              <a:rPr lang="en-CA" dirty="0"/>
              <a:t> is a palindrome, i.e. equal to its reverse, and </a:t>
            </a:r>
            <a:r>
              <a:rPr lang="en-CA" dirty="0">
                <a:latin typeface="Consolas" panose="020B0609020204030204" pitchFamily="49" charset="0"/>
              </a:rPr>
              <a:t>False</a:t>
            </a:r>
            <a:r>
              <a:rPr lang="en-CA" dirty="0"/>
              <a:t> otherwise.</a:t>
            </a:r>
            <a:br>
              <a:rPr lang="en-CA" dirty="0"/>
            </a:br>
            <a:r>
              <a:rPr lang="en-CA" b="1" dirty="0"/>
              <a:t>Don’t</a:t>
            </a:r>
            <a:r>
              <a:rPr lang="en-CA" dirty="0"/>
              <a:t> use any built-in Python reversing functions. 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45B8C8-F4EA-F634-B5FB-BD1306A22E3B}"/>
              </a:ext>
            </a:extLst>
          </p:cNvPr>
          <p:cNvSpPr txBox="1"/>
          <p:nvPr/>
        </p:nvSpPr>
        <p:spPr>
          <a:xfrm>
            <a:off x="3974330" y="93809"/>
            <a:ext cx="75904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def </a:t>
            </a:r>
            <a:r>
              <a:rPr lang="en-US" sz="2800" dirty="0" err="1">
                <a:latin typeface="Consolas" panose="020B0609020204030204" pitchFamily="49" charset="0"/>
              </a:rPr>
              <a:t>is_palindrome</a:t>
            </a:r>
            <a:r>
              <a:rPr lang="en-US" sz="2800" dirty="0">
                <a:latin typeface="Consolas" panose="020B0609020204030204" pitchFamily="49" charset="0"/>
              </a:rPr>
              <a:t>(s):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"""Returns True if s is a </a:t>
            </a:r>
          </a:p>
          <a:p>
            <a:r>
              <a:rPr lang="en-US" sz="2800" dirty="0">
                <a:latin typeface="Consolas" panose="020B0609020204030204" pitchFamily="49" charset="0"/>
              </a:rPr>
              <a:t>   palindrome, False otherwise.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   """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4043B5-B065-F61A-1871-3C75916C15ED}"/>
              </a:ext>
            </a:extLst>
          </p:cNvPr>
          <p:cNvSpPr txBox="1"/>
          <p:nvPr/>
        </p:nvSpPr>
        <p:spPr>
          <a:xfrm>
            <a:off x="4553179" y="1748524"/>
            <a:ext cx="13436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6000" dirty="0">
                <a:solidFill>
                  <a:srgbClr val="FF0000"/>
                </a:solidFill>
              </a:rPr>
              <a:t>???</a:t>
            </a:r>
            <a:endParaRPr lang="en-AU" sz="60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5556E1-000F-E28A-3031-7E2B7315964C}"/>
              </a:ext>
            </a:extLst>
          </p:cNvPr>
          <p:cNvSpPr txBox="1"/>
          <p:nvPr/>
        </p:nvSpPr>
        <p:spPr>
          <a:xfrm>
            <a:off x="3974330" y="3193105"/>
            <a:ext cx="817082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>
                <a:latin typeface="Consolas" panose="020B0609020204030204" pitchFamily="49" charset="0"/>
              </a:rPr>
              <a:t>def </a:t>
            </a:r>
            <a:r>
              <a:rPr lang="en-CA" sz="2400" dirty="0" err="1">
                <a:latin typeface="Consolas" panose="020B0609020204030204" pitchFamily="49" charset="0"/>
              </a:rPr>
              <a:t>test_is_palindrome</a:t>
            </a:r>
            <a:r>
              <a:rPr lang="en-CA" sz="2400" dirty="0">
                <a:latin typeface="Consolas" panose="020B0609020204030204" pitchFamily="49" charset="0"/>
              </a:rPr>
              <a:t>():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print('testing </a:t>
            </a:r>
            <a:r>
              <a:rPr lang="en-CA" sz="2400" dirty="0" err="1">
                <a:latin typeface="Consolas" panose="020B0609020204030204" pitchFamily="49" charset="0"/>
              </a:rPr>
              <a:t>is_palindrome</a:t>
            </a:r>
            <a:r>
              <a:rPr lang="en-CA" sz="2400" dirty="0">
                <a:latin typeface="Consolas" panose="020B0609020204030204" pitchFamily="49" charset="0"/>
              </a:rPr>
              <a:t> ...')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</a:t>
            </a:r>
            <a:r>
              <a:rPr lang="en-CA" sz="2400" dirty="0" err="1">
                <a:latin typeface="Consolas" panose="020B0609020204030204" pitchFamily="49" charset="0"/>
              </a:rPr>
              <a:t>is_palindrome</a:t>
            </a:r>
            <a:r>
              <a:rPr lang="en-CA" sz="2400" dirty="0">
                <a:latin typeface="Consolas" panose="020B0609020204030204" pitchFamily="49" charset="0"/>
              </a:rPr>
              <a:t>('') == True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</a:t>
            </a:r>
            <a:r>
              <a:rPr lang="en-CA" sz="2400" dirty="0" err="1">
                <a:latin typeface="Consolas" panose="020B0609020204030204" pitchFamily="49" charset="0"/>
              </a:rPr>
              <a:t>is_palindrome</a:t>
            </a:r>
            <a:r>
              <a:rPr lang="en-CA" sz="2400" dirty="0">
                <a:latin typeface="Consolas" panose="020B0609020204030204" pitchFamily="49" charset="0"/>
              </a:rPr>
              <a:t>('a') == True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</a:t>
            </a:r>
            <a:r>
              <a:rPr lang="en-CA" sz="2400" dirty="0" err="1">
                <a:latin typeface="Consolas" panose="020B0609020204030204" pitchFamily="49" charset="0"/>
              </a:rPr>
              <a:t>is_palindrome</a:t>
            </a:r>
            <a:r>
              <a:rPr lang="en-CA" sz="2400" dirty="0">
                <a:latin typeface="Consolas" panose="020B0609020204030204" pitchFamily="49" charset="0"/>
              </a:rPr>
              <a:t>('ab') == False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</a:t>
            </a:r>
            <a:r>
              <a:rPr lang="en-CA" sz="2400" dirty="0" err="1">
                <a:latin typeface="Consolas" panose="020B0609020204030204" pitchFamily="49" charset="0"/>
              </a:rPr>
              <a:t>is_palindrome</a:t>
            </a:r>
            <a:r>
              <a:rPr lang="en-CA" sz="2400" dirty="0">
                <a:latin typeface="Consolas" panose="020B0609020204030204" pitchFamily="49" charset="0"/>
              </a:rPr>
              <a:t>('aa') == True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</a:t>
            </a:r>
            <a:r>
              <a:rPr lang="en-CA" sz="2400" dirty="0" err="1">
                <a:latin typeface="Consolas" panose="020B0609020204030204" pitchFamily="49" charset="0"/>
              </a:rPr>
              <a:t>is_palindrome</a:t>
            </a:r>
            <a:r>
              <a:rPr lang="en-CA" sz="2400" dirty="0">
                <a:latin typeface="Consolas" panose="020B0609020204030204" pitchFamily="49" charset="0"/>
              </a:rPr>
              <a:t>('</a:t>
            </a:r>
            <a:r>
              <a:rPr lang="en-CA" sz="2400" dirty="0" err="1">
                <a:latin typeface="Consolas" panose="020B0609020204030204" pitchFamily="49" charset="0"/>
              </a:rPr>
              <a:t>aaa</a:t>
            </a:r>
            <a:r>
              <a:rPr lang="en-CA" sz="2400" dirty="0">
                <a:latin typeface="Consolas" panose="020B0609020204030204" pitchFamily="49" charset="0"/>
              </a:rPr>
              <a:t>') == True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assert </a:t>
            </a:r>
            <a:r>
              <a:rPr lang="en-CA" sz="2400" dirty="0" err="1">
                <a:latin typeface="Consolas" panose="020B0609020204030204" pitchFamily="49" charset="0"/>
              </a:rPr>
              <a:t>is_palindrome</a:t>
            </a:r>
            <a:r>
              <a:rPr lang="en-CA" sz="2400" dirty="0">
                <a:latin typeface="Consolas" panose="020B0609020204030204" pitchFamily="49" charset="0"/>
              </a:rPr>
              <a:t>('</a:t>
            </a:r>
            <a:r>
              <a:rPr lang="en-CA" sz="2400" dirty="0" err="1">
                <a:latin typeface="Consolas" panose="020B0609020204030204" pitchFamily="49" charset="0"/>
              </a:rPr>
              <a:t>racecar</a:t>
            </a:r>
            <a:r>
              <a:rPr lang="en-CA" sz="2400" dirty="0">
                <a:latin typeface="Consolas" panose="020B0609020204030204" pitchFamily="49" charset="0"/>
              </a:rPr>
              <a:t>') == True</a:t>
            </a:r>
          </a:p>
          <a:p>
            <a:r>
              <a:rPr lang="en-CA" sz="2400" dirty="0">
                <a:latin typeface="Consolas" panose="020B0609020204030204" pitchFamily="49" charset="0"/>
              </a:rPr>
              <a:t>    print(' ...all </a:t>
            </a:r>
            <a:r>
              <a:rPr lang="en-CA" sz="2400" dirty="0" err="1">
                <a:latin typeface="Consolas" panose="020B0609020204030204" pitchFamily="49" charset="0"/>
              </a:rPr>
              <a:t>is_palindrome</a:t>
            </a:r>
            <a:r>
              <a:rPr lang="en-CA" sz="2400" dirty="0">
                <a:latin typeface="Consolas" panose="020B0609020204030204" pitchFamily="49" charset="0"/>
              </a:rPr>
              <a:t> tests passed')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51DF91-82B6-68A1-12B7-FACDA4FE08DE}"/>
              </a:ext>
            </a:extLst>
          </p:cNvPr>
          <p:cNvSpPr txBox="1"/>
          <p:nvPr/>
        </p:nvSpPr>
        <p:spPr>
          <a:xfrm>
            <a:off x="2242864" y="4865415"/>
            <a:ext cx="230523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Use this test function to help write it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43351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95D5-55AF-6397-FAA5-EFB0D048E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1B97B-B609-BDAE-F42D-DD7494A3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Writing to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59688A-939F-CFA6-69F8-463E960C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DEF67-218C-841B-B20B-8C324A7C8A78}"/>
              </a:ext>
            </a:extLst>
          </p:cNvPr>
          <p:cNvSpPr txBox="1"/>
          <p:nvPr/>
        </p:nvSpPr>
        <p:spPr>
          <a:xfrm>
            <a:off x="2933898" y="238385"/>
            <a:ext cx="364289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write to a text file, you must first open it with the </a:t>
            </a:r>
            <a:r>
              <a:rPr lang="en-CA" dirty="0">
                <a:latin typeface="Consolas" panose="020B0609020204030204" pitchFamily="49" charset="0"/>
              </a:rPr>
              <a:t>'w'</a:t>
            </a:r>
            <a:r>
              <a:rPr lang="en-CA" dirty="0"/>
              <a:t> option.</a:t>
            </a:r>
            <a:br>
              <a:rPr lang="en-CA" dirty="0"/>
            </a:br>
            <a:r>
              <a:rPr lang="en-CA" dirty="0"/>
              <a:t>Then use file object’s </a:t>
            </a:r>
            <a:r>
              <a:rPr lang="en-CA" dirty="0">
                <a:latin typeface="Consolas" panose="020B0609020204030204" pitchFamily="49" charset="0"/>
              </a:rPr>
              <a:t>write</a:t>
            </a:r>
            <a:r>
              <a:rPr lang="en-CA" dirty="0"/>
              <a:t> method append strings to it.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2F4F5-8F19-596D-0BFF-4FDA01B972E6}"/>
              </a:ext>
            </a:extLst>
          </p:cNvPr>
          <p:cNvSpPr txBox="1"/>
          <p:nvPr/>
        </p:nvSpPr>
        <p:spPr>
          <a:xfrm>
            <a:off x="621528" y="2112170"/>
            <a:ext cx="7590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open('todo.txt',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'w'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41844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F786B-3510-67DD-3B3A-C9F798AEC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4DE2-AEAE-FEAC-046A-678376846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Writing to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31EC3-6AD0-C9EF-73ED-2CBFFD734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B9FEA-CA8B-24D9-1C90-DCBA0050B945}"/>
              </a:ext>
            </a:extLst>
          </p:cNvPr>
          <p:cNvSpPr txBox="1"/>
          <p:nvPr/>
        </p:nvSpPr>
        <p:spPr>
          <a:xfrm>
            <a:off x="2933898" y="238385"/>
            <a:ext cx="364289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write to a text file, you must first open it with the </a:t>
            </a:r>
            <a:r>
              <a:rPr lang="en-CA" dirty="0">
                <a:latin typeface="Consolas" panose="020B0609020204030204" pitchFamily="49" charset="0"/>
              </a:rPr>
              <a:t>'w'</a:t>
            </a:r>
            <a:r>
              <a:rPr lang="en-CA" dirty="0"/>
              <a:t> option.</a:t>
            </a:r>
            <a:br>
              <a:rPr lang="en-CA" dirty="0"/>
            </a:br>
            <a:r>
              <a:rPr lang="en-CA" dirty="0"/>
              <a:t>Then use file object’s </a:t>
            </a:r>
            <a:r>
              <a:rPr lang="en-CA" dirty="0">
                <a:latin typeface="Consolas" panose="020B0609020204030204" pitchFamily="49" charset="0"/>
              </a:rPr>
              <a:t>write</a:t>
            </a:r>
            <a:r>
              <a:rPr lang="en-CA" dirty="0"/>
              <a:t> method append strings to it.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FC8C6C-5C2C-6489-8D68-353600E12E3F}"/>
              </a:ext>
            </a:extLst>
          </p:cNvPr>
          <p:cNvSpPr txBox="1"/>
          <p:nvPr/>
        </p:nvSpPr>
        <p:spPr>
          <a:xfrm>
            <a:off x="621528" y="2112170"/>
            <a:ext cx="7590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open('todo.txt',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'w'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D57CAC-C7A0-CFE9-27CF-A7ABA6ACC82D}"/>
              </a:ext>
            </a:extLst>
          </p:cNvPr>
          <p:cNvSpPr txBox="1"/>
          <p:nvPr/>
        </p:nvSpPr>
        <p:spPr>
          <a:xfrm>
            <a:off x="621528" y="3066805"/>
            <a:ext cx="112482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('1. Learn to write poems.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('2. Get a job at a poetry company.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('3. Profit!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</p:txBody>
      </p:sp>
    </p:spTree>
    <p:extLst>
      <p:ext uri="{BB962C8B-B14F-4D97-AF65-F5344CB8AC3E}">
        <p14:creationId xmlns:p14="http://schemas.microsoft.com/office/powerpoint/2010/main" val="39660348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CB01E-6165-8D80-9F8D-2AE65988F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B9DA-4643-DD8D-17D4-7754B46F0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Writing to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37B08-D27F-5CC6-9BF1-0C48B934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816F1-D120-8ED0-B048-6DFD924743E4}"/>
              </a:ext>
            </a:extLst>
          </p:cNvPr>
          <p:cNvSpPr txBox="1"/>
          <p:nvPr/>
        </p:nvSpPr>
        <p:spPr>
          <a:xfrm>
            <a:off x="2933898" y="238385"/>
            <a:ext cx="364289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write to a text file, you must first open it with the </a:t>
            </a:r>
            <a:r>
              <a:rPr lang="en-CA" dirty="0">
                <a:latin typeface="Consolas" panose="020B0609020204030204" pitchFamily="49" charset="0"/>
              </a:rPr>
              <a:t>'w'</a:t>
            </a:r>
            <a:r>
              <a:rPr lang="en-CA" dirty="0"/>
              <a:t> option.</a:t>
            </a:r>
            <a:br>
              <a:rPr lang="en-CA" dirty="0"/>
            </a:br>
            <a:r>
              <a:rPr lang="en-CA" dirty="0"/>
              <a:t>Then use file object’s </a:t>
            </a:r>
            <a:r>
              <a:rPr lang="en-CA" dirty="0">
                <a:latin typeface="Consolas" panose="020B0609020204030204" pitchFamily="49" charset="0"/>
              </a:rPr>
              <a:t>write</a:t>
            </a:r>
            <a:r>
              <a:rPr lang="en-CA" dirty="0"/>
              <a:t> method append strings to it.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C0407-BCB8-95C1-69DA-A29ECCC5D07D}"/>
              </a:ext>
            </a:extLst>
          </p:cNvPr>
          <p:cNvSpPr txBox="1"/>
          <p:nvPr/>
        </p:nvSpPr>
        <p:spPr>
          <a:xfrm>
            <a:off x="621528" y="2112170"/>
            <a:ext cx="7590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open('todo.txt',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'w'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64245D-D25A-B54D-FE22-6997F1C633F9}"/>
              </a:ext>
            </a:extLst>
          </p:cNvPr>
          <p:cNvSpPr txBox="1"/>
          <p:nvPr/>
        </p:nvSpPr>
        <p:spPr>
          <a:xfrm>
            <a:off x="621528" y="3066805"/>
            <a:ext cx="112482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('1. Learn to write poems.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('2. Get a job at a poetry company.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('3. Profit!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2BDB59-5C6B-6DC4-90C6-9F5B87BAB858}"/>
              </a:ext>
            </a:extLst>
          </p:cNvPr>
          <p:cNvSpPr txBox="1"/>
          <p:nvPr/>
        </p:nvSpPr>
        <p:spPr>
          <a:xfrm>
            <a:off x="621528" y="4883215"/>
            <a:ext cx="7590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file_object.close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74BFF1-CD7B-280A-E9F3-EE03976CCECC}"/>
              </a:ext>
            </a:extLst>
          </p:cNvPr>
          <p:cNvSpPr txBox="1"/>
          <p:nvPr/>
        </p:nvSpPr>
        <p:spPr>
          <a:xfrm>
            <a:off x="4563756" y="4792908"/>
            <a:ext cx="265565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Content may not actually be written to the file until you call </a:t>
            </a:r>
            <a:r>
              <a:rPr lang="en-CA" dirty="0" err="1">
                <a:latin typeface="Consolas" panose="020B0609020204030204" pitchFamily="49" charset="0"/>
              </a:rPr>
              <a:t>file_object.close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endParaRPr lang="en-AU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55B4290-359D-8DFA-3345-A81FD48C9165}"/>
              </a:ext>
            </a:extLst>
          </p:cNvPr>
          <p:cNvGrpSpPr/>
          <p:nvPr/>
        </p:nvGrpSpPr>
        <p:grpSpPr>
          <a:xfrm>
            <a:off x="7677957" y="4293386"/>
            <a:ext cx="4476206" cy="1702878"/>
            <a:chOff x="7663543" y="105168"/>
            <a:chExt cx="4476206" cy="17028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6318001-F039-164C-F6BE-47F99F073D2D}"/>
                </a:ext>
              </a:extLst>
            </p:cNvPr>
            <p:cNvSpPr txBox="1"/>
            <p:nvPr/>
          </p:nvSpPr>
          <p:spPr>
            <a:xfrm>
              <a:off x="7776054" y="768005"/>
              <a:ext cx="4363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1. Learn to write poems.</a:t>
              </a:r>
              <a:br>
                <a:rPr lang="en-CA" dirty="0">
                  <a:latin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</a:rPr>
                <a:t>2. Get a job at a poetry company.</a:t>
              </a:r>
            </a:p>
            <a:p>
              <a:r>
                <a:rPr lang="en-AU" dirty="0">
                  <a:latin typeface="Consolas" panose="020B0609020204030204" pitchFamily="49" charset="0"/>
                </a:rPr>
                <a:t>3. Profit!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F990A04-0219-B23F-F4B9-04A140AC7D5F}"/>
                </a:ext>
              </a:extLst>
            </p:cNvPr>
            <p:cNvSpPr/>
            <p:nvPr/>
          </p:nvSpPr>
          <p:spPr>
            <a:xfrm>
              <a:off x="7663543" y="607717"/>
              <a:ext cx="4433553" cy="120032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326EB01-A863-942C-43BC-C10DBA07396B}"/>
                </a:ext>
              </a:extLst>
            </p:cNvPr>
            <p:cNvSpPr txBox="1"/>
            <p:nvPr/>
          </p:nvSpPr>
          <p:spPr>
            <a:xfrm>
              <a:off x="8918454" y="105168"/>
              <a:ext cx="19237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Consolas" panose="020B0609020204030204" pitchFamily="49" charset="0"/>
                </a:rPr>
                <a:t>todo.txt</a:t>
              </a:r>
              <a:endParaRPr lang="en-AU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765109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9D415-BA73-FDD8-AA89-9123D7FD2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108F-D28E-B7ED-477C-5A954155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04" y="-55064"/>
            <a:ext cx="3300577" cy="1325563"/>
          </a:xfrm>
        </p:spPr>
        <p:txBody>
          <a:bodyPr>
            <a:normAutofit/>
          </a:bodyPr>
          <a:lstStyle/>
          <a:p>
            <a:r>
              <a:rPr lang="en-CA" dirty="0"/>
              <a:t>Writing to</a:t>
            </a:r>
            <a:br>
              <a:rPr lang="en-CA" dirty="0"/>
            </a:br>
            <a:r>
              <a:rPr lang="en-CA" dirty="0"/>
              <a:t>Text Files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39836-F169-5BC4-AF90-F821662F6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60FC48-970F-E724-9184-970C704F8D43}"/>
              </a:ext>
            </a:extLst>
          </p:cNvPr>
          <p:cNvSpPr txBox="1"/>
          <p:nvPr/>
        </p:nvSpPr>
        <p:spPr>
          <a:xfrm>
            <a:off x="2933898" y="238385"/>
            <a:ext cx="3642896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To write to a text file, you must first open it with the </a:t>
            </a:r>
            <a:r>
              <a:rPr lang="en-CA" dirty="0">
                <a:latin typeface="Consolas" panose="020B0609020204030204" pitchFamily="49" charset="0"/>
              </a:rPr>
              <a:t>'w'</a:t>
            </a:r>
            <a:r>
              <a:rPr lang="en-CA" dirty="0"/>
              <a:t> option.</a:t>
            </a:r>
            <a:br>
              <a:rPr lang="en-CA" dirty="0"/>
            </a:br>
            <a:r>
              <a:rPr lang="en-CA" dirty="0"/>
              <a:t>Then use file object’s </a:t>
            </a:r>
            <a:r>
              <a:rPr lang="en-CA" dirty="0">
                <a:latin typeface="Consolas" panose="020B0609020204030204" pitchFamily="49" charset="0"/>
              </a:rPr>
              <a:t>write</a:t>
            </a:r>
            <a:r>
              <a:rPr lang="en-CA" dirty="0"/>
              <a:t> method append strings to it.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D9605E-3083-02E3-FE1B-AA00C4CD8AD2}"/>
              </a:ext>
            </a:extLst>
          </p:cNvPr>
          <p:cNvSpPr txBox="1"/>
          <p:nvPr/>
        </p:nvSpPr>
        <p:spPr>
          <a:xfrm>
            <a:off x="621528" y="2112170"/>
            <a:ext cx="7590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</a:t>
            </a:r>
            <a:r>
              <a:rPr lang="en-US" sz="2800" dirty="0">
                <a:latin typeface="Consolas" panose="020B0609020204030204" pitchFamily="49" charset="0"/>
              </a:rPr>
              <a:t> = open('todo.txt',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'w'</a:t>
            </a:r>
            <a:r>
              <a:rPr lang="en-US" sz="2800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7B8A43-AC9C-804F-E1B3-33C6BD952017}"/>
              </a:ext>
            </a:extLst>
          </p:cNvPr>
          <p:cNvSpPr txBox="1"/>
          <p:nvPr/>
        </p:nvSpPr>
        <p:spPr>
          <a:xfrm>
            <a:off x="621528" y="3066805"/>
            <a:ext cx="1124825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('1. Learn to write poems.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('2. Get a job at a poetry company.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  <a:p>
            <a:r>
              <a:rPr lang="en-US" sz="2800" dirty="0" err="1">
                <a:latin typeface="Consolas" panose="020B0609020204030204" pitchFamily="49" charset="0"/>
              </a:rPr>
              <a:t>file_object.write</a:t>
            </a:r>
            <a:r>
              <a:rPr lang="en-US" sz="2800" dirty="0">
                <a:latin typeface="Consolas" panose="020B0609020204030204" pitchFamily="49" charset="0"/>
              </a:rPr>
              <a:t>('3. Profit!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\n</a:t>
            </a:r>
            <a:r>
              <a:rPr lang="en-US" sz="2800" dirty="0">
                <a:latin typeface="Consolas" panose="020B0609020204030204" pitchFamily="49" charset="0"/>
              </a:rPr>
              <a:t>')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38D8FA-6AF3-53BC-873B-F551E5E7EEBF}"/>
              </a:ext>
            </a:extLst>
          </p:cNvPr>
          <p:cNvSpPr txBox="1"/>
          <p:nvPr/>
        </p:nvSpPr>
        <p:spPr>
          <a:xfrm>
            <a:off x="621528" y="4883215"/>
            <a:ext cx="75904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FF0000"/>
                </a:solidFill>
                <a:latin typeface="Consolas" panose="020B0609020204030204" pitchFamily="49" charset="0"/>
              </a:rPr>
              <a:t>file_object.close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69B4DF-8294-AAC8-D940-08844FC34B8B}"/>
              </a:ext>
            </a:extLst>
          </p:cNvPr>
          <p:cNvSpPr txBox="1"/>
          <p:nvPr/>
        </p:nvSpPr>
        <p:spPr>
          <a:xfrm>
            <a:off x="4563756" y="4792908"/>
            <a:ext cx="265565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Content may not actually be written to the file until you call </a:t>
            </a:r>
            <a:r>
              <a:rPr lang="en-CA" dirty="0" err="1">
                <a:latin typeface="Consolas" panose="020B0609020204030204" pitchFamily="49" charset="0"/>
              </a:rPr>
              <a:t>file_object.close</a:t>
            </a:r>
            <a:r>
              <a:rPr lang="en-CA" dirty="0">
                <a:latin typeface="Consolas" panose="020B0609020204030204" pitchFamily="49" charset="0"/>
              </a:rPr>
              <a:t>()</a:t>
            </a:r>
            <a:endParaRPr lang="en-AU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4E5F73-CB08-7314-9445-D10633DECB35}"/>
              </a:ext>
            </a:extLst>
          </p:cNvPr>
          <p:cNvGrpSpPr/>
          <p:nvPr/>
        </p:nvGrpSpPr>
        <p:grpSpPr>
          <a:xfrm>
            <a:off x="7677957" y="4293386"/>
            <a:ext cx="4476206" cy="1702878"/>
            <a:chOff x="7663543" y="105168"/>
            <a:chExt cx="4476206" cy="170287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ABDFD7-AD95-FE03-E0AB-F23E023D4D0C}"/>
                </a:ext>
              </a:extLst>
            </p:cNvPr>
            <p:cNvSpPr txBox="1"/>
            <p:nvPr/>
          </p:nvSpPr>
          <p:spPr>
            <a:xfrm>
              <a:off x="7776054" y="768005"/>
              <a:ext cx="436369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dirty="0">
                  <a:latin typeface="Consolas" panose="020B0609020204030204" pitchFamily="49" charset="0"/>
                </a:rPr>
                <a:t>1. Learn to write poems.</a:t>
              </a:r>
              <a:br>
                <a:rPr lang="en-CA" dirty="0">
                  <a:latin typeface="Consolas" panose="020B0609020204030204" pitchFamily="49" charset="0"/>
                </a:rPr>
              </a:br>
              <a:r>
                <a:rPr lang="en-CA" dirty="0">
                  <a:latin typeface="Consolas" panose="020B0609020204030204" pitchFamily="49" charset="0"/>
                </a:rPr>
                <a:t>2. Get a job at a poetry company.</a:t>
              </a:r>
            </a:p>
            <a:p>
              <a:r>
                <a:rPr lang="en-AU" dirty="0">
                  <a:latin typeface="Consolas" panose="020B0609020204030204" pitchFamily="49" charset="0"/>
                </a:rPr>
                <a:t>3. Profit!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24E6168-63E1-7E34-7210-1980AC39AFCC}"/>
                </a:ext>
              </a:extLst>
            </p:cNvPr>
            <p:cNvSpPr/>
            <p:nvPr/>
          </p:nvSpPr>
          <p:spPr>
            <a:xfrm>
              <a:off x="7663543" y="607717"/>
              <a:ext cx="4433553" cy="120032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7AF5F25-0574-3BFA-05FB-85AB273D8197}"/>
                </a:ext>
              </a:extLst>
            </p:cNvPr>
            <p:cNvSpPr txBox="1"/>
            <p:nvPr/>
          </p:nvSpPr>
          <p:spPr>
            <a:xfrm>
              <a:off x="8918454" y="105168"/>
              <a:ext cx="19237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latin typeface="Consolas" panose="020B0609020204030204" pitchFamily="49" charset="0"/>
                </a:rPr>
                <a:t>todo.txt</a:t>
              </a:r>
              <a:endParaRPr lang="en-AU" sz="2800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1D04736-D661-6CD7-3A37-BE91E1EF53B9}"/>
              </a:ext>
            </a:extLst>
          </p:cNvPr>
          <p:cNvSpPr txBox="1"/>
          <p:nvPr/>
        </p:nvSpPr>
        <p:spPr>
          <a:xfrm>
            <a:off x="94904" y="5550465"/>
            <a:ext cx="4010301" cy="10772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sz="1600" dirty="0"/>
              <a:t>Strings are typically written to a “buffer” in memory, and then </a:t>
            </a:r>
            <a:r>
              <a:rPr lang="en-CA" sz="1600"/>
              <a:t>the buffer </a:t>
            </a:r>
            <a:r>
              <a:rPr lang="en-CA" sz="1600" dirty="0"/>
              <a:t>is written when closed. This is usually faster than writing to the file on each call to </a:t>
            </a:r>
            <a:r>
              <a:rPr lang="en-CA" sz="1600" dirty="0">
                <a:latin typeface="Consolas" panose="020B0609020204030204" pitchFamily="49" charset="0"/>
              </a:rPr>
              <a:t>write</a:t>
            </a:r>
            <a:r>
              <a:rPr lang="en-CA" sz="1600" dirty="0"/>
              <a:t>.</a:t>
            </a:r>
            <a:endParaRPr lang="en-AU" sz="16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72B7A1C-F6FD-1CBE-D627-D2C29E8C34AB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105205" y="5993237"/>
            <a:ext cx="458551" cy="95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924231-3C31-62D8-22A6-8C309A4B71BD}"/>
              </a:ext>
            </a:extLst>
          </p:cNvPr>
          <p:cNvSpPr txBox="1"/>
          <p:nvPr/>
        </p:nvSpPr>
        <p:spPr>
          <a:xfrm>
            <a:off x="8087963" y="238384"/>
            <a:ext cx="3851488" cy="23083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Careful!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If </a:t>
            </a:r>
            <a:r>
              <a:rPr lang="en-CA" dirty="0">
                <a:latin typeface="Consolas" panose="020B0609020204030204" pitchFamily="49" charset="0"/>
              </a:rPr>
              <a:t>todo.txt</a:t>
            </a:r>
            <a:r>
              <a:rPr lang="en-CA" dirty="0"/>
              <a:t> </a:t>
            </a:r>
            <a:r>
              <a:rPr lang="en-CA" b="1" dirty="0"/>
              <a:t>doesn’t exist </a:t>
            </a:r>
            <a:r>
              <a:rPr lang="en-CA" dirty="0"/>
              <a:t>before calling open, it will be created.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If </a:t>
            </a:r>
            <a:r>
              <a:rPr lang="en-CA" dirty="0">
                <a:latin typeface="Consolas" panose="020B0609020204030204" pitchFamily="49" charset="0"/>
              </a:rPr>
              <a:t>todo.txt</a:t>
            </a:r>
            <a:r>
              <a:rPr lang="en-CA" dirty="0"/>
              <a:t> </a:t>
            </a:r>
            <a:r>
              <a:rPr lang="en-CA" b="1" dirty="0"/>
              <a:t>already exists </a:t>
            </a:r>
            <a:r>
              <a:rPr lang="en-CA" dirty="0"/>
              <a:t>before calling open, it will be erased(!).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You must call </a:t>
            </a:r>
            <a:r>
              <a:rPr lang="en-CA" dirty="0">
                <a:latin typeface="Consolas" panose="020B0609020204030204" pitchFamily="49" charset="0"/>
              </a:rPr>
              <a:t>.close() </a:t>
            </a:r>
            <a:r>
              <a:rPr lang="en-CA" dirty="0"/>
              <a:t>to ensure the content is actually written to the file.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1785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5390</Words>
  <Application>Microsoft Macintosh PowerPoint</Application>
  <PresentationFormat>Widescreen</PresentationFormat>
  <Paragraphs>1012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7" baseType="lpstr">
      <vt:lpstr>Aptos</vt:lpstr>
      <vt:lpstr>Aptos Display</vt:lpstr>
      <vt:lpstr>Arial</vt:lpstr>
      <vt:lpstr>Consolas</vt:lpstr>
      <vt:lpstr>Office Theme</vt:lpstr>
      <vt:lpstr>Chapter 8: Strings, Slices, and Writing to Files</vt:lpstr>
      <vt:lpstr>Strings</vt:lpstr>
      <vt:lpstr>Strings</vt:lpstr>
      <vt:lpstr>Strings</vt:lpstr>
      <vt:lpstr>Strings</vt:lpstr>
      <vt:lpstr>PowerPoint Presentation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Strings</vt:lpstr>
      <vt:lpstr>String Slices</vt:lpstr>
      <vt:lpstr>String Slices</vt:lpstr>
      <vt:lpstr>String Slices</vt:lpstr>
      <vt:lpstr>String Slices</vt:lpstr>
      <vt:lpstr>String Slices</vt:lpstr>
      <vt:lpstr>String Slices</vt:lpstr>
      <vt:lpstr>String Slices</vt:lpstr>
      <vt:lpstr>String Immutability</vt:lpstr>
      <vt:lpstr>String Immutability</vt:lpstr>
      <vt:lpstr>String Immutability</vt:lpstr>
      <vt:lpstr>String Immutability</vt:lpstr>
      <vt:lpstr>String Immutability</vt:lpstr>
      <vt:lpstr>Comparing Strings</vt:lpstr>
      <vt:lpstr>Comparing Strings</vt:lpstr>
      <vt:lpstr>Comparing Strings</vt:lpstr>
      <vt:lpstr>Comparing Strings</vt:lpstr>
      <vt:lpstr>Comparing Strings</vt:lpstr>
      <vt:lpstr>Comparing Strings</vt:lpstr>
      <vt:lpstr>Comparing Strings</vt:lpstr>
      <vt:lpstr>Comparing Strings</vt:lpstr>
      <vt:lpstr>Comparing Strings</vt:lpstr>
      <vt:lpstr>Comparing Strings</vt:lpstr>
      <vt:lpstr>Comparing Strings</vt:lpstr>
      <vt:lpstr>Reversing a String</vt:lpstr>
      <vt:lpstr>Checking Palindromes</vt:lpstr>
      <vt:lpstr>Writing to Text Files</vt:lpstr>
      <vt:lpstr>Writing to Text Files</vt:lpstr>
      <vt:lpstr>Writing to Text Files</vt:lpstr>
      <vt:lpstr>Writing to Text Files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2</cp:revision>
  <cp:lastPrinted>2024-11-06T20:03:29Z</cp:lastPrinted>
  <dcterms:created xsi:type="dcterms:W3CDTF">2024-09-15T21:36:40Z</dcterms:created>
  <dcterms:modified xsi:type="dcterms:W3CDTF">2026-02-28T19:47:48Z</dcterms:modified>
</cp:coreProperties>
</file>