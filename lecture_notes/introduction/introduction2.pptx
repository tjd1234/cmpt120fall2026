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7"/>
  </p:notesMasterIdLst>
  <p:sldIdLst>
    <p:sldId id="267" r:id="rId2"/>
    <p:sldId id="283" r:id="rId3"/>
    <p:sldId id="290" r:id="rId4"/>
    <p:sldId id="291" r:id="rId5"/>
    <p:sldId id="289" r:id="rId6"/>
    <p:sldId id="292" r:id="rId7"/>
    <p:sldId id="279" r:id="rId8"/>
    <p:sldId id="274" r:id="rId9"/>
    <p:sldId id="284" r:id="rId10"/>
    <p:sldId id="275" r:id="rId11"/>
    <p:sldId id="285" r:id="rId12"/>
    <p:sldId id="276" r:id="rId13"/>
    <p:sldId id="273" r:id="rId14"/>
    <p:sldId id="280" r:id="rId15"/>
    <p:sldId id="286" r:id="rId16"/>
    <p:sldId id="281" r:id="rId17"/>
    <p:sldId id="271" r:id="rId18"/>
    <p:sldId id="287" r:id="rId19"/>
    <p:sldId id="288" r:id="rId20"/>
    <p:sldId id="260" r:id="rId21"/>
    <p:sldId id="282" r:id="rId22"/>
    <p:sldId id="261" r:id="rId23"/>
    <p:sldId id="264" r:id="rId24"/>
    <p:sldId id="262" r:id="rId25"/>
    <p:sldId id="270" r:id="rId2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7"/>
    <p:restoredTop sz="96323" autoAdjust="0"/>
  </p:normalViewPr>
  <p:slideViewPr>
    <p:cSldViewPr snapToGrid="0">
      <p:cViewPr varScale="1">
        <p:scale>
          <a:sx n="126" d="100"/>
          <a:sy n="126" d="100"/>
        </p:scale>
        <p:origin x="688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delSld modSld sldOrd">
      <pc:chgData name="Toby Donaldson" userId="2e6e5431-bb17-4c41-9985-d39c50d83c73" providerId="ADAL" clId="{7F9681A8-EEE2-56F4-9B39-ECCBEE0471AC}" dt="2026-09-08T00:25:49.015" v="3013" actId="20577"/>
      <pc:docMkLst>
        <pc:docMk/>
      </pc:docMkLst>
      <pc:sldChg chg="modSp">
        <pc:chgData name="Toby Donaldson" userId="2e6e5431-bb17-4c41-9985-d39c50d83c73" providerId="ADAL" clId="{7F9681A8-EEE2-56F4-9B39-ECCBEE0471AC}" dt="2026-09-08T00:25:49.015" v="3013" actId="20577"/>
        <pc:sldMkLst>
          <pc:docMk/>
          <pc:sldMk cId="2069204258" sldId="270"/>
        </pc:sldMkLst>
        <pc:spChg chg="mod">
          <ac:chgData name="Toby Donaldson" userId="2e6e5431-bb17-4c41-9985-d39c50d83c73" providerId="ADAL" clId="{7F9681A8-EEE2-56F4-9B39-ECCBEE0471AC}" dt="2026-09-08T00:25:49.015" v="3013" actId="20577"/>
          <ac:spMkLst>
            <pc:docMk/>
            <pc:sldMk cId="2069204258" sldId="270"/>
            <ac:spMk id="3" creationId="{1830FAE5-685F-9F19-A59F-F1720B12E9A4}"/>
          </ac:spMkLst>
        </pc:spChg>
      </pc:sldChg>
      <pc:sldChg chg="modSp mod">
        <pc:chgData name="Toby Donaldson" userId="2e6e5431-bb17-4c41-9985-d39c50d83c73" providerId="ADAL" clId="{7F9681A8-EEE2-56F4-9B39-ECCBEE0471AC}" dt="2026-09-08T00:23:30.943" v="2921" actId="5793"/>
        <pc:sldMkLst>
          <pc:docMk/>
          <pc:sldMk cId="3595716840" sldId="273"/>
        </pc:sldMkLst>
        <pc:spChg chg="mod">
          <ac:chgData name="Toby Donaldson" userId="2e6e5431-bb17-4c41-9985-d39c50d83c73" providerId="ADAL" clId="{7F9681A8-EEE2-56F4-9B39-ECCBEE0471AC}" dt="2026-09-08T00:23:30.943" v="2921" actId="5793"/>
          <ac:spMkLst>
            <pc:docMk/>
            <pc:sldMk cId="3595716840" sldId="273"/>
            <ac:spMk id="6" creationId="{C792B691-4CBE-65FF-F97A-550650613CB9}"/>
          </ac:spMkLst>
        </pc:spChg>
      </pc:sldChg>
      <pc:sldChg chg="modSp mod">
        <pc:chgData name="Toby Donaldson" userId="2e6e5431-bb17-4c41-9985-d39c50d83c73" providerId="ADAL" clId="{7F9681A8-EEE2-56F4-9B39-ECCBEE0471AC}" dt="2026-09-08T00:22:47.883" v="2914" actId="20577"/>
        <pc:sldMkLst>
          <pc:docMk/>
          <pc:sldMk cId="3209437878" sldId="275"/>
        </pc:sldMkLst>
        <pc:spChg chg="mod">
          <ac:chgData name="Toby Donaldson" userId="2e6e5431-bb17-4c41-9985-d39c50d83c73" providerId="ADAL" clId="{7F9681A8-EEE2-56F4-9B39-ECCBEE0471AC}" dt="2026-09-08T00:22:47.883" v="2914" actId="20577"/>
          <ac:spMkLst>
            <pc:docMk/>
            <pc:sldMk cId="3209437878" sldId="275"/>
            <ac:spMk id="13" creationId="{58C13076-F0D6-9B83-E4BE-24ABF70F8804}"/>
          </ac:spMkLst>
        </pc:spChg>
      </pc:sldChg>
      <pc:sldChg chg="modSp mod">
        <pc:chgData name="Toby Donaldson" userId="2e6e5431-bb17-4c41-9985-d39c50d83c73" providerId="ADAL" clId="{7F9681A8-EEE2-56F4-9B39-ECCBEE0471AC}" dt="2026-09-08T00:22:05.578" v="2902" actId="20577"/>
        <pc:sldMkLst>
          <pc:docMk/>
          <pc:sldMk cId="3017744231" sldId="279"/>
        </pc:sldMkLst>
        <pc:spChg chg="mod">
          <ac:chgData name="Toby Donaldson" userId="2e6e5431-bb17-4c41-9985-d39c50d83c73" providerId="ADAL" clId="{7F9681A8-EEE2-56F4-9B39-ECCBEE0471AC}" dt="2026-09-08T00:22:05.578" v="2902" actId="20577"/>
          <ac:spMkLst>
            <pc:docMk/>
            <pc:sldMk cId="3017744231" sldId="279"/>
            <ac:spMk id="10" creationId="{8D2024F0-048D-903D-B198-3E0B95B5B1D0}"/>
          </ac:spMkLst>
        </pc:spChg>
      </pc:sldChg>
      <pc:sldChg chg="modSp">
        <pc:chgData name="Toby Donaldson" userId="2e6e5431-bb17-4c41-9985-d39c50d83c73" providerId="ADAL" clId="{7F9681A8-EEE2-56F4-9B39-ECCBEE0471AC}" dt="2026-09-08T00:23:07" v="2915"/>
        <pc:sldMkLst>
          <pc:docMk/>
          <pc:sldMk cId="1193449351" sldId="285"/>
        </pc:sldMkLst>
        <pc:spChg chg="mod">
          <ac:chgData name="Toby Donaldson" userId="2e6e5431-bb17-4c41-9985-d39c50d83c73" providerId="ADAL" clId="{7F9681A8-EEE2-56F4-9B39-ECCBEE0471AC}" dt="2026-09-08T00:23:07" v="2915"/>
          <ac:spMkLst>
            <pc:docMk/>
            <pc:sldMk cId="1193449351" sldId="285"/>
            <ac:spMk id="13" creationId="{6A705F47-72D2-3025-7AD1-A65AF27BEC36}"/>
          </ac:spMkLst>
        </pc:spChg>
      </pc:sldChg>
      <pc:sldChg chg="modSp mod">
        <pc:chgData name="Toby Donaldson" userId="2e6e5431-bb17-4c41-9985-d39c50d83c73" providerId="ADAL" clId="{7F9681A8-EEE2-56F4-9B39-ECCBEE0471AC}" dt="2026-09-08T00:21:51.917" v="2901" actId="20577"/>
        <pc:sldMkLst>
          <pc:docMk/>
          <pc:sldMk cId="419798349" sldId="292"/>
        </pc:sldMkLst>
        <pc:spChg chg="mod">
          <ac:chgData name="Toby Donaldson" userId="2e6e5431-bb17-4c41-9985-d39c50d83c73" providerId="ADAL" clId="{7F9681A8-EEE2-56F4-9B39-ECCBEE0471AC}" dt="2026-09-08T00:21:51.917" v="2901" actId="20577"/>
          <ac:spMkLst>
            <pc:docMk/>
            <pc:sldMk cId="419798349" sldId="292"/>
            <ac:spMk id="10" creationId="{4D641071-80EE-1EC8-5C0C-07B7C9DA0F8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A0E10153-954E-4A8F-A722-5AC9ABA3901A}" type="datetimeFigureOut">
              <a:rPr lang="en-AU" smtClean="0"/>
              <a:t>7/9/2026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4E5F7A9-63B9-4E24-B438-D1C829BA58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51269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Some things to notice: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calculators are huge, and most likely not electronic.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There are electric lights.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There are fans … even today computers use fans to cool down.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operators are mostly women.</a:t>
            </a:r>
          </a:p>
          <a:p>
            <a:r>
              <a:rPr lang="en-CA" dirty="0"/>
              <a:t>Points to ponder:</a:t>
            </a:r>
          </a:p>
          <a:p>
            <a:pPr marL="174708" indent="-174708">
              <a:buFontTx/>
              <a:buChar char="-"/>
            </a:pPr>
            <a:r>
              <a:rPr lang="en-CA" dirty="0"/>
              <a:t>How many machines do they need?</a:t>
            </a:r>
          </a:p>
          <a:p>
            <a:pPr marL="174708" indent="-174708">
              <a:buFontTx/>
              <a:buChar char="-"/>
            </a:pPr>
            <a:r>
              <a:rPr lang="en-CA" dirty="0"/>
              <a:t>How fast does each machine go? What exactly does it compute?</a:t>
            </a:r>
          </a:p>
          <a:p>
            <a:pPr marL="174708" indent="-174708">
              <a:buFontTx/>
              <a:buChar char="-"/>
            </a:pPr>
            <a:r>
              <a:rPr lang="en-CA" dirty="0"/>
              <a:t>How do the operators know what to do? Where do they put their results?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idea of making calculating machines electronic was still science fiction. It wasn’t until the 1940s when automatic electronic computers became a reality.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7949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6EA27-CEE1-406A-1C44-26A9B7FD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9AD669-A65D-B4C0-127D-E74FAD55D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221F3C-7412-9DF6-694A-28630881C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Some things to notice: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calculators are huge, and most likely not electronic.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There are electric lights.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There are fans … even today computers use fans to cool down.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operators are mostly women.</a:t>
            </a:r>
          </a:p>
          <a:p>
            <a:r>
              <a:rPr lang="en-CA" dirty="0"/>
              <a:t>Points to ponder:</a:t>
            </a:r>
          </a:p>
          <a:p>
            <a:pPr marL="174708" indent="-174708">
              <a:buFontTx/>
              <a:buChar char="-"/>
            </a:pPr>
            <a:r>
              <a:rPr lang="en-CA" dirty="0"/>
              <a:t>How many machines do they need?</a:t>
            </a:r>
          </a:p>
          <a:p>
            <a:pPr marL="174708" indent="-174708">
              <a:buFontTx/>
              <a:buChar char="-"/>
            </a:pPr>
            <a:r>
              <a:rPr lang="en-CA" dirty="0"/>
              <a:t>How fast does each machine go? What exactly does it compute?</a:t>
            </a:r>
          </a:p>
          <a:p>
            <a:pPr marL="174708" indent="-174708">
              <a:buFontTx/>
              <a:buChar char="-"/>
            </a:pPr>
            <a:r>
              <a:rPr lang="en-CA" dirty="0"/>
              <a:t>How do the operators know what to do? Where do they put their results?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idea of making calculating machines electronic was still science fiction. It wasn’t until the 1940s when automatic electronic computers became a reality.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C0AD9-1BF9-21F3-3CA1-0142EE5DD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7894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45800-5E5E-209E-4CDD-B873F843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5DA47-EDE9-60C0-50BC-1ACE37BD1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312B-DF39-8EE2-EFC7-1FFDDCA91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Things to notice:</a:t>
            </a:r>
          </a:p>
          <a:p>
            <a:pPr marL="174708" indent="-174708">
              <a:buFontTx/>
              <a:buChar char="-"/>
            </a:pPr>
            <a:r>
              <a:rPr lang="en-CA" dirty="0"/>
              <a:t>It’s huge --- it takes up a whole room. But a smaller room and less hardware than the previous picture.</a:t>
            </a:r>
          </a:p>
          <a:p>
            <a:pPr marL="174708" indent="-174708">
              <a:buFontTx/>
              <a:buChar char="-"/>
            </a:pPr>
            <a:r>
              <a:rPr lang="en-CA" dirty="0"/>
              <a:t>Programmed by plugging wires into different sockets.</a:t>
            </a:r>
          </a:p>
          <a:p>
            <a:pPr marL="174708" indent="-174708">
              <a:buFontTx/>
              <a:buChar char="-"/>
            </a:pPr>
            <a:r>
              <a:rPr lang="en-CA" dirty="0"/>
              <a:t>You can see some of the vacuum tubes on the top left.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plug boards on the right are on wheels.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D8A6D-38B2-A355-E109-3F3DBF7EE9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25337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CD084-F589-0333-0982-E10936D3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74FD5-DF6E-86FF-EF8C-563B44B2A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C0D863-5EDF-CC05-4F5E-A29BA6996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Things to notice:</a:t>
            </a:r>
          </a:p>
          <a:p>
            <a:pPr marL="174708" indent="-174708">
              <a:buFontTx/>
              <a:buChar char="-"/>
            </a:pPr>
            <a:r>
              <a:rPr lang="en-CA" dirty="0"/>
              <a:t>It’s huge --- it takes up a whole room. But a smaller room and less hardware than the previous picture.</a:t>
            </a:r>
          </a:p>
          <a:p>
            <a:pPr marL="174708" indent="-174708">
              <a:buFontTx/>
              <a:buChar char="-"/>
            </a:pPr>
            <a:r>
              <a:rPr lang="en-CA" dirty="0"/>
              <a:t>Programmed by plugging wires into different sockets.</a:t>
            </a:r>
          </a:p>
          <a:p>
            <a:pPr marL="174708" indent="-174708">
              <a:buFontTx/>
              <a:buChar char="-"/>
            </a:pPr>
            <a:r>
              <a:rPr lang="en-CA" dirty="0"/>
              <a:t>You can see some of the vacuum tubes on the top left.</a:t>
            </a:r>
          </a:p>
          <a:p>
            <a:pPr marL="174708" indent="-174708">
              <a:buFontTx/>
              <a:buChar char="-"/>
            </a:pPr>
            <a:r>
              <a:rPr lang="en-CA" dirty="0"/>
              <a:t>The plug boards on the right are on wheels.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3BA79-64D7-8718-73D9-B7A3A9569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4742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73865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6572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B0084-8405-6D5E-D436-BE23A4206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3A2B4-064E-6CCC-05E6-384FCEEC5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5B7F1-F913-6A2E-A463-50FDE62F9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A16948-3517-7B09-A4CC-789027A84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13151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95D5D-DF50-1BDB-075C-1DAFFA2AD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436B0-C9EC-7500-0B04-5BA1232A8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090B3-1F72-C7EC-6191-137D8410A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46EF2-E216-1E26-124E-49911EC10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8646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7781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C0F8D-4970-7885-A490-D0DCE50E2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F6BFE-483B-7C96-D681-A90890ADE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8DF44-1314-C830-E365-452EAF798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F9B22-F83D-79E0-62DA-1F1A52C00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0044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577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6796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1026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E5F7A9-63B9-4E24-B438-D1C829BA587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66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17F8E-60C8-909D-5C8F-4F852E852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E9F26-E5B4-DEFC-801F-3C2725FC7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6A221-3E5B-9938-E860-7BCAC9FAB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8D517-DBB2-4332-945E-AD3C5BA5B888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71861-98D9-E0EF-622D-B1F5B7DFD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0D173-F12E-E8EB-88DE-392D9F21C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8102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DF85E-7CDD-3BA6-296F-5018A28A4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53434-96DF-64A3-CA25-00A03B69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5E906-3C8F-DF9A-EB07-F76A60505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6E76A-F54E-4C13-B66A-BE7727C8D4EA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0DC99-D342-9108-E12D-1EE6FC6C1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C922C-3F15-C081-A98C-119065DDF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4821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3676-B2FD-91F0-38B3-7613D4862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DF2FF-3D73-9E93-AA8D-7F65F3CB9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CB9C2-C15F-A293-C450-430C89DDE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27081-49D7-46AA-8800-66D1AE9542B1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D4C5-36A4-069A-B998-48F8313C6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CD5A82-B5A3-195B-3643-58F88940F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4175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E9B1-F78C-3970-61BF-46869C5E3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43F26-35BF-F66B-F3F0-C5CA475C2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8F70BF-027A-FBDF-9379-65996A7B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44DA0-3847-5457-3CC4-7E10C719B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41084E-2C29-4B82-BFED-E0DC1103E2F9}" type="datetime1">
              <a:rPr lang="en-AU" smtClean="0"/>
              <a:t>7/9/2026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BC5A4-525C-D593-4448-9D95EFD63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48A34-37AB-ACC1-5C48-2A1DD738B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9935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BDAD-5CF9-1556-2A10-D2DF9F749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332AF-5F71-9058-63AB-4F06297C0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E692F-3F27-8879-0429-0BACA8608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3F19F4-F0DE-DAE5-497A-8D0375FA0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8288C3-0CC6-8B24-7349-15F59D789E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15FA58-D3A9-3370-E43A-D53F026A7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45278-0D79-408C-ABD2-8FC7FF99DDDA}" type="datetime1">
              <a:rPr lang="en-AU" smtClean="0"/>
              <a:t>7/9/2026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0173F0-2281-2C74-CB42-BB0266BAE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22A0B4-4EC6-EC59-4456-0F90A11C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9562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93985-4F7E-D411-2855-67DC6F84D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050E0-41B3-65AA-0E7B-CDA308610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F4824-001C-4BA8-80F6-D9AB060E0D56}" type="datetime1">
              <a:rPr lang="en-AU" smtClean="0"/>
              <a:t>7/9/2026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5111A-8D6D-CEE1-F97C-3FBF9DAB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8AD7D3-D832-06CF-B2AB-4BC1AE5E4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4673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6F0F17-383F-306F-1079-5CF988EA1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4276F-9E52-4A18-8F2D-F5D79C5C39B8}" type="datetime1">
              <a:rPr lang="en-AU" smtClean="0"/>
              <a:t>7/9/2026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ADA408-93EA-F071-05F3-1F5DA70AD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2C110-64FD-8845-DD8C-84AE4DBB2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4474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41F39-AA81-7153-0EAE-B5EC67AA5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B52F1-D882-87BA-D986-1DC09BCAD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3E801-E025-1729-9C15-3BC2B9CB0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49CEE3-87D3-B5A1-6EB6-E55A77F08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F97A6-D494-4F95-AEAE-6EE051B57900}" type="datetime1">
              <a:rPr lang="en-AU" smtClean="0"/>
              <a:t>7/9/2026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8DEBA8-77C1-587C-84F0-6BAA53BC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1DCBA-4250-D35E-46DD-412DB82AE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467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96258-8AAE-BE7C-5231-903B36E38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9BA626-D476-4DDC-A7DB-B992124CCD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05FDD7-00AA-0175-0F50-488E0C42C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9C3628-21D1-4375-1560-446E74465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4FBA1-2132-4E79-84C3-971417F7A4B3}" type="datetime1">
              <a:rPr lang="en-AU" smtClean="0"/>
              <a:t>7/9/2026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CB38AE-99DF-0F04-482E-0890B1C3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FAE2C4-4CE5-E062-DA36-B6B3763DD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3397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F0F63-462A-F352-F9A9-7381D193E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EB1E3-50B1-EA40-E045-4C426784EE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3F6FA-B5EE-439C-0968-7BE144E31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03F8-7D40-45E7-BA2A-220D92D7CE1A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09EAE-C8E3-C604-2164-04A821FCD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B9D57-4B0F-3CF4-638B-5008EC032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3069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1778A4-AB89-640D-BC08-28C5A7FC6B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3F5D09-90C6-4D6C-62F9-976682320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7695D-985F-9258-D841-83AC7921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BFC2-4AFE-4460-A0F3-12919975E3A5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D25A0-60EE-E806-E1FC-9D654EA04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92F16-6057-78E1-DA8B-88ABB6F3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2097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FCC741-E42D-BFA6-D716-E30E248AC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A562B2-2421-4E95-F3F8-FD60580DDD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4F023-08B9-52B6-AE72-FF93FBF1E9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77AB6B-F43A-48BB-A6DE-16D3836505C7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0D046-EC3A-60C7-C3D4-2A2876C27E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2A4A0-351F-23D9-AC66-DB4808128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AF8FA-0A79-4AA7-AB33-8398C1FED37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3497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X4RQK__fQc?feature=oembed" TargetMode="External"/><Relationship Id="rId5" Type="http://schemas.openxmlformats.org/officeDocument/2006/relationships/image" Target="../media/image3.jpeg"/><Relationship Id="rId4" Type="http://schemas.openxmlformats.org/officeDocument/2006/relationships/hyperlink" Target="https://www.youtube.com/watch?v=GX4RQK__fQc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be1EM3gQkAY?feature=oembe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MkyFmxWYZcQ?feature=oembed" TargetMode="External"/><Relationship Id="rId4" Type="http://schemas.openxmlformats.org/officeDocument/2006/relationships/image" Target="../media/image9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44C4A0-6FDA-184C-23E4-35469891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E3A14FD-D1BE-4630-439A-BE5D18C02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84566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9757A70-2A97-6C5E-2534-20710AD305BF}"/>
              </a:ext>
            </a:extLst>
          </p:cNvPr>
          <p:cNvGrpSpPr/>
          <p:nvPr/>
        </p:nvGrpSpPr>
        <p:grpSpPr>
          <a:xfrm>
            <a:off x="8610600" y="5638298"/>
            <a:ext cx="2496261" cy="999310"/>
            <a:chOff x="8536681" y="5487986"/>
            <a:chExt cx="2496261" cy="99931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B83BA1E-4E30-6E98-E68A-11A1945A352C}"/>
                </a:ext>
              </a:extLst>
            </p:cNvPr>
            <p:cNvSpPr txBox="1"/>
            <p:nvPr/>
          </p:nvSpPr>
          <p:spPr>
            <a:xfrm>
              <a:off x="8536681" y="5487986"/>
              <a:ext cx="24962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Human computers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47AD9BD-6B51-7DCF-4395-C456F409EF33}"/>
                </a:ext>
              </a:extLst>
            </p:cNvPr>
            <p:cNvSpPr txBox="1"/>
            <p:nvPr/>
          </p:nvSpPr>
          <p:spPr>
            <a:xfrm>
              <a:off x="8536681" y="5840965"/>
              <a:ext cx="20372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US Veterans Bureau</a:t>
              </a:r>
            </a:p>
            <a:p>
              <a:r>
                <a:rPr lang="en-CA" dirty="0"/>
                <a:t>1924</a:t>
              </a:r>
              <a:endParaRPr lang="en-AU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14E7069-5B10-BDC2-0217-5F303BD10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6746" y="220392"/>
            <a:ext cx="4002155" cy="1325563"/>
          </a:xfrm>
        </p:spPr>
        <p:txBody>
          <a:bodyPr/>
          <a:lstStyle/>
          <a:p>
            <a:r>
              <a:rPr lang="en-US" dirty="0"/>
              <a:t>CMPT 120</a:t>
            </a:r>
          </a:p>
        </p:txBody>
      </p:sp>
    </p:spTree>
    <p:extLst>
      <p:ext uri="{BB962C8B-B14F-4D97-AF65-F5344CB8AC3E}">
        <p14:creationId xmlns:p14="http://schemas.microsoft.com/office/powerpoint/2010/main" val="944526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14A80-E498-CD47-2BA9-E77601CEE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7E89D-7F38-14BE-5F0F-1C0793B82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15217EF-AFE0-37B0-DBFC-323602403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84566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A241488-B173-9D87-EB2E-2E41F786FD8E}"/>
              </a:ext>
            </a:extLst>
          </p:cNvPr>
          <p:cNvGrpSpPr/>
          <p:nvPr/>
        </p:nvGrpSpPr>
        <p:grpSpPr>
          <a:xfrm>
            <a:off x="8610600" y="5638298"/>
            <a:ext cx="2496261" cy="999310"/>
            <a:chOff x="8536681" y="5487986"/>
            <a:chExt cx="2496261" cy="99931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5C58D1-08C2-BEE9-B5A5-C092DA1B672C}"/>
                </a:ext>
              </a:extLst>
            </p:cNvPr>
            <p:cNvSpPr txBox="1"/>
            <p:nvPr/>
          </p:nvSpPr>
          <p:spPr>
            <a:xfrm>
              <a:off x="8536681" y="5487986"/>
              <a:ext cx="24962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dirty="0"/>
                <a:t>Human computers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8FABC54-73C5-6021-D955-35ADB6F61E2C}"/>
                </a:ext>
              </a:extLst>
            </p:cNvPr>
            <p:cNvSpPr txBox="1"/>
            <p:nvPr/>
          </p:nvSpPr>
          <p:spPr>
            <a:xfrm>
              <a:off x="8536681" y="5840965"/>
              <a:ext cx="20372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US Veterans Bureau</a:t>
              </a:r>
            </a:p>
            <a:p>
              <a:r>
                <a:rPr lang="en-CA" dirty="0"/>
                <a:t>1924</a:t>
              </a:r>
              <a:endParaRPr lang="en-AU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5AC1968-68D1-09E2-170C-A146D880F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6746" y="220392"/>
            <a:ext cx="4002155" cy="1325563"/>
          </a:xfrm>
        </p:spPr>
        <p:txBody>
          <a:bodyPr/>
          <a:lstStyle/>
          <a:p>
            <a:r>
              <a:rPr lang="en-US" dirty="0"/>
              <a:t>Human Computers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22B015-7AB1-0BA4-2D88-F3654337801D}"/>
              </a:ext>
            </a:extLst>
          </p:cNvPr>
          <p:cNvSpPr txBox="1"/>
          <p:nvPr/>
        </p:nvSpPr>
        <p:spPr>
          <a:xfrm>
            <a:off x="8610600" y="2206488"/>
            <a:ext cx="32567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Computer</a:t>
            </a:r>
            <a:r>
              <a:rPr lang="en-US" dirty="0"/>
              <a:t> used to mean “a person who does computations”.</a:t>
            </a:r>
          </a:p>
          <a:p>
            <a:endParaRPr lang="en-US" dirty="0"/>
          </a:p>
          <a:p>
            <a:r>
              <a:rPr lang="en-US" dirty="0"/>
              <a:t>Human computers were needed in finance, and in calculation of things like artillery tables. </a:t>
            </a:r>
          </a:p>
        </p:txBody>
      </p:sp>
    </p:spTree>
    <p:extLst>
      <p:ext uri="{BB962C8B-B14F-4D97-AF65-F5344CB8AC3E}">
        <p14:creationId xmlns:p14="http://schemas.microsoft.com/office/powerpoint/2010/main" val="3047808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B2CC3-B8FB-3D7E-41CA-70686FC2E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FA91B-AFA7-0425-E646-237E5901F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Fast can You Add Numbers?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431E7-35D0-3AF0-8BA1-D0E94C6A2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3D8E7-D2E7-3CC0-EE6A-E09EA95F2367}"/>
              </a:ext>
            </a:extLst>
          </p:cNvPr>
          <p:cNvSpPr txBox="1"/>
          <p:nvPr/>
        </p:nvSpPr>
        <p:spPr>
          <a:xfrm>
            <a:off x="400879" y="2066232"/>
            <a:ext cx="109529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-29.41  -17.77</a:t>
            </a:r>
          </a:p>
        </p:txBody>
      </p:sp>
    </p:spTree>
    <p:extLst>
      <p:ext uri="{BB962C8B-B14F-4D97-AF65-F5344CB8AC3E}">
        <p14:creationId xmlns:p14="http://schemas.microsoft.com/office/powerpoint/2010/main" val="2815104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BD888-0EF1-9888-5003-A6B6B4A16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CFB8E-1DBB-F131-BD0A-CBA4CEF46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Fast can You Add Numbers?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7B6FB0-0797-9B8A-0D73-39677570E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4E4BEE-72DB-3A54-64C9-E2FC8EECDA54}"/>
              </a:ext>
            </a:extLst>
          </p:cNvPr>
          <p:cNvSpPr txBox="1"/>
          <p:nvPr/>
        </p:nvSpPr>
        <p:spPr>
          <a:xfrm>
            <a:off x="400879" y="2066232"/>
            <a:ext cx="109529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-29.41  -17.77  14.50</a:t>
            </a:r>
          </a:p>
        </p:txBody>
      </p:sp>
    </p:spTree>
    <p:extLst>
      <p:ext uri="{BB962C8B-B14F-4D97-AF65-F5344CB8AC3E}">
        <p14:creationId xmlns:p14="http://schemas.microsoft.com/office/powerpoint/2010/main" val="208747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9646-5DFB-843D-1595-B7F221A6F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D4AAA-62C4-23B3-1BEC-47CBD9684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Fast can You Add Numbers?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E0390E-F8E8-76B1-9FE5-16612131C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B132AC-FC45-8DE3-800B-3C3398A331D8}"/>
              </a:ext>
            </a:extLst>
          </p:cNvPr>
          <p:cNvSpPr txBox="1"/>
          <p:nvPr/>
        </p:nvSpPr>
        <p:spPr>
          <a:xfrm>
            <a:off x="400879" y="2066232"/>
            <a:ext cx="1095292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-29.41  -17.77  14.50  21.67  -26.20  42.03  -36.26  -37.15  -1.71  -44.74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47.49  -41.78  43.49  -17.45  -31.53  -45.13  -46.20  45.56  1.90  35.39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-34.27  -43.01  -23.81  43.26  47.06  -8.04  -15.09  -26.69  48.40  -16.27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8.21  12.14  33.82  45.84  6.14  47.82  18.74  -43.77  6.86  -43.48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-41.61  -39.93  47.83  2.44  -14.62  45.81  11.76  32.67  -44.14  -21.53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6.65  2.90  -36.07  3.02  -42.65  19.27  8.93  21.96  44.30  8.65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15.80  -25.86  -14.01  -27.05  -38.98  -25.45  43.20  14.68  44.99  -29.57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2.72  32.17  0.33  41.66  37.18  -32.27  -5.86  -28.08  -45.73  1.70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-36.63  12.24  44.89  -19.64  -19.67  10.11  -18.18  -30.36  17.58  -22.84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28.31  -43.76  29.56  22.45  16.78  -5.15  40.38  26.56  31.55  -21.28  </a:t>
            </a:r>
          </a:p>
        </p:txBody>
      </p:sp>
    </p:spTree>
    <p:extLst>
      <p:ext uri="{BB962C8B-B14F-4D97-AF65-F5344CB8AC3E}">
        <p14:creationId xmlns:p14="http://schemas.microsoft.com/office/powerpoint/2010/main" val="1762603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DB79-B342-0D3B-EC3E-C37C179B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6094B-57F6-11F6-97D6-C926C86F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Fast can You Add Numbers?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F79A54-AC47-7575-075E-0D13979D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851D05-BE00-163C-5427-ADD76B519C13}"/>
              </a:ext>
            </a:extLst>
          </p:cNvPr>
          <p:cNvSpPr txBox="1"/>
          <p:nvPr/>
        </p:nvSpPr>
        <p:spPr>
          <a:xfrm>
            <a:off x="400879" y="2066232"/>
            <a:ext cx="1095292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-29.41  -17.77  14.50  21.67  -26.20  42.03  -36.26  -37.15  -1.71  -44.74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47.49  -41.78  43.49  -17.45  -31.53  -45.13  -46.20  45.56  1.90  35.39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-34.27  -43.01  -23.81  43.26  47.06  -8.04  -15.09  -26.69  48.40  -16.27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8.21  12.14  33.82  45.84  6.14  47.82  18.74  -43.77  6.86  -43.48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-41.61  -39.93  47.83  2.44  -14.62  45.81  11.76  32.67  -44.14  -21.53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6.65  2.90  -36.07  3.02  -42.65  19.27  8.93  21.96  44.30  8.65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15.80  -25.86  -14.01  -27.05  -38.98  -25.45  43.20  14.68  44.99  -29.57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2.72  32.17  0.33  41.66  37.18  -32.27  -5.86  -28.08  -45.73  1.70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-36.63  12.24  44.89  -19.64  -19.67  10.11  -18.18  -30.36  17.58  -22.84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28.31  -43.76  29.56  22.45  16.78  -5.15  40.38  26.56  31.55  -21.28  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4D641071-80EE-1EC8-5C0C-07B7C9DA0F81}"/>
              </a:ext>
            </a:extLst>
          </p:cNvPr>
          <p:cNvSpPr txBox="1">
            <a:spLocks/>
          </p:cNvSpPr>
          <p:nvPr/>
        </p:nvSpPr>
        <p:spPr>
          <a:xfrm>
            <a:off x="3373482" y="5502030"/>
            <a:ext cx="3752874" cy="8656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CA" sz="1400" dirty="0"/>
              <a:t>If you were a human computer working for a bank, these might be the transactions on a bank account over the week. Adding these up tells you the balance of the account.</a:t>
            </a:r>
            <a:endParaRPr lang="en-AU" sz="1400" dirty="0"/>
          </a:p>
        </p:txBody>
      </p:sp>
    </p:spTree>
    <p:extLst>
      <p:ext uri="{BB962C8B-B14F-4D97-AF65-F5344CB8AC3E}">
        <p14:creationId xmlns:p14="http://schemas.microsoft.com/office/powerpoint/2010/main" val="419798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A4D2B-EB70-10F0-E7D1-5F70EBF54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315AE-2DB6-EAF6-5FE1-77235BCDC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Fast can You Add Numbers?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B11938-51DC-A1B8-C085-CB5BB1D60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AF8FA-0A79-4AA7-AB33-8398C1FED37E}" type="slidenum">
              <a:rPr lang="en-AU" smtClean="0"/>
              <a:t>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DDC151-23E3-CD7E-25E4-236A4F5CF10A}"/>
              </a:ext>
            </a:extLst>
          </p:cNvPr>
          <p:cNvSpPr txBox="1"/>
          <p:nvPr/>
        </p:nvSpPr>
        <p:spPr>
          <a:xfrm>
            <a:off x="400879" y="2066232"/>
            <a:ext cx="1095292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-29.41  -17.77  14.50  21.67  -26.20  42.03  -36.26  -37.15  -1.71  -44.74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47.49  -41.78  43.49  -17.45  -31.53  -45.13  -46.20  45.56  1.90  35.39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-34.27  -43.01  -23.81  43.26  47.06  -8.04  -15.09  -26.69  48.40  -16.27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8.21  12.14  33.82  45.84  6.14  47.82  18.74  -43.77  6.86  -43.48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-41.61  -39.93  47.83  2.44  -14.62  45.81  11.76  32.67  -44.14  -21.53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6.65  2.90  -36.07  3.02  -42.65  19.27  8.93  21.96  44.30  8.65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15.80  -25.86  -14.01  -27.05  -38.98  -25.45  43.20  14.68  44.99  -29.57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2.72  32.17  0.33  41.66  37.18  -32.27  -5.86  -28.08  -45.73  1.70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-36.63  12.24  44.89  -19.64  -19.67  10.11  -18.18  -30.36  17.58  -22.84 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28.31  -43.76  29.56  22.45  16.78  -5.15  40.38  26.56  31.55  -21.28  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D2024F0-048D-903D-B198-3E0B95B5B1D0}"/>
              </a:ext>
            </a:extLst>
          </p:cNvPr>
          <p:cNvSpPr txBox="1">
            <a:spLocks/>
          </p:cNvSpPr>
          <p:nvPr/>
        </p:nvSpPr>
        <p:spPr>
          <a:xfrm>
            <a:off x="3373482" y="5502030"/>
            <a:ext cx="3752874" cy="8656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CA" sz="1400" dirty="0"/>
              <a:t>If you were a human computer working for a bank, these might be the transactions on a bank account over the week. Adding these up tells you the balance of the account.</a:t>
            </a:r>
            <a:endParaRPr lang="en-A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0AD899-D02B-AAAB-20C0-E9BD9DE9C106}"/>
              </a:ext>
            </a:extLst>
          </p:cNvPr>
          <p:cNvSpPr txBox="1"/>
          <p:nvPr/>
        </p:nvSpPr>
        <p:spPr>
          <a:xfrm>
            <a:off x="8686800" y="5428210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00B050"/>
                </a:solidFill>
              </a:rPr>
              <a:t>24.03</a:t>
            </a:r>
          </a:p>
        </p:txBody>
      </p:sp>
    </p:spTree>
    <p:extLst>
      <p:ext uri="{BB962C8B-B14F-4D97-AF65-F5344CB8AC3E}">
        <p14:creationId xmlns:p14="http://schemas.microsoft.com/office/powerpoint/2010/main" val="3017744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3392A-A6A0-5CAE-87F6-A48828323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Pascaline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E0DBD0C0-996D-38A3-A4E1-42EE86890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25" y="1538692"/>
            <a:ext cx="7023722" cy="4683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CFB92A-F89A-39A9-85F3-905167B95E3C}"/>
              </a:ext>
            </a:extLst>
          </p:cNvPr>
          <p:cNvSpPr txBox="1"/>
          <p:nvPr/>
        </p:nvSpPr>
        <p:spPr>
          <a:xfrm>
            <a:off x="7861922" y="1397675"/>
            <a:ext cx="354327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by Blaise Pascal in the</a:t>
            </a:r>
          </a:p>
          <a:p>
            <a:r>
              <a:rPr lang="en-US" dirty="0"/>
              <a:t>1640s. </a:t>
            </a:r>
          </a:p>
          <a:p>
            <a:endParaRPr lang="en-US" dirty="0"/>
          </a:p>
          <a:p>
            <a:r>
              <a:rPr lang="en-US" dirty="0"/>
              <a:t>It could do addition and subtraction</a:t>
            </a:r>
          </a:p>
          <a:p>
            <a:r>
              <a:rPr lang="en-US" dirty="0"/>
              <a:t>by turning the wheels.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4"/>
              </a:rPr>
              <a:t>Demo (in French)</a:t>
            </a:r>
            <a:endParaRPr lang="en-US" dirty="0"/>
          </a:p>
        </p:txBody>
      </p:sp>
      <p:pic>
        <p:nvPicPr>
          <p:cNvPr id="7" name="Online Media 6" descr="Additionner avec la réplique de la Pascaline 1645">
            <a:hlinkClick r:id="" action="ppaction://media"/>
            <a:extLst>
              <a:ext uri="{FF2B5EF4-FFF2-40B4-BE49-F238E27FC236}">
                <a16:creationId xmlns:a16="http://schemas.microsoft.com/office/drawing/2014/main" id="{2E4C98F6-B0D9-A22E-7271-DDB13D61DA2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861922" y="3566216"/>
            <a:ext cx="4084619" cy="230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67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98A06-7EF3-FFCF-852D-845B95728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B896-BE71-AE62-8DC5-D8889325A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95" y="76890"/>
            <a:ext cx="4101548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Charle’s Babbage’s Difference Engine</a:t>
            </a:r>
          </a:p>
        </p:txBody>
      </p:sp>
      <p:sp>
        <p:nvSpPr>
          <p:cNvPr id="9" name="AutoShape 4" descr="undefined">
            <a:extLst>
              <a:ext uri="{FF2B5EF4-FFF2-40B4-BE49-F238E27FC236}">
                <a16:creationId xmlns:a16="http://schemas.microsoft.com/office/drawing/2014/main" id="{D5951395-A9A8-141B-552E-3FC8D6AEC2FF}"/>
              </a:ext>
            </a:extLst>
          </p:cNvPr>
          <p:cNvSpPr>
            <a:spLocks noChangeAspect="1" noChangeArrowheads="1"/>
          </p:cNvSpPr>
          <p:nvPr/>
        </p:nvSpPr>
        <p:spPr bwMode="auto">
          <a:xfrm flipH="1">
            <a:off x="6248399" y="268357"/>
            <a:ext cx="3313043" cy="3313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23A7F2-E2D8-EC29-E7E5-CA3DC2800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0"/>
            <a:ext cx="7772400" cy="67826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C534BA6-9155-59EC-D125-EE9C58A0B524}"/>
              </a:ext>
            </a:extLst>
          </p:cNvPr>
          <p:cNvSpPr txBox="1"/>
          <p:nvPr/>
        </p:nvSpPr>
        <p:spPr>
          <a:xfrm>
            <a:off x="86138" y="1620079"/>
            <a:ext cx="42175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Designed by Charles Babbage in the 1820s, it was made to create tables of numbers using the method of “finite differences”. </a:t>
            </a:r>
          </a:p>
        </p:txBody>
      </p:sp>
    </p:spTree>
    <p:extLst>
      <p:ext uri="{BB962C8B-B14F-4D97-AF65-F5344CB8AC3E}">
        <p14:creationId xmlns:p14="http://schemas.microsoft.com/office/powerpoint/2010/main" val="188436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213F4-D139-3C29-2551-4ABA01E26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95" y="76890"/>
            <a:ext cx="4101548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Charle’s Babbage’s Difference Engine</a:t>
            </a:r>
          </a:p>
        </p:txBody>
      </p:sp>
      <p:sp>
        <p:nvSpPr>
          <p:cNvPr id="9" name="AutoShape 4" descr="undefined">
            <a:extLst>
              <a:ext uri="{FF2B5EF4-FFF2-40B4-BE49-F238E27FC236}">
                <a16:creationId xmlns:a16="http://schemas.microsoft.com/office/drawing/2014/main" id="{208EC47E-742A-FD15-D410-33FC9D51718C}"/>
              </a:ext>
            </a:extLst>
          </p:cNvPr>
          <p:cNvSpPr>
            <a:spLocks noChangeAspect="1" noChangeArrowheads="1"/>
          </p:cNvSpPr>
          <p:nvPr/>
        </p:nvSpPr>
        <p:spPr bwMode="auto">
          <a:xfrm flipH="1">
            <a:off x="6248399" y="268357"/>
            <a:ext cx="3313043" cy="3313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2960EF-676E-CC71-7505-BB4754A24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0"/>
            <a:ext cx="7772400" cy="67826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C13076-F0D6-9B83-E4BE-24ABF70F8804}"/>
              </a:ext>
            </a:extLst>
          </p:cNvPr>
          <p:cNvSpPr txBox="1"/>
          <p:nvPr/>
        </p:nvSpPr>
        <p:spPr>
          <a:xfrm>
            <a:off x="86138" y="1620079"/>
            <a:ext cx="42175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Designed by Charles Babbage in the 1820s, it was made to create tables of numbers using the method of “finite differences”. </a:t>
            </a:r>
          </a:p>
          <a:p>
            <a:endParaRPr lang="en-US" dirty="0"/>
          </a:p>
          <a:p>
            <a:r>
              <a:rPr lang="en-US" dirty="0"/>
              <a:t>The British government gave funding, but by the 1840s had abandoned it. The full machine Babbage wanted to make was estimated to weigh 4 tons and 25,000 mechanical parts. </a:t>
            </a:r>
          </a:p>
        </p:txBody>
      </p:sp>
    </p:spTree>
    <p:extLst>
      <p:ext uri="{BB962C8B-B14F-4D97-AF65-F5344CB8AC3E}">
        <p14:creationId xmlns:p14="http://schemas.microsoft.com/office/powerpoint/2010/main" val="3209437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6B460-F567-DB55-F6BD-978D9667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68BED-8561-6373-80A8-4BE58E0A1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95" y="76890"/>
            <a:ext cx="4101548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Charle’s Babbage’s Difference Engine</a:t>
            </a:r>
          </a:p>
        </p:txBody>
      </p:sp>
      <p:sp>
        <p:nvSpPr>
          <p:cNvPr id="9" name="AutoShape 4" descr="undefined">
            <a:extLst>
              <a:ext uri="{FF2B5EF4-FFF2-40B4-BE49-F238E27FC236}">
                <a16:creationId xmlns:a16="http://schemas.microsoft.com/office/drawing/2014/main" id="{74212BFF-21E1-A3BA-9F15-298E1E113EF2}"/>
              </a:ext>
            </a:extLst>
          </p:cNvPr>
          <p:cNvSpPr>
            <a:spLocks noChangeAspect="1" noChangeArrowheads="1"/>
          </p:cNvSpPr>
          <p:nvPr/>
        </p:nvSpPr>
        <p:spPr bwMode="auto">
          <a:xfrm flipH="1">
            <a:off x="6248399" y="268357"/>
            <a:ext cx="3313043" cy="3313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D03DC5-1374-87CC-0A1E-97CD695FC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0"/>
            <a:ext cx="7772400" cy="678263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705F47-72D2-3025-7AD1-A65AF27BEC36}"/>
              </a:ext>
            </a:extLst>
          </p:cNvPr>
          <p:cNvSpPr txBox="1"/>
          <p:nvPr/>
        </p:nvSpPr>
        <p:spPr>
          <a:xfrm>
            <a:off x="86138" y="1620079"/>
            <a:ext cx="421750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Designed by Charles Babbage in the 1820s, it was made to create tables of numbers using the method of “finite differences”. </a:t>
            </a:r>
          </a:p>
          <a:p>
            <a:endParaRPr lang="en-US" dirty="0"/>
          </a:p>
          <a:p>
            <a:r>
              <a:rPr lang="en-US" dirty="0"/>
              <a:t>The British government gave funding, but by the 1840s had abandoned it. The full machine Babbage wanted to make was estimated to weigh 4 tons and 25,000 mechanical parts. </a:t>
            </a:r>
          </a:p>
          <a:p>
            <a:endParaRPr lang="en-US" dirty="0"/>
          </a:p>
          <a:p>
            <a:r>
              <a:rPr lang="en-US" dirty="0"/>
              <a:t>While it was not a general-purpose computer, Babbage did later design a more sophisticated machine called the </a:t>
            </a:r>
            <a:r>
              <a:rPr lang="en-US" b="1" dirty="0"/>
              <a:t>Analytical Engine</a:t>
            </a:r>
            <a:r>
              <a:rPr lang="en-US" dirty="0"/>
              <a:t> which was a general-purpose computer in theory, although it was not implemented until the 1990s by the London Science Museum.</a:t>
            </a:r>
          </a:p>
        </p:txBody>
      </p:sp>
    </p:spTree>
    <p:extLst>
      <p:ext uri="{BB962C8B-B14F-4D97-AF65-F5344CB8AC3E}">
        <p14:creationId xmlns:p14="http://schemas.microsoft.com/office/powerpoint/2010/main" val="1193449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213F4-D139-3C29-2551-4ABA01E26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Charle’s Babbage’s Difference Engine</a:t>
            </a:r>
          </a:p>
        </p:txBody>
      </p:sp>
      <p:pic>
        <p:nvPicPr>
          <p:cNvPr id="6" name="Online Media 5" descr="The Babbage Difference Engine #2 at CHM">
            <a:hlinkClick r:id="" action="ppaction://media"/>
            <a:extLst>
              <a:ext uri="{FF2B5EF4-FFF2-40B4-BE49-F238E27FC236}">
                <a16:creationId xmlns:a16="http://schemas.microsoft.com/office/drawing/2014/main" id="{0096196F-8F7E-5F94-65FA-786A7EC96150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245519" y="1768614"/>
            <a:ext cx="7700962" cy="4351338"/>
          </a:xfrm>
          <a:prstGeom prst="rect">
            <a:avLst/>
          </a:prstGeom>
        </p:spPr>
      </p:pic>
      <p:sp>
        <p:nvSpPr>
          <p:cNvPr id="9" name="AutoShape 4" descr="undefined">
            <a:extLst>
              <a:ext uri="{FF2B5EF4-FFF2-40B4-BE49-F238E27FC236}">
                <a16:creationId xmlns:a16="http://schemas.microsoft.com/office/drawing/2014/main" id="{208EC47E-742A-FD15-D410-33FC9D51718C}"/>
              </a:ext>
            </a:extLst>
          </p:cNvPr>
          <p:cNvSpPr>
            <a:spLocks noChangeAspect="1" noChangeArrowheads="1"/>
          </p:cNvSpPr>
          <p:nvPr/>
        </p:nvSpPr>
        <p:spPr bwMode="auto">
          <a:xfrm flipH="1">
            <a:off x="6248399" y="268357"/>
            <a:ext cx="3313043" cy="3313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920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29CE0-C7FB-7049-2486-D67E703F5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931" y="109332"/>
            <a:ext cx="10515600" cy="1325563"/>
          </a:xfrm>
        </p:spPr>
        <p:txBody>
          <a:bodyPr/>
          <a:lstStyle/>
          <a:p>
            <a:r>
              <a:rPr lang="en-US" dirty="0"/>
              <a:t>Slide Rule: Calculates Logarithms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2851E1E-C5D8-C6E8-D772-709AE541A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9269" y="1171507"/>
            <a:ext cx="12192000" cy="3521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92B691-4CBE-65FF-F97A-550650613CB9}"/>
              </a:ext>
            </a:extLst>
          </p:cNvPr>
          <p:cNvSpPr txBox="1"/>
          <p:nvPr/>
        </p:nvSpPr>
        <p:spPr>
          <a:xfrm>
            <a:off x="2092943" y="4692582"/>
            <a:ext cx="87894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hand-held calculators become common in the 1970s, many engineers and scientists</a:t>
            </a:r>
          </a:p>
          <a:p>
            <a:r>
              <a:rPr lang="en-US" dirty="0"/>
              <a:t>Used slide rules to do calculations. They require that you understand how to use logarithms.</a:t>
            </a:r>
          </a:p>
        </p:txBody>
      </p:sp>
      <p:pic>
        <p:nvPicPr>
          <p:cNvPr id="1028" name="Picture 4" descr="Pulp-era pirate illustrations with slide rules">
            <a:extLst>
              <a:ext uri="{FF2B5EF4-FFF2-40B4-BE49-F238E27FC236}">
                <a16:creationId xmlns:a16="http://schemas.microsoft.com/office/drawing/2014/main" id="{C0521348-6253-EECC-301C-53D79FC5D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" y="4579248"/>
            <a:ext cx="1536437" cy="2123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716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82AFD-197F-8311-E928-F510F28E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5D5E4C-32BE-6497-6B1B-5CC6530CFE31}"/>
              </a:ext>
            </a:extLst>
          </p:cNvPr>
          <p:cNvSpPr txBox="1"/>
          <p:nvPr/>
        </p:nvSpPr>
        <p:spPr>
          <a:xfrm>
            <a:off x="9087633" y="5151638"/>
            <a:ext cx="2703304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/>
              <a:t>ENIAC, 1945</a:t>
            </a:r>
            <a:br>
              <a:rPr lang="en-CA" sz="2000" dirty="0"/>
            </a:br>
            <a:r>
              <a:rPr lang="en-CA" sz="2000" i="1" dirty="0"/>
              <a:t>1</a:t>
            </a:r>
            <a:r>
              <a:rPr lang="en-CA" sz="2000" i="1" baseline="30000" dirty="0"/>
              <a:t>st</a:t>
            </a:r>
            <a:r>
              <a:rPr lang="en-CA" sz="2000" i="1" dirty="0"/>
              <a:t> automatic electronic </a:t>
            </a:r>
            <a:br>
              <a:rPr lang="en-CA" sz="2000" i="1" dirty="0"/>
            </a:br>
            <a:r>
              <a:rPr lang="en-CA" sz="2000" i="1" dirty="0"/>
              <a:t>computer</a:t>
            </a:r>
          </a:p>
          <a:p>
            <a:r>
              <a:rPr lang="en-CA" sz="1600" dirty="0"/>
              <a:t>Glenn Beck</a:t>
            </a:r>
            <a:br>
              <a:rPr lang="en-CA" sz="1600" dirty="0"/>
            </a:br>
            <a:r>
              <a:rPr lang="en-CA" sz="1600" dirty="0"/>
              <a:t>Betty Snyder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05D5E7-2452-5A9D-9387-F199508D1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0AD88F9-027B-B6B3-C296-01DEEE103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4337" y="119196"/>
            <a:ext cx="3217664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CA" sz="2800" dirty="0"/>
              <a:t>In the 1930s, the idea of an electronic calculator was in the air!</a:t>
            </a:r>
            <a:endParaRPr lang="en-AU" sz="2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398424-9821-BD86-6DE3-AF08BED95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89743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353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D48CA-56D3-DD84-29D6-98DA22040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2C6129-6D8A-6341-A779-0631E724A6C1}"/>
              </a:ext>
            </a:extLst>
          </p:cNvPr>
          <p:cNvSpPr txBox="1"/>
          <p:nvPr/>
        </p:nvSpPr>
        <p:spPr>
          <a:xfrm>
            <a:off x="9087633" y="5151638"/>
            <a:ext cx="2703304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/>
              <a:t>ENIAC, 1945</a:t>
            </a:r>
            <a:br>
              <a:rPr lang="en-CA" sz="2000" dirty="0"/>
            </a:br>
            <a:r>
              <a:rPr lang="en-CA" sz="2000" i="1" dirty="0"/>
              <a:t>1</a:t>
            </a:r>
            <a:r>
              <a:rPr lang="en-CA" sz="2000" i="1" baseline="30000" dirty="0"/>
              <a:t>st</a:t>
            </a:r>
            <a:r>
              <a:rPr lang="en-CA" sz="2000" i="1" dirty="0"/>
              <a:t> automatic electronic </a:t>
            </a:r>
            <a:br>
              <a:rPr lang="en-CA" sz="2000" i="1" dirty="0"/>
            </a:br>
            <a:r>
              <a:rPr lang="en-CA" sz="2000" i="1" dirty="0"/>
              <a:t>computer</a:t>
            </a:r>
          </a:p>
          <a:p>
            <a:r>
              <a:rPr lang="en-CA" sz="1600" dirty="0"/>
              <a:t>Glenn Beck</a:t>
            </a:r>
            <a:br>
              <a:rPr lang="en-CA" sz="1600" dirty="0"/>
            </a:br>
            <a:r>
              <a:rPr lang="en-CA" sz="1600" dirty="0"/>
              <a:t>Betty Snyder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30F810-EFFB-3C05-0B4D-7A612E42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CMPT 120, SFU Burnaby, Fall 2024, Instructor: T. Donaldson</a:t>
            </a:r>
            <a:endParaRPr lang="en-AU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BEEC1FB-5929-EC8E-C59C-47A30B4AE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4337" y="119196"/>
            <a:ext cx="3217664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CA" sz="2800" dirty="0"/>
              <a:t>In the 1930s, the idea of an electronic calculator was in the air!</a:t>
            </a:r>
            <a:endParaRPr lang="en-AU" sz="2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361FA6B-9DF5-AAEC-7F7B-F0691DA2DD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8974336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E32E86-B64A-3927-3626-291FD6C5F157}"/>
              </a:ext>
            </a:extLst>
          </p:cNvPr>
          <p:cNvSpPr txBox="1"/>
          <p:nvPr/>
        </p:nvSpPr>
        <p:spPr>
          <a:xfrm>
            <a:off x="9180400" y="2146228"/>
            <a:ext cx="30944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Extremely challenging</a:t>
            </a:r>
          </a:p>
          <a:p>
            <a:r>
              <a:rPr lang="en-US" dirty="0"/>
              <a:t>to create, and many “partial”</a:t>
            </a:r>
          </a:p>
          <a:p>
            <a:r>
              <a:rPr lang="en-US" dirty="0"/>
              <a:t>computers were created before arriving at the basic design we use for most computers today.</a:t>
            </a:r>
          </a:p>
        </p:txBody>
      </p:sp>
    </p:spTree>
    <p:extLst>
      <p:ext uri="{BB962C8B-B14F-4D97-AF65-F5344CB8AC3E}">
        <p14:creationId xmlns:p14="http://schemas.microsoft.com/office/powerpoint/2010/main" val="4058929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77DE2-9841-9851-27A8-9BD3508F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Univac TV Commercial (1954)</a:t>
            </a:r>
          </a:p>
        </p:txBody>
      </p:sp>
      <p:pic>
        <p:nvPicPr>
          <p:cNvPr id="6" name="Online Media 5" descr="Univac Computer Commercial 1954">
            <a:hlinkClick r:id="" action="ppaction://media"/>
            <a:extLst>
              <a:ext uri="{FF2B5EF4-FFF2-40B4-BE49-F238E27FC236}">
                <a16:creationId xmlns:a16="http://schemas.microsoft.com/office/drawing/2014/main" id="{86CBCA20-AB85-FC52-323D-AAB447891E93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3424238" y="1532806"/>
            <a:ext cx="58023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725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E5B5A-6470-BB64-9545-025E432D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78" y="348668"/>
            <a:ext cx="6346371" cy="1325563"/>
          </a:xfrm>
        </p:spPr>
        <p:txBody>
          <a:bodyPr/>
          <a:lstStyle/>
          <a:p>
            <a:r>
              <a:rPr lang="en-CA" dirty="0"/>
              <a:t>What is Computer Science?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709080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1D890-F628-D2A5-3B94-8DD08BE65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4A57E-D15E-9FBF-7E2A-195FD175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78" y="348668"/>
            <a:ext cx="6346371" cy="1325563"/>
          </a:xfrm>
        </p:spPr>
        <p:txBody>
          <a:bodyPr/>
          <a:lstStyle/>
          <a:p>
            <a:r>
              <a:rPr lang="en-CA" dirty="0"/>
              <a:t>What is Computer Science?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82F21D-1821-B685-13B5-B20A15B42920}"/>
              </a:ext>
            </a:extLst>
          </p:cNvPr>
          <p:cNvSpPr txBox="1"/>
          <p:nvPr/>
        </p:nvSpPr>
        <p:spPr>
          <a:xfrm>
            <a:off x="978883" y="1422825"/>
            <a:ext cx="52197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000" b="1" dirty="0">
                <a:solidFill>
                  <a:srgbClr val="00B050"/>
                </a:solidFill>
              </a:rPr>
              <a:t>the systematic study of </a:t>
            </a:r>
            <a:br>
              <a:rPr lang="en-CA" sz="4000" b="1" dirty="0">
                <a:solidFill>
                  <a:srgbClr val="00B050"/>
                </a:solidFill>
              </a:rPr>
            </a:br>
            <a:r>
              <a:rPr lang="en-CA" sz="4000" b="1" dirty="0">
                <a:solidFill>
                  <a:srgbClr val="00B050"/>
                </a:solidFill>
              </a:rPr>
              <a:t>computation</a:t>
            </a:r>
            <a:endParaRPr lang="en-AU" sz="4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88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3885F-D1FC-168F-65CF-16739ED73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0D02A-340D-A117-E1F1-43F2F6F2E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78" y="348668"/>
            <a:ext cx="6346371" cy="1325563"/>
          </a:xfrm>
        </p:spPr>
        <p:txBody>
          <a:bodyPr/>
          <a:lstStyle/>
          <a:p>
            <a:r>
              <a:rPr lang="en-CA" dirty="0"/>
              <a:t>What is Computer Science?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12293-362F-D4EE-32A0-2A8F43B86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461" y="2596845"/>
            <a:ext cx="5416603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AU" dirty="0"/>
          </a:p>
          <a:p>
            <a:pPr marL="0" indent="0" algn="ctr">
              <a:buNone/>
            </a:pPr>
            <a:r>
              <a:rPr lang="en-AU" i="1" dirty="0"/>
              <a:t>Programming, software engineering, databases, operating systems, computer graphics, multimedia systems, data science, machine learning, programming languages, computability and complexity theory, cryptography, networking, human-computer interaction, robotics, </a:t>
            </a:r>
            <a:r>
              <a:rPr lang="en-AU" dirty="0"/>
              <a:t>…</a:t>
            </a:r>
            <a:br>
              <a:rPr lang="en-AU" dirty="0"/>
            </a:b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1AE6A9-D129-22DF-5B07-3B4388F817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361"/>
          <a:stretch/>
        </p:blipFill>
        <p:spPr>
          <a:xfrm>
            <a:off x="7165825" y="660827"/>
            <a:ext cx="4918599" cy="46619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447732E-17EB-4000-1EB9-3E2B5B5F173A}"/>
              </a:ext>
            </a:extLst>
          </p:cNvPr>
          <p:cNvSpPr txBox="1"/>
          <p:nvPr/>
        </p:nvSpPr>
        <p:spPr>
          <a:xfrm>
            <a:off x="978883" y="1422825"/>
            <a:ext cx="52197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000" b="1" dirty="0">
                <a:solidFill>
                  <a:srgbClr val="00B050"/>
                </a:solidFill>
              </a:rPr>
              <a:t>the systematic study of </a:t>
            </a:r>
            <a:br>
              <a:rPr lang="en-CA" sz="4000" b="1" dirty="0">
                <a:solidFill>
                  <a:srgbClr val="00B050"/>
                </a:solidFill>
              </a:rPr>
            </a:br>
            <a:r>
              <a:rPr lang="en-CA" sz="4000" b="1" dirty="0">
                <a:solidFill>
                  <a:srgbClr val="00B050"/>
                </a:solidFill>
              </a:rPr>
              <a:t>computation</a:t>
            </a:r>
            <a:endParaRPr lang="en-AU" sz="4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3776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3C7F19-5CB6-83C9-20AE-495FD3AD6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255" y="0"/>
            <a:ext cx="61087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B8A598-9680-376C-E1D6-54A829476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75" y="2062482"/>
            <a:ext cx="4614963" cy="1325563"/>
          </a:xfrm>
        </p:spPr>
        <p:txBody>
          <a:bodyPr/>
          <a:lstStyle/>
          <a:p>
            <a:r>
              <a:rPr lang="en-CA" dirty="0"/>
              <a:t>Is Python Popular?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B4E07-1F51-7A75-5ADD-878AD0E7F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81" y="3388045"/>
            <a:ext cx="4291149" cy="16185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CA" sz="9600" b="1" dirty="0"/>
              <a:t>Yes!</a:t>
            </a:r>
            <a:endParaRPr lang="en-CA" sz="9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E11BE6-978C-CED4-710D-7A534E823DF9}"/>
              </a:ext>
            </a:extLst>
          </p:cNvPr>
          <p:cNvSpPr txBox="1"/>
          <p:nvPr/>
        </p:nvSpPr>
        <p:spPr>
          <a:xfrm>
            <a:off x="6738624" y="5639941"/>
            <a:ext cx="468596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PYPL Popularity of Programming Language</a:t>
            </a:r>
          </a:p>
          <a:p>
            <a:pPr algn="ctr"/>
            <a:r>
              <a:rPr lang="en-US" sz="1200" dirty="0">
                <a:solidFill>
                  <a:srgbClr val="333333"/>
                </a:solidFill>
                <a:latin typeface="Helvetica Neue"/>
              </a:rPr>
              <a:t>(based on how often language tutorials are searched for)</a:t>
            </a:r>
            <a:br>
              <a:rPr lang="en-AU" sz="1200" dirty="0"/>
            </a:br>
            <a:r>
              <a:rPr lang="en-AU" sz="1200" dirty="0"/>
              <a:t>https://pypl.github.io/PYPL.html</a:t>
            </a:r>
          </a:p>
        </p:txBody>
      </p:sp>
      <p:pic>
        <p:nvPicPr>
          <p:cNvPr id="1026" name="Picture 2" descr="The Python Logo | Python Software Foundation">
            <a:extLst>
              <a:ext uri="{FF2B5EF4-FFF2-40B4-BE49-F238E27FC236}">
                <a16:creationId xmlns:a16="http://schemas.microsoft.com/office/drawing/2014/main" id="{D3AEDDEB-891C-B393-56C0-09D538ECC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72452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A42033F9-FA85-D3C1-E3FB-F8355BBC683D}"/>
              </a:ext>
            </a:extLst>
          </p:cNvPr>
          <p:cNvSpPr/>
          <p:nvPr/>
        </p:nvSpPr>
        <p:spPr>
          <a:xfrm>
            <a:off x="5724524" y="815414"/>
            <a:ext cx="6467475" cy="5760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5784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02B04-62E1-3B80-F8A6-AC6690643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F6955-75C1-A543-4F91-7FACFD55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75" y="2062482"/>
            <a:ext cx="4614963" cy="1325563"/>
          </a:xfrm>
        </p:spPr>
        <p:txBody>
          <a:bodyPr/>
          <a:lstStyle/>
          <a:p>
            <a:r>
              <a:rPr lang="en-CA" dirty="0"/>
              <a:t>Is Python Popular?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D151D-34EB-8A97-0CF1-E5E035890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81" y="3388045"/>
            <a:ext cx="4291149" cy="161857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CA" sz="9600" b="1" dirty="0"/>
              <a:t>Yes!</a:t>
            </a:r>
            <a:endParaRPr lang="en-CA" sz="9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1739F5-77ED-FA2C-BA98-80C493FD930D}"/>
              </a:ext>
            </a:extLst>
          </p:cNvPr>
          <p:cNvSpPr txBox="1"/>
          <p:nvPr/>
        </p:nvSpPr>
        <p:spPr>
          <a:xfrm>
            <a:off x="7650496" y="4619206"/>
            <a:ext cx="25242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TIOBE Index</a:t>
            </a:r>
          </a:p>
          <a:p>
            <a:pPr algn="ctr"/>
            <a:r>
              <a:rPr lang="en-US" sz="1200" dirty="0">
                <a:solidFill>
                  <a:srgbClr val="333333"/>
                </a:solidFill>
                <a:latin typeface="Helvetica Neue"/>
              </a:rPr>
              <a:t>(</a:t>
            </a:r>
            <a:r>
              <a:rPr lang="en-AU" sz="1200" dirty="0"/>
              <a:t>https://</a:t>
            </a:r>
            <a:r>
              <a:rPr lang="en-AU" sz="1200" dirty="0" err="1"/>
              <a:t>www.tiobe.com</a:t>
            </a:r>
            <a:r>
              <a:rPr lang="en-AU" sz="1200" dirty="0"/>
              <a:t>/</a:t>
            </a:r>
            <a:r>
              <a:rPr lang="en-AU" sz="1200" dirty="0" err="1"/>
              <a:t>tiobe</a:t>
            </a:r>
            <a:r>
              <a:rPr lang="en-AU" sz="1200" dirty="0"/>
              <a:t>-index/</a:t>
            </a:r>
          </a:p>
        </p:txBody>
      </p:sp>
      <p:pic>
        <p:nvPicPr>
          <p:cNvPr id="1026" name="Picture 2" descr="The Python Logo | Python Software Foundation">
            <a:extLst>
              <a:ext uri="{FF2B5EF4-FFF2-40B4-BE49-F238E27FC236}">
                <a16:creationId xmlns:a16="http://schemas.microsoft.com/office/drawing/2014/main" id="{9FE828D4-47F3-B047-FB2A-0E86D738C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72452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C97252-1D03-D3D5-F188-31567A9BD0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285" y="1517785"/>
            <a:ext cx="6234940" cy="2827648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F294CF61-A6C3-ADA3-3291-C802DCC837BB}"/>
              </a:ext>
            </a:extLst>
          </p:cNvPr>
          <p:cNvSpPr/>
          <p:nvPr/>
        </p:nvSpPr>
        <p:spPr>
          <a:xfrm>
            <a:off x="5290055" y="1684796"/>
            <a:ext cx="6656780" cy="2487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0582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B4E07-1F51-7A75-5ADD-878AD0E7F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056" y="2185750"/>
            <a:ext cx="467214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Is Python popular in </a:t>
            </a:r>
            <a:r>
              <a:rPr lang="en-CA" b="1" dirty="0"/>
              <a:t>data science</a:t>
            </a:r>
            <a:r>
              <a:rPr lang="en-CA" dirty="0"/>
              <a:t> and </a:t>
            </a:r>
            <a:r>
              <a:rPr lang="en-CA" b="1" dirty="0"/>
              <a:t>machine learning </a:t>
            </a:r>
            <a:r>
              <a:rPr lang="en-CA" dirty="0"/>
              <a:t>(ML)?</a:t>
            </a:r>
          </a:p>
        </p:txBody>
      </p:sp>
      <p:pic>
        <p:nvPicPr>
          <p:cNvPr id="3074" name="Picture 2" descr="Best Python Libraries for Machine Learning and Deep Learning | by Claire D.  Costa | Towards Data Science">
            <a:extLst>
              <a:ext uri="{FF2B5EF4-FFF2-40B4-BE49-F238E27FC236}">
                <a16:creationId xmlns:a16="http://schemas.microsoft.com/office/drawing/2014/main" id="{AA0D975B-49F8-5917-BC19-56788F2E06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16" r="16786"/>
          <a:stretch/>
        </p:blipFill>
        <p:spPr bwMode="auto">
          <a:xfrm>
            <a:off x="4772297" y="0"/>
            <a:ext cx="741970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51B5280-9E23-4DE6-5AD8-9C650F01BEEB}"/>
              </a:ext>
            </a:extLst>
          </p:cNvPr>
          <p:cNvSpPr txBox="1">
            <a:spLocks/>
          </p:cNvSpPr>
          <p:nvPr/>
        </p:nvSpPr>
        <p:spPr>
          <a:xfrm>
            <a:off x="435556" y="3844778"/>
            <a:ext cx="4291149" cy="161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CA" sz="9600" b="1" dirty="0"/>
              <a:t>Yes!</a:t>
            </a:r>
            <a:endParaRPr lang="en-CA" sz="9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6395B-C94B-DF7D-3688-0DBFAD550EE4}"/>
              </a:ext>
            </a:extLst>
          </p:cNvPr>
          <p:cNvSpPr txBox="1"/>
          <p:nvPr/>
        </p:nvSpPr>
        <p:spPr>
          <a:xfrm>
            <a:off x="5724525" y="136525"/>
            <a:ext cx="6361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/>
              <a:t>Some popular Python libraries for data science and machine learning</a:t>
            </a:r>
            <a:endParaRPr lang="en-AU" sz="1600" dirty="0"/>
          </a:p>
        </p:txBody>
      </p:sp>
      <p:pic>
        <p:nvPicPr>
          <p:cNvPr id="2" name="Picture 2" descr="The Python Logo | Python Software Foundation">
            <a:extLst>
              <a:ext uri="{FF2B5EF4-FFF2-40B4-BE49-F238E27FC236}">
                <a16:creationId xmlns:a16="http://schemas.microsoft.com/office/drawing/2014/main" id="{94A22455-C495-C4EB-6E95-BA1244AFF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72452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359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8A598-9680-376C-E1D6-54A829476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732" y="1610846"/>
            <a:ext cx="10515600" cy="1325563"/>
          </a:xfrm>
        </p:spPr>
        <p:txBody>
          <a:bodyPr/>
          <a:lstStyle/>
          <a:p>
            <a:r>
              <a:rPr lang="en-CA" dirty="0"/>
              <a:t>Python is also popular in …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B4E07-1F51-7A75-5ADD-878AD0E7F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32" y="2871560"/>
            <a:ext cx="10515600" cy="2992691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Scripting</a:t>
            </a:r>
          </a:p>
          <a:p>
            <a:pPr marL="457200" lvl="1" indent="0">
              <a:buNone/>
            </a:pPr>
            <a:r>
              <a:rPr lang="en-CA" dirty="0"/>
              <a:t>scripts are programs that “glue” together other programs, even ones written in other languages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Education</a:t>
            </a:r>
          </a:p>
          <a:p>
            <a:pPr marL="457200" lvl="1" indent="0">
              <a:buNone/>
            </a:pPr>
            <a:r>
              <a:rPr lang="en-CA" dirty="0"/>
              <a:t>popular 1</a:t>
            </a:r>
            <a:r>
              <a:rPr lang="en-CA" baseline="30000" dirty="0"/>
              <a:t>st</a:t>
            </a:r>
            <a:r>
              <a:rPr lang="en-CA" dirty="0"/>
              <a:t> programming language</a:t>
            </a:r>
          </a:p>
          <a:p>
            <a:pPr lvl="1"/>
            <a:endParaRPr lang="en-CA" dirty="0"/>
          </a:p>
        </p:txBody>
      </p:sp>
      <p:pic>
        <p:nvPicPr>
          <p:cNvPr id="4" name="Picture 2" descr="The Python Logo | Python Software Foundation">
            <a:extLst>
              <a:ext uri="{FF2B5EF4-FFF2-40B4-BE49-F238E27FC236}">
                <a16:creationId xmlns:a16="http://schemas.microsoft.com/office/drawing/2014/main" id="{96FFC5E5-EF70-2984-6964-D62B106A8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72452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2316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B4E07-1F51-7A75-5ADD-878AD0E7F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384" y="2428612"/>
            <a:ext cx="3933585" cy="13325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CA" dirty="0"/>
              <a:t>Are Python programs known for running </a:t>
            </a:r>
            <a:r>
              <a:rPr lang="en-CA" b="1" dirty="0"/>
              <a:t>efficiently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62674C-5820-C227-80B8-92E31FE6AB60}"/>
              </a:ext>
            </a:extLst>
          </p:cNvPr>
          <p:cNvSpPr txBox="1">
            <a:spLocks/>
          </p:cNvSpPr>
          <p:nvPr/>
        </p:nvSpPr>
        <p:spPr>
          <a:xfrm>
            <a:off x="404820" y="3994406"/>
            <a:ext cx="4291149" cy="161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CA" sz="9600" b="1" dirty="0"/>
              <a:t>No!</a:t>
            </a:r>
            <a:endParaRPr lang="en-CA" sz="9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1C5E11-83F3-84D7-5722-CE612AA99C9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52"/>
          <a:stretch/>
        </p:blipFill>
        <p:spPr>
          <a:xfrm>
            <a:off x="6454193" y="832380"/>
            <a:ext cx="4809686" cy="365811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778A00-23BF-DE4F-3844-8A170C545463}"/>
              </a:ext>
            </a:extLst>
          </p:cNvPr>
          <p:cNvSpPr txBox="1"/>
          <p:nvPr/>
        </p:nvSpPr>
        <p:spPr>
          <a:xfrm>
            <a:off x="6428787" y="4886317"/>
            <a:ext cx="486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Java is another popular 1</a:t>
            </a:r>
            <a:r>
              <a:rPr lang="en-CA" baseline="30000" dirty="0"/>
              <a:t>st</a:t>
            </a:r>
            <a:r>
              <a:rPr lang="en-CA" dirty="0"/>
              <a:t> programming language</a:t>
            </a:r>
            <a:endParaRPr lang="en-AU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4B4471-B579-84C8-46CB-AF70E03D2243}"/>
              </a:ext>
            </a:extLst>
          </p:cNvPr>
          <p:cNvSpPr/>
          <p:nvPr/>
        </p:nvSpPr>
        <p:spPr>
          <a:xfrm>
            <a:off x="10100936" y="3607175"/>
            <a:ext cx="1188349" cy="97587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E16E1B-2A29-E6C2-47D4-BA5E26116398}"/>
              </a:ext>
            </a:extLst>
          </p:cNvPr>
          <p:cNvSpPr txBox="1"/>
          <p:nvPr/>
        </p:nvSpPr>
        <p:spPr>
          <a:xfrm>
            <a:off x="6333643" y="5243644"/>
            <a:ext cx="5427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n-body</a:t>
            </a:r>
            <a:r>
              <a:rPr lang="en-CA" dirty="0"/>
              <a:t> is a test program that calculates planetary orbits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4F96C-2F84-616D-036F-624DB5441780}"/>
              </a:ext>
            </a:extLst>
          </p:cNvPr>
          <p:cNvSpPr txBox="1"/>
          <p:nvPr/>
        </p:nvSpPr>
        <p:spPr>
          <a:xfrm>
            <a:off x="5973253" y="5635647"/>
            <a:ext cx="609429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From the Computer Languages Benchmark Game</a:t>
            </a:r>
            <a:br>
              <a:rPr lang="en-CA" dirty="0"/>
            </a:br>
            <a:r>
              <a:rPr lang="en-CA" sz="1200" dirty="0"/>
              <a:t>https://benchmarksgame-team.pages.debian.net/benchmarksgame/fastest/python3-java.html</a:t>
            </a:r>
            <a:endParaRPr lang="en-AU" sz="1200" dirty="0"/>
          </a:p>
        </p:txBody>
      </p:sp>
      <p:pic>
        <p:nvPicPr>
          <p:cNvPr id="2" name="Picture 2" descr="The Python Logo | Python Software Foundation">
            <a:extLst>
              <a:ext uri="{FF2B5EF4-FFF2-40B4-BE49-F238E27FC236}">
                <a16:creationId xmlns:a16="http://schemas.microsoft.com/office/drawing/2014/main" id="{DA7DA062-EBB9-D3DD-4AF8-EBEB9869B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72452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9576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 animBg="1"/>
      <p:bldP spid="11" grpId="0"/>
      <p:bldP spid="1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F183D-254F-F840-3AE0-581412565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1750" y="365125"/>
            <a:ext cx="5122049" cy="1325563"/>
          </a:xfrm>
        </p:spPr>
        <p:txBody>
          <a:bodyPr/>
          <a:lstStyle/>
          <a:p>
            <a:r>
              <a:rPr lang="en-CA" dirty="0"/>
              <a:t>If it’s so slow, why is it so popular?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0FAE5-685F-9F19-A59F-F1720B12E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CA" dirty="0"/>
              <a:t>It’s relatively </a:t>
            </a:r>
            <a:r>
              <a:rPr lang="en-CA" b="1" dirty="0"/>
              <a:t>easy to learn</a:t>
            </a:r>
            <a:r>
              <a:rPr lang="en-CA" dirty="0"/>
              <a:t>.</a:t>
            </a:r>
            <a:br>
              <a:rPr lang="en-CA" dirty="0"/>
            </a:b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Python programs are often quite </a:t>
            </a:r>
            <a:r>
              <a:rPr lang="en-CA" b="1" dirty="0"/>
              <a:t>readable</a:t>
            </a:r>
            <a:r>
              <a:rPr lang="en-CA" dirty="0"/>
              <a:t>.</a:t>
            </a:r>
            <a:br>
              <a:rPr lang="en-CA" dirty="0"/>
            </a:b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It’s </a:t>
            </a:r>
            <a:r>
              <a:rPr lang="en-CA" b="1" dirty="0"/>
              <a:t>programmer friendly </a:t>
            </a:r>
            <a:r>
              <a:rPr lang="en-CA" dirty="0"/>
              <a:t>… lots of useful built-in functions do most common programming tasks. Plus thousands more on the web.</a:t>
            </a:r>
            <a:br>
              <a:rPr lang="en-CA" dirty="0"/>
            </a:br>
            <a:endParaRPr lang="en-CA" dirty="0"/>
          </a:p>
          <a:p>
            <a:pPr marL="0" indent="0">
              <a:buNone/>
            </a:pPr>
            <a:r>
              <a:rPr lang="en-AU"/>
              <a:t>Python </a:t>
            </a:r>
            <a:r>
              <a:rPr lang="en-AU" dirty="0"/>
              <a:t>generally aims to optimize programmer time (instead of run-time). </a:t>
            </a:r>
          </a:p>
          <a:p>
            <a:pPr marL="0" indent="0">
              <a:buNone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CA" dirty="0"/>
          </a:p>
          <a:p>
            <a:pPr marL="514350" indent="-514350">
              <a:buFont typeface="+mj-lt"/>
              <a:buAutoNum type="arabicPeriod"/>
            </a:pPr>
            <a:endParaRPr lang="en-AU" dirty="0"/>
          </a:p>
        </p:txBody>
      </p:sp>
      <p:pic>
        <p:nvPicPr>
          <p:cNvPr id="4" name="Picture 2" descr="The Python Logo | Python Software Foundation">
            <a:extLst>
              <a:ext uri="{FF2B5EF4-FFF2-40B4-BE49-F238E27FC236}">
                <a16:creationId xmlns:a16="http://schemas.microsoft.com/office/drawing/2014/main" id="{D7E8A022-A1A2-4B67-2E6A-DADE5AAE56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724525" cy="193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9204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678</TotalTime>
  <Words>1630</Words>
  <Application>Microsoft Macintosh PowerPoint</Application>
  <PresentationFormat>Widescreen</PresentationFormat>
  <Paragraphs>171</Paragraphs>
  <Slides>25</Slides>
  <Notes>14</Notes>
  <HiddenSlides>0</HiddenSlides>
  <MMClips>3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Consolas</vt:lpstr>
      <vt:lpstr>Helvetica Neue</vt:lpstr>
      <vt:lpstr>Office Theme</vt:lpstr>
      <vt:lpstr>CMPT 120</vt:lpstr>
      <vt:lpstr>Human Computers</vt:lpstr>
      <vt:lpstr>How Fast can You Add Numbers?</vt:lpstr>
      <vt:lpstr>How Fast can You Add Numbers?</vt:lpstr>
      <vt:lpstr>How Fast can You Add Numbers?</vt:lpstr>
      <vt:lpstr>How Fast can You Add Numbers?</vt:lpstr>
      <vt:lpstr>How Fast can You Add Numbers?</vt:lpstr>
      <vt:lpstr>The Pascaline</vt:lpstr>
      <vt:lpstr>Charle’s Babbage’s Difference Engine</vt:lpstr>
      <vt:lpstr>Charle’s Babbage’s Difference Engine</vt:lpstr>
      <vt:lpstr>Charle’s Babbage’s Difference Engine</vt:lpstr>
      <vt:lpstr>Charle’s Babbage’s Difference Engine</vt:lpstr>
      <vt:lpstr>Slide Rule: Calculates Logarithms</vt:lpstr>
      <vt:lpstr>In the 1930s, the idea of an electronic calculator was in the air!</vt:lpstr>
      <vt:lpstr>In the 1930s, the idea of an electronic calculator was in the air!</vt:lpstr>
      <vt:lpstr>Univac TV Commercial (1954)</vt:lpstr>
      <vt:lpstr>What is Computer Science?</vt:lpstr>
      <vt:lpstr>What is Computer Science?</vt:lpstr>
      <vt:lpstr>What is Computer Science?</vt:lpstr>
      <vt:lpstr>Is Python Popular?</vt:lpstr>
      <vt:lpstr>Is Python Popular?</vt:lpstr>
      <vt:lpstr>PowerPoint Presentation</vt:lpstr>
      <vt:lpstr>Python is also popular in …</vt:lpstr>
      <vt:lpstr>PowerPoint Presentation</vt:lpstr>
      <vt:lpstr>If it’s so slow, why is it so popular?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120 Fall 2022 SFU, Surrey</dc:title>
  <dc:creator>Toby Donaldson</dc:creator>
  <cp:lastModifiedBy>Toby Donaldson</cp:lastModifiedBy>
  <cp:revision>1</cp:revision>
  <cp:lastPrinted>2022-09-07T18:21:16Z</cp:lastPrinted>
  <dcterms:created xsi:type="dcterms:W3CDTF">2022-08-16T04:52:50Z</dcterms:created>
  <dcterms:modified xsi:type="dcterms:W3CDTF">2026-09-08T00:25:49Z</dcterms:modified>
</cp:coreProperties>
</file>